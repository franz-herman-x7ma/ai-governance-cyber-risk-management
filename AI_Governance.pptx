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12.png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5.png"/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7.png"/><Relationship Id="rId3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9.png"/><Relationship Id="rId2" Type="http://schemas.openxmlformats.org/officeDocument/2006/relationships/image" Target="../media/image25.png"/><Relationship Id="rId1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0.png"/><Relationship Id="rId4" Type="http://schemas.openxmlformats.org/officeDocument/2006/relationships/image" Target="../media/image4.png"/><Relationship Id="rId3" Type="http://schemas.openxmlformats.org/officeDocument/2006/relationships/image" Target="../media/image29.png"/><Relationship Id="rId2" Type="http://schemas.openxmlformats.org/officeDocument/2006/relationships/image" Target="../media/image11.png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2.png"/><Relationship Id="rId4" Type="http://schemas.openxmlformats.org/officeDocument/2006/relationships/image" Target="../media/image30.png"/><Relationship Id="rId3" Type="http://schemas.openxmlformats.org/officeDocument/2006/relationships/image" Target="../media/image4.png"/><Relationship Id="rId2" Type="http://schemas.openxmlformats.org/officeDocument/2006/relationships/image" Target="../media/image24.png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640080"/>
            <a:ext cx="1097280" cy="10972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11680"/>
            <a:ext cx="1097280" cy="109728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383280"/>
            <a:ext cx="1097280" cy="109728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11480" y="292608"/>
            <a:ext cx="1920240" cy="27432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411480" y="29260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DCCS – Diploma in Cloud Cybersecurity</a:t>
            </a:r>
            <a:endParaRPr lang="en-US" sz="750" dirty="0"/>
          </a:p>
        </p:txBody>
      </p:sp>
      <p:sp>
        <p:nvSpPr>
          <p:cNvPr id="8" name="Text 3"/>
          <p:cNvSpPr/>
          <p:nvPr/>
        </p:nvSpPr>
        <p:spPr>
          <a:xfrm>
            <a:off x="411480" y="713232"/>
            <a:ext cx="6492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FFFFFF"/>
                </a:solidFill>
              </a:rPr>
              <a:t>Foundations of</a:t>
            </a:r>
            <a:endParaRPr lang="en-US" sz="3400" dirty="0"/>
          </a:p>
        </p:txBody>
      </p:sp>
      <p:sp>
        <p:nvSpPr>
          <p:cNvPr id="9" name="Text 4"/>
          <p:cNvSpPr/>
          <p:nvPr/>
        </p:nvSpPr>
        <p:spPr>
          <a:xfrm>
            <a:off x="411480" y="1188720"/>
            <a:ext cx="64922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F9B8E"/>
                </a:solidFill>
              </a:rPr>
              <a:t>AI Governance</a:t>
            </a:r>
            <a:endParaRPr lang="en-US" sz="4200" dirty="0"/>
          </a:p>
        </p:txBody>
      </p:sp>
      <p:sp>
        <p:nvSpPr>
          <p:cNvPr id="10" name="Text 5"/>
          <p:cNvSpPr/>
          <p:nvPr/>
        </p:nvSpPr>
        <p:spPr>
          <a:xfrm>
            <a:off x="411480" y="1755648"/>
            <a:ext cx="64922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B0D4EE"/>
                </a:solidFill>
              </a:rPr>
              <a:t>and Cyber Risk Management</a:t>
            </a:r>
            <a:endParaRPr lang="en-US" sz="2600" dirty="0"/>
          </a:p>
        </p:txBody>
      </p:sp>
      <p:sp>
        <p:nvSpPr>
          <p:cNvPr id="11" name="Shape 6"/>
          <p:cNvSpPr/>
          <p:nvPr/>
        </p:nvSpPr>
        <p:spPr>
          <a:xfrm>
            <a:off x="411480" y="2340864"/>
            <a:ext cx="6217920" cy="0"/>
          </a:xfrm>
          <a:prstGeom prst="line">
            <a:avLst/>
          </a:prstGeom>
          <a:noFill/>
          <a:ln w="15240">
            <a:solidFill>
              <a:srgbClr val="0F9B8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11480" y="248716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FC8E5"/>
                </a:solidFill>
              </a:rPr>
              <a:t>EduQual Level 3 Diploma — Oral Presentation (Topic 37)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11480" y="4297680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Muhammad Ali Subhaniee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11480" y="4572000"/>
            <a:ext cx="6492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C8E5"/>
                </a:solidFill>
              </a:rPr>
              <a:t>Al Nafi International Institute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4206240" cy="384048"/>
          </a:xfrm>
          <a:prstGeom prst="rect">
            <a:avLst/>
          </a:prstGeom>
          <a:solidFill>
            <a:srgbClr val="EAF4FB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96112"/>
            <a:ext cx="329184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96112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4088" y="896112"/>
            <a:ext cx="3749040" cy="384048"/>
          </a:xfrm>
          <a:prstGeom prst="rect">
            <a:avLst/>
          </a:prstGeom>
          <a:noFill/>
        </p:spPr>
        <p:txBody>
          <a:bodyPr wrap="square" lIns="0" tIns="762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Definition &amp; Overview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17720" y="896112"/>
            <a:ext cx="420624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896112"/>
            <a:ext cx="329184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896112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01768" y="896112"/>
            <a:ext cx="3749040" cy="384048"/>
          </a:xfrm>
          <a:prstGeom prst="rect">
            <a:avLst/>
          </a:prstGeom>
          <a:noFill/>
        </p:spPr>
        <p:txBody>
          <a:bodyPr wrap="square" lIns="0" tIns="762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Importance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371600"/>
            <a:ext cx="4206240" cy="384048"/>
          </a:xfrm>
          <a:prstGeom prst="rect">
            <a:avLst/>
          </a:prstGeom>
          <a:solidFill>
            <a:srgbClr val="EAF4FB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371600"/>
            <a:ext cx="329184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371600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" y="1371600"/>
            <a:ext cx="3749040" cy="384048"/>
          </a:xfrm>
          <a:prstGeom prst="rect">
            <a:avLst/>
          </a:prstGeom>
          <a:noFill/>
        </p:spPr>
        <p:txBody>
          <a:bodyPr wrap="square" lIns="0" tIns="762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Key Components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371600"/>
            <a:ext cx="420624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371600"/>
            <a:ext cx="329184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371600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01768" y="1371600"/>
            <a:ext cx="3749040" cy="384048"/>
          </a:xfrm>
          <a:prstGeom prst="rect">
            <a:avLst/>
          </a:prstGeom>
          <a:noFill/>
        </p:spPr>
        <p:txBody>
          <a:bodyPr wrap="square" lIns="0" tIns="762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Types of Risk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1847088"/>
            <a:ext cx="4206240" cy="384048"/>
          </a:xfrm>
          <a:prstGeom prst="rect">
            <a:avLst/>
          </a:prstGeom>
          <a:solidFill>
            <a:srgbClr val="EAF4FB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1847088"/>
            <a:ext cx="329184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847088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" y="1847088"/>
            <a:ext cx="3749040" cy="384048"/>
          </a:xfrm>
          <a:prstGeom prst="rect">
            <a:avLst/>
          </a:prstGeom>
          <a:noFill/>
        </p:spPr>
        <p:txBody>
          <a:bodyPr wrap="square" lIns="0" tIns="762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Potential Risks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1847088"/>
            <a:ext cx="420624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1847088"/>
            <a:ext cx="329184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847088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01768" y="1847088"/>
            <a:ext cx="3749040" cy="384048"/>
          </a:xfrm>
          <a:prstGeom prst="rect">
            <a:avLst/>
          </a:prstGeom>
          <a:noFill/>
        </p:spPr>
        <p:txBody>
          <a:bodyPr wrap="square" lIns="0" tIns="762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Transparency Risks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322576"/>
            <a:ext cx="4206240" cy="384048"/>
          </a:xfrm>
          <a:prstGeom prst="rect">
            <a:avLst/>
          </a:prstGeom>
          <a:solidFill>
            <a:srgbClr val="EAF4FB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2322576"/>
            <a:ext cx="329184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322576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" y="2322576"/>
            <a:ext cx="3749040" cy="384048"/>
          </a:xfrm>
          <a:prstGeom prst="rect">
            <a:avLst/>
          </a:prstGeom>
          <a:noFill/>
        </p:spPr>
        <p:txBody>
          <a:bodyPr wrap="square" lIns="0" tIns="762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Purpose of Risk Assessment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7720" y="2322576"/>
            <a:ext cx="420624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2322576"/>
            <a:ext cx="329184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2322576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01768" y="2322576"/>
            <a:ext cx="3749040" cy="384048"/>
          </a:xfrm>
          <a:prstGeom prst="rect">
            <a:avLst/>
          </a:prstGeom>
          <a:noFill/>
        </p:spPr>
        <p:txBody>
          <a:bodyPr wrap="square" lIns="0" tIns="762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Mitigation Strategies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2798064"/>
            <a:ext cx="4206240" cy="384048"/>
          </a:xfrm>
          <a:prstGeom prst="rect">
            <a:avLst/>
          </a:prstGeom>
          <a:solidFill>
            <a:srgbClr val="EAF4FB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2798064"/>
            <a:ext cx="329184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798064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4088" y="2798064"/>
            <a:ext cx="3749040" cy="384048"/>
          </a:xfrm>
          <a:prstGeom prst="rect">
            <a:avLst/>
          </a:prstGeom>
          <a:noFill/>
        </p:spPr>
        <p:txBody>
          <a:bodyPr wrap="square" lIns="0" tIns="762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NIST AI RMF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2798064"/>
            <a:ext cx="420624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2798064"/>
            <a:ext cx="329184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2798064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01768" y="2798064"/>
            <a:ext cx="3749040" cy="384048"/>
          </a:xfrm>
          <a:prstGeom prst="rect">
            <a:avLst/>
          </a:prstGeom>
          <a:noFill/>
        </p:spPr>
        <p:txBody>
          <a:bodyPr wrap="square" lIns="0" tIns="762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NIST AI RMF Objectives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3273552"/>
            <a:ext cx="4206240" cy="384048"/>
          </a:xfrm>
          <a:prstGeom prst="rect">
            <a:avLst/>
          </a:prstGeom>
          <a:solidFill>
            <a:srgbClr val="EAF4FB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0040" y="3273552"/>
            <a:ext cx="329184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273552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4088" y="3273552"/>
            <a:ext cx="3749040" cy="384048"/>
          </a:xfrm>
          <a:prstGeom prst="rect">
            <a:avLst/>
          </a:prstGeom>
          <a:noFill/>
        </p:spPr>
        <p:txBody>
          <a:bodyPr wrap="square" lIns="0" tIns="762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ISO 42001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17720" y="3273552"/>
            <a:ext cx="420624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17720" y="3273552"/>
            <a:ext cx="329184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17720" y="3273552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01768" y="3273552"/>
            <a:ext cx="3749040" cy="384048"/>
          </a:xfrm>
          <a:prstGeom prst="rect">
            <a:avLst/>
          </a:prstGeom>
          <a:noFill/>
        </p:spPr>
        <p:txBody>
          <a:bodyPr wrap="square" lIns="0" tIns="762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ISO 42001 Objectives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" y="3749040"/>
            <a:ext cx="4206240" cy="384048"/>
          </a:xfrm>
          <a:prstGeom prst="rect">
            <a:avLst/>
          </a:prstGeom>
          <a:solidFill>
            <a:srgbClr val="EAF4FB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20040" y="3749040"/>
            <a:ext cx="329184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3749040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04088" y="3749040"/>
            <a:ext cx="3749040" cy="384048"/>
          </a:xfrm>
          <a:prstGeom prst="rect">
            <a:avLst/>
          </a:prstGeom>
          <a:noFill/>
        </p:spPr>
        <p:txBody>
          <a:bodyPr wrap="square" lIns="0" tIns="762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AI Use Case &amp; Risks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17720" y="3749040"/>
            <a:ext cx="420624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617720" y="3749040"/>
            <a:ext cx="329184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17720" y="3749040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14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01768" y="3749040"/>
            <a:ext cx="3749040" cy="384048"/>
          </a:xfrm>
          <a:prstGeom prst="rect">
            <a:avLst/>
          </a:prstGeom>
          <a:noFill/>
        </p:spPr>
        <p:txBody>
          <a:bodyPr wrap="square" lIns="0" tIns="762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System Architecture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20040" y="4224528"/>
            <a:ext cx="4206240" cy="384048"/>
          </a:xfrm>
          <a:prstGeom prst="rect">
            <a:avLst/>
          </a:prstGeom>
          <a:solidFill>
            <a:srgbClr val="EAF4FB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20040" y="4224528"/>
            <a:ext cx="329184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4224528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15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04088" y="4224528"/>
            <a:ext cx="3749040" cy="384048"/>
          </a:xfrm>
          <a:prstGeom prst="rect">
            <a:avLst/>
          </a:prstGeom>
          <a:noFill/>
        </p:spPr>
        <p:txBody>
          <a:bodyPr wrap="square" lIns="0" tIns="762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Data Flow Diagram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617720" y="4224528"/>
            <a:ext cx="420624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617720" y="4224528"/>
            <a:ext cx="329184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17720" y="4224528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16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001768" y="4224528"/>
            <a:ext cx="3749040" cy="384048"/>
          </a:xfrm>
          <a:prstGeom prst="rect">
            <a:avLst/>
          </a:prstGeom>
          <a:noFill/>
        </p:spPr>
        <p:txBody>
          <a:bodyPr wrap="square" lIns="0" tIns="762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Security Architecture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20040" y="4700016"/>
            <a:ext cx="4206240" cy="384048"/>
          </a:xfrm>
          <a:prstGeom prst="rect">
            <a:avLst/>
          </a:prstGeom>
          <a:solidFill>
            <a:srgbClr val="EAF4FB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20040" y="4700016"/>
            <a:ext cx="329184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" y="4700016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17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04088" y="4700016"/>
            <a:ext cx="3749040" cy="384048"/>
          </a:xfrm>
          <a:prstGeom prst="rect">
            <a:avLst/>
          </a:prstGeom>
          <a:noFill/>
        </p:spPr>
        <p:txBody>
          <a:bodyPr wrap="square" lIns="0" tIns="762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AI Policy &amp; Procedure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617720" y="4700016"/>
            <a:ext cx="420624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617720" y="4700016"/>
            <a:ext cx="329184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17720" y="4700016"/>
            <a:ext cx="329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18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001768" y="4700016"/>
            <a:ext cx="3749040" cy="384048"/>
          </a:xfrm>
          <a:prstGeom prst="rect">
            <a:avLst/>
          </a:prstGeom>
          <a:noFill/>
        </p:spPr>
        <p:txBody>
          <a:bodyPr wrap="square" lIns="0" tIns="762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Conclusion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01  Definition &amp;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137"/>
                </a:solidFill>
              </a:rPr>
              <a:t>Definition &amp;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0"/>
          </a:xfrm>
          <a:prstGeom prst="line">
            <a:avLst/>
          </a:prstGeom>
          <a:noFill/>
          <a:ln w="9525">
            <a:solidFill>
              <a:srgbClr val="B8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2697480" cy="3566160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" y="1225296"/>
            <a:ext cx="512064" cy="5120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" y="1314907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8056" y="1874520"/>
            <a:ext cx="24414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2137"/>
                </a:solidFill>
              </a:rPr>
              <a:t>AI Governance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48056" y="2231136"/>
            <a:ext cx="2441448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The set of rules and practices that ensure AI is developed and used safely, ethically, and responsibly — covering accountability, fairness, transparency, and legal compliance.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18688" y="1051560"/>
            <a:ext cx="2697480" cy="3566160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225296"/>
            <a:ext cx="512064" cy="512064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891" y="1314907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46704" y="1874520"/>
            <a:ext cx="24414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2137"/>
                </a:solidFill>
              </a:rPr>
              <a:t>Cyber Risk Management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346704" y="2231136"/>
            <a:ext cx="2441448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The ongoing process of identifying, assessing, and reducing threats to digital systems from cyber-attacks through continuous monitoring, policies, and security controls.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17336" y="1051560"/>
            <a:ext cx="2697480" cy="3566160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81928" y="1225296"/>
            <a:ext cx="512064" cy="5120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539" y="1314907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45352" y="1874520"/>
            <a:ext cx="24414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2137"/>
                </a:solidFill>
              </a:rPr>
              <a:t>Together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245352" y="2231136"/>
            <a:ext cx="2441448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They help organizations use AI securely while managing cyber threats, keeping data safe, and building public trust — making innovation both safe and sustainable.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FFF8E1"/>
          </a:solidFill>
          <a:ln w="10160">
            <a:solidFill>
              <a:srgbClr val="E07B0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7200" y="4654296"/>
            <a:ext cx="8321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B3C"/>
                </a:solidFill>
              </a:rPr>
              <a:t>💡 Accountability: A named person or team responsible for the AI system's decisions, failures, and security breaches.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02  Importance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137"/>
                </a:solidFill>
              </a:rPr>
              <a:t>Why AI Governance &amp; Cyber Risk Management Matter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0"/>
          </a:xfrm>
          <a:prstGeom prst="line">
            <a:avLst/>
          </a:prstGeom>
          <a:noFill/>
          <a:ln w="9525">
            <a:solidFill>
              <a:srgbClr val="B8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4160520" cy="1828800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8056" y="1197864"/>
            <a:ext cx="512064" cy="5120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667" y="1287475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8056" y="1801368"/>
            <a:ext cx="39044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137"/>
                </a:solidFill>
              </a:rPr>
              <a:t>Safety Guardrails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48056" y="2112264"/>
            <a:ext cx="3904488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As AI enters phones, banks, hospitals and cars, governance prevents unfair decisions, data leaks, and adversarial manipulation.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1051560"/>
            <a:ext cx="4160520" cy="1828800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91456" y="1197864"/>
            <a:ext cx="512064" cy="512064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067" y="1287475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91456" y="1801368"/>
            <a:ext cx="39044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137"/>
                </a:solidFill>
              </a:rPr>
              <a:t>Public Trust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791456" y="2112264"/>
            <a:ext cx="3904488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They act as guardrails — allowing businesses to innovate responsibly so people feel safe using AI-powered systems.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20040" y="3063240"/>
            <a:ext cx="4160520" cy="1828800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48056" y="3209544"/>
            <a:ext cx="512064" cy="512064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" y="3299155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8056" y="3813048"/>
            <a:ext cx="39044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137"/>
                </a:solidFill>
              </a:rPr>
              <a:t>Financial &amp; Reputation Protection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48056" y="4123944"/>
            <a:ext cx="3904488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Proactively identifying AI failures, biases, or security breaches helps companies avoid costly incidents and protect brand image.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63440" y="3063240"/>
            <a:ext cx="4160520" cy="1828800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91456" y="3209544"/>
            <a:ext cx="512064" cy="5120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067" y="3299155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91456" y="3813048"/>
            <a:ext cx="39044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137"/>
                </a:solidFill>
              </a:rPr>
              <a:t>Necessary — Not Optional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791456" y="4123944"/>
            <a:ext cx="3904488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In today's world, strong AI governance and cyber risk management are essential requirements for any organization leveraging AI.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03  Key Components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137"/>
                </a:solidFill>
              </a:rPr>
              <a:t>Key Components of AI Governance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0"/>
          </a:xfrm>
          <a:prstGeom prst="line">
            <a:avLst/>
          </a:prstGeom>
          <a:noFill/>
          <a:ln w="9525">
            <a:solidFill>
              <a:srgbClr val="B8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4160520" cy="1828800"/>
          </a:xfrm>
          <a:prstGeom prst="rect">
            <a:avLst/>
          </a:prstGeom>
          <a:solidFill>
            <a:srgbClr val="EAF4FB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7899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2137"/>
                </a:solidFill>
              </a:rPr>
              <a:t>Ethical Principles — the Moral Compass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93776" y="1371600"/>
            <a:ext cx="329184" cy="32918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383" y="1429207"/>
            <a:ext cx="213970" cy="21397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1719072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B3C"/>
                </a:solidFill>
              </a:rPr>
              <a:t>Ethics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828800" y="1371600"/>
            <a:ext cx="329184" cy="329184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407" y="1429207"/>
            <a:ext cx="213970" cy="21397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92224" y="1719072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B3C"/>
                </a:solidFill>
              </a:rPr>
              <a:t>Fairness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163824" y="1371600"/>
            <a:ext cx="329184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431" y="1429207"/>
            <a:ext cx="213970" cy="21397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127248" y="1719072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B3C"/>
                </a:solidFill>
              </a:rPr>
              <a:t>Reliability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493776" y="2029968"/>
            <a:ext cx="329184" cy="32918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" y="2087575"/>
            <a:ext cx="213970" cy="21397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57200" y="2377440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B3C"/>
                </a:solidFill>
              </a:rPr>
              <a:t>Governance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1828800" y="2029968"/>
            <a:ext cx="329184" cy="329184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407" y="2087575"/>
            <a:ext cx="213970" cy="21397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792224" y="2377440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B3C"/>
                </a:solidFill>
              </a:rPr>
              <a:t>Privacy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4663440" y="1024128"/>
            <a:ext cx="4160520" cy="1828800"/>
          </a:xfrm>
          <a:prstGeom prst="rect">
            <a:avLst/>
          </a:prstGeom>
          <a:solidFill>
            <a:srgbClr val="FFF8E1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4800600" y="107899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2137"/>
                </a:solidFill>
              </a:rPr>
              <a:t>Governance Structure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800600" y="1389888"/>
            <a:ext cx="384048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• AI Oversight Committee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• Chief AI Officers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• Multi-department AI project governance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4800600" y="2084832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2137"/>
                </a:solidFill>
              </a:rPr>
              <a:t>Policies &amp; Standards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4800600" y="232257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• Written rules defining AI system boundaries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• Protection against data poisoning and hacking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• Grounded in NIST AI RMF and ISO 42001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320040" y="2944368"/>
            <a:ext cx="8503920" cy="1920240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457200" y="30175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2137"/>
                </a:solidFill>
              </a:rPr>
              <a:t>Risk Management Process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557784" y="3337560"/>
            <a:ext cx="402336" cy="40233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193" y="3407969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02920" y="381304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</a:rPr>
              <a:t>Identify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411480" y="4014216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7B96"/>
                </a:solidFill>
              </a:rPr>
              <a:t>Spot potential problems early</a:t>
            </a:r>
            <a:endParaRPr lang="en-US" sz="8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" y="3447288"/>
            <a:ext cx="329184" cy="201168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2221992" y="3337560"/>
            <a:ext cx="402336" cy="402336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2401" y="3407969"/>
            <a:ext cx="261518" cy="26151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2167128" y="381304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</a:rPr>
              <a:t>Assess</a:t>
            </a:r>
            <a:endParaRPr lang="en-US" sz="950" dirty="0"/>
          </a:p>
        </p:txBody>
      </p:sp>
      <p:sp>
        <p:nvSpPr>
          <p:cNvPr id="38" name="Text 28"/>
          <p:cNvSpPr/>
          <p:nvPr/>
        </p:nvSpPr>
        <p:spPr>
          <a:xfrm>
            <a:off x="2075688" y="4014216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7B96"/>
                </a:solidFill>
              </a:rPr>
              <a:t>Evaluate severity &amp; priority</a:t>
            </a:r>
            <a:endParaRPr lang="en-US" sz="80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8920" y="3447288"/>
            <a:ext cx="329184" cy="201168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886200" y="3337560"/>
            <a:ext cx="402336" cy="40233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609" y="3407969"/>
            <a:ext cx="261518" cy="261518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3831336" y="381304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</a:rPr>
              <a:t>Reduce</a:t>
            </a:r>
            <a:endParaRPr lang="en-US" sz="950" dirty="0"/>
          </a:p>
        </p:txBody>
      </p:sp>
      <p:sp>
        <p:nvSpPr>
          <p:cNvPr id="43" name="Text 31"/>
          <p:cNvSpPr/>
          <p:nvPr/>
        </p:nvSpPr>
        <p:spPr>
          <a:xfrm>
            <a:off x="3739896" y="4014216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7B96"/>
                </a:solidFill>
              </a:rPr>
              <a:t>Mitigate before deployment</a:t>
            </a:r>
            <a:endParaRPr lang="en-US" sz="800" dirty="0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3447288"/>
            <a:ext cx="329184" cy="201168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5550408" y="3337560"/>
            <a:ext cx="402336" cy="4023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0817" y="3407969"/>
            <a:ext cx="261518" cy="261518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5495544" y="381304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</a:rPr>
              <a:t>Monitor</a:t>
            </a:r>
            <a:endParaRPr lang="en-US" sz="950" dirty="0"/>
          </a:p>
        </p:txBody>
      </p:sp>
      <p:sp>
        <p:nvSpPr>
          <p:cNvPr id="48" name="Text 34"/>
          <p:cNvSpPr/>
          <p:nvPr/>
        </p:nvSpPr>
        <p:spPr>
          <a:xfrm>
            <a:off x="5404104" y="4014216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7B96"/>
                </a:solidFill>
              </a:rPr>
              <a:t>Watch continuously for threats</a:t>
            </a:r>
            <a:endParaRPr lang="en-US" sz="800" dirty="0"/>
          </a:p>
        </p:txBody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3447288"/>
            <a:ext cx="329184" cy="201168"/>
          </a:xfrm>
          <a:prstGeom prst="rect">
            <a:avLst/>
          </a:prstGeom>
        </p:spPr>
      </p:pic>
      <p:sp>
        <p:nvSpPr>
          <p:cNvPr id="50" name="Shape 35"/>
          <p:cNvSpPr/>
          <p:nvPr/>
        </p:nvSpPr>
        <p:spPr>
          <a:xfrm>
            <a:off x="7214616" y="3337560"/>
            <a:ext cx="402336" cy="40233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51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5025" y="3407969"/>
            <a:ext cx="261518" cy="261518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7159752" y="381304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</a:rPr>
              <a:t>Protect</a:t>
            </a:r>
            <a:endParaRPr lang="en-US" sz="950" dirty="0"/>
          </a:p>
        </p:txBody>
      </p:sp>
      <p:sp>
        <p:nvSpPr>
          <p:cNvPr id="53" name="Text 37"/>
          <p:cNvSpPr/>
          <p:nvPr/>
        </p:nvSpPr>
        <p:spPr>
          <a:xfrm>
            <a:off x="7068312" y="4014216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7B96"/>
                </a:solidFill>
              </a:rPr>
              <a:t>Shield people &amp; organizations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04  Types of Risk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137"/>
                </a:solidFill>
              </a:rPr>
              <a:t>Types of AI Cyber Risk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0"/>
          </a:xfrm>
          <a:prstGeom prst="line">
            <a:avLst/>
          </a:prstGeom>
          <a:noFill/>
          <a:ln w="9525">
            <a:solidFill>
              <a:srgbClr val="B8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4160520" cy="1783080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4160520" cy="256032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4160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 RISK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84632" y="1417320"/>
            <a:ext cx="438912" cy="438912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442" y="1494130"/>
            <a:ext cx="285293" cy="28529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69848" y="137160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137"/>
                </a:solidFill>
              </a:rPr>
              <a:t>Prompt Injection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48056" y="1892808"/>
            <a:ext cx="3904488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</a:rPr>
              <a:t>Malicious user input tricks an AI into ignoring its system instructions and executing the attacker's hidden commands instead.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48056" y="2423160"/>
            <a:ext cx="39044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A7B96"/>
                </a:solidFill>
              </a:rPr>
              <a:t>→ A user crafts input that overrides the AI's safety rules and extracts confidential data.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63440" y="1051560"/>
            <a:ext cx="4160520" cy="1783080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1051560"/>
            <a:ext cx="4160520" cy="25603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1051560"/>
            <a:ext cx="4160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 RISK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828032" y="1417320"/>
            <a:ext cx="438912" cy="43891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842" y="1494130"/>
            <a:ext cx="285293" cy="28529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13248" y="137160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137"/>
                </a:solidFill>
              </a:rPr>
              <a:t>Denial of Service (DoS)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791456" y="1892808"/>
            <a:ext cx="3904488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</a:rPr>
              <a:t>A cyber attack that floods a system with excessive traffic or requests to make it unavailable to legitimate users.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791456" y="2423160"/>
            <a:ext cx="39044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A7B96"/>
                </a:solidFill>
              </a:rPr>
              <a:t>→ AI systems become unresponsive, causing operational failure and financial loss.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20040" y="2990088"/>
            <a:ext cx="4160520" cy="1783080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0040" y="2990088"/>
            <a:ext cx="4160520" cy="256032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20040" y="2990088"/>
            <a:ext cx="4160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484632" y="3355848"/>
            <a:ext cx="438912" cy="438912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42" y="3432658"/>
            <a:ext cx="285293" cy="28529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69848" y="331012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137"/>
                </a:solidFill>
              </a:rPr>
              <a:t>Session Hijacking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48056" y="3831336"/>
            <a:ext cx="3904488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</a:rPr>
              <a:t>An attack where an adversary steals or predicts a user's active session token to impersonate them and gain unauthorized access.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448056" y="4361688"/>
            <a:ext cx="39044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A7B96"/>
                </a:solidFill>
              </a:rPr>
              <a:t>→ Unauthorized access to sensitive user accounts and private data within AI platforms.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4663440" y="2990088"/>
            <a:ext cx="4160520" cy="1783080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663440" y="2990088"/>
            <a:ext cx="4160520" cy="256032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663440" y="2990088"/>
            <a:ext cx="4160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4828032" y="3355848"/>
            <a:ext cx="438912" cy="438912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842" y="3432658"/>
            <a:ext cx="285293" cy="285293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413248" y="331012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137"/>
                </a:solidFill>
              </a:rPr>
              <a:t>Data Poisoning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4791456" y="3831336"/>
            <a:ext cx="3904488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</a:rPr>
              <a:t>Deliberately injecting malicious data into training datasets to corrupt, bias, or backdoor a machine learning model.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4791456" y="4361688"/>
            <a:ext cx="39044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A7B96"/>
                </a:solidFill>
              </a:rPr>
              <a:t>→ AI makes systematically wrong or harmful decisions undetected, often for months.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05  Potential Risks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137"/>
                </a:solidFill>
              </a:rPr>
              <a:t>Potential Risks in AI Systems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0"/>
          </a:xfrm>
          <a:prstGeom prst="line">
            <a:avLst/>
          </a:prstGeom>
          <a:noFill/>
          <a:ln w="9525">
            <a:solidFill>
              <a:srgbClr val="B8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4160520" cy="1810512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8056" y="1197864"/>
            <a:ext cx="475488" cy="4754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266" y="1281074"/>
            <a:ext cx="309067" cy="30906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9848" y="121615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137"/>
                </a:solidFill>
              </a:rPr>
              <a:t>Technical Risks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48056" y="1746504"/>
            <a:ext cx="39044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1A2B3C"/>
                </a:solidFill>
              </a:rPr>
              <a:t>• Data poisoning, session hijacking, prompt injection, and DoS can compromise AI systems.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448056" y="2249424"/>
            <a:ext cx="39044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1A2B3C"/>
                </a:solidFill>
              </a:rPr>
              <a:t>• Lack of security monitoring and weak authentication amplifies technical risk exposure.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4663440" y="1051560"/>
            <a:ext cx="4160520" cy="1810512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91456" y="1197864"/>
            <a:ext cx="475488" cy="475488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666" y="1281074"/>
            <a:ext cx="309067" cy="30906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13248" y="121615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137"/>
                </a:solidFill>
              </a:rPr>
              <a:t>Data Privacy &amp; Security Risks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791456" y="1746504"/>
            <a:ext cx="39044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1A2B3C"/>
                </a:solidFill>
              </a:rPr>
              <a:t>• AI models can accidentally reveal personal or confidential data through inference attacks.</a:t>
            </a:r>
            <a:endParaRPr lang="en-US" sz="920" dirty="0"/>
          </a:p>
        </p:txBody>
      </p:sp>
      <p:sp>
        <p:nvSpPr>
          <p:cNvPr id="17" name="Text 13"/>
          <p:cNvSpPr/>
          <p:nvPr/>
        </p:nvSpPr>
        <p:spPr>
          <a:xfrm>
            <a:off x="4791456" y="2249424"/>
            <a:ext cx="39044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1A2B3C"/>
                </a:solidFill>
              </a:rPr>
              <a:t>• Mishandling of sensitive data during training can violate regulations and trigger data leaks.</a:t>
            </a:r>
            <a:endParaRPr lang="en-US" sz="920" dirty="0"/>
          </a:p>
        </p:txBody>
      </p:sp>
      <p:sp>
        <p:nvSpPr>
          <p:cNvPr id="18" name="Shape 14"/>
          <p:cNvSpPr/>
          <p:nvPr/>
        </p:nvSpPr>
        <p:spPr>
          <a:xfrm>
            <a:off x="320040" y="3017520"/>
            <a:ext cx="4160520" cy="1810512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48056" y="3163824"/>
            <a:ext cx="475488" cy="47548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" y="3247034"/>
            <a:ext cx="309067" cy="30906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69848" y="318211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137"/>
                </a:solidFill>
              </a:rPr>
              <a:t>Regulatory &amp; Compliance Risks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48056" y="3712464"/>
            <a:ext cx="39044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1A2B3C"/>
                </a:solidFill>
              </a:rPr>
              <a:t>• Failing to align with GDPR, HIPAA, or industry standards exposes organizations to heavy fines.</a:t>
            </a:r>
            <a:endParaRPr lang="en-US" sz="920" dirty="0"/>
          </a:p>
        </p:txBody>
      </p:sp>
      <p:sp>
        <p:nvSpPr>
          <p:cNvPr id="23" name="Text 18"/>
          <p:cNvSpPr/>
          <p:nvPr/>
        </p:nvSpPr>
        <p:spPr>
          <a:xfrm>
            <a:off x="448056" y="4215384"/>
            <a:ext cx="39044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1A2B3C"/>
                </a:solidFill>
              </a:rPr>
              <a:t>• Undocumented AI decisions create audit and legal liability across all sectors.</a:t>
            </a:r>
            <a:endParaRPr lang="en-US" sz="920" dirty="0"/>
          </a:p>
        </p:txBody>
      </p:sp>
      <p:sp>
        <p:nvSpPr>
          <p:cNvPr id="24" name="Shape 19"/>
          <p:cNvSpPr/>
          <p:nvPr/>
        </p:nvSpPr>
        <p:spPr>
          <a:xfrm>
            <a:off x="4663440" y="3017520"/>
            <a:ext cx="4160520" cy="1810512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91456" y="3163824"/>
            <a:ext cx="475488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4666" y="3247034"/>
            <a:ext cx="309067" cy="30906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13248" y="318211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137"/>
                </a:solidFill>
              </a:rPr>
              <a:t>Ethical &amp; Societal Risks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791456" y="3712464"/>
            <a:ext cx="39044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1A2B3C"/>
                </a:solidFill>
              </a:rPr>
              <a:t>• Biased AI outputs can discriminate against minorities, non-native English speakers, or people with disabilities.</a:t>
            </a:r>
            <a:endParaRPr lang="en-US" sz="920" dirty="0"/>
          </a:p>
        </p:txBody>
      </p:sp>
      <p:sp>
        <p:nvSpPr>
          <p:cNvPr id="29" name="Text 23"/>
          <p:cNvSpPr/>
          <p:nvPr/>
        </p:nvSpPr>
        <p:spPr>
          <a:xfrm>
            <a:off x="4791456" y="4215384"/>
            <a:ext cx="39044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1A2B3C"/>
                </a:solidFill>
              </a:rPr>
              <a:t>• Lack of explainability erodes public trust and leads to rejection of beneficial AI systems.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06  Transparency Risks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137"/>
                </a:solidFill>
              </a:rPr>
              <a:t>Risk Due to Lack of Transparency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0"/>
          </a:xfrm>
          <a:prstGeom prst="line">
            <a:avLst/>
          </a:prstGeom>
          <a:noFill/>
          <a:ln w="9525">
            <a:solidFill>
              <a:srgbClr val="B8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97280"/>
            <a:ext cx="1536192" cy="1508760"/>
          </a:xfrm>
          <a:prstGeom prst="rect">
            <a:avLst/>
          </a:prstGeom>
          <a:solidFill>
            <a:srgbClr val="EAF4FB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1536192" cy="219456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517904"/>
            <a:ext cx="475488" cy="475488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1601114"/>
            <a:ext cx="309067" cy="30906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8600" y="2103120"/>
            <a:ext cx="153619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</a:rPr>
              <a:t>No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</a:rPr>
              <a:t>Transparency</a:t>
            </a:r>
            <a:endParaRPr lang="en-US" sz="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368" y="1664208"/>
            <a:ext cx="237744" cy="1645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965960" y="1097280"/>
            <a:ext cx="1536192" cy="1508760"/>
          </a:xfrm>
          <a:prstGeom prst="rect">
            <a:avLst/>
          </a:prstGeom>
          <a:solidFill>
            <a:srgbClr val="EAF4FB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965960" y="1097280"/>
            <a:ext cx="1536192" cy="219456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496312" y="1517904"/>
            <a:ext cx="475488" cy="475488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522" y="1601114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65960" y="2103120"/>
            <a:ext cx="153619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</a:rPr>
              <a:t>No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</a:rPr>
              <a:t>Accountability</a:t>
            </a:r>
            <a:endParaRPr lang="en-US" sz="8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664208"/>
            <a:ext cx="237744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703320" y="1097280"/>
            <a:ext cx="1536192" cy="1508760"/>
          </a:xfrm>
          <a:prstGeom prst="rect">
            <a:avLst/>
          </a:prstGeom>
          <a:solidFill>
            <a:srgbClr val="EAF4FB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3703320" y="1097280"/>
            <a:ext cx="1536192" cy="21945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233672" y="1517904"/>
            <a:ext cx="475488" cy="47548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6882" y="1601114"/>
            <a:ext cx="309067" cy="30906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03320" y="2103120"/>
            <a:ext cx="153619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</a:rPr>
              <a:t>Security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</a:rPr>
              <a:t>Vulnerabilities</a:t>
            </a:r>
            <a:endParaRPr lang="en-US" sz="8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88" y="1664208"/>
            <a:ext cx="237744" cy="16459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5440680" y="1097280"/>
            <a:ext cx="1536192" cy="1508760"/>
          </a:xfrm>
          <a:prstGeom prst="rect">
            <a:avLst/>
          </a:prstGeom>
          <a:solidFill>
            <a:srgbClr val="EAF4FB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5440680" y="1097280"/>
            <a:ext cx="1536192" cy="219456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5971032" y="1517904"/>
            <a:ext cx="475488" cy="475488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4242" y="1601114"/>
            <a:ext cx="309067" cy="309067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440680" y="2103120"/>
            <a:ext cx="153619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</a:rPr>
              <a:t>Cyber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</a:rPr>
              <a:t>Attacks</a:t>
            </a:r>
            <a:endParaRPr lang="en-US" sz="85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664208"/>
            <a:ext cx="237744" cy="164592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7178040" y="1097280"/>
            <a:ext cx="1536192" cy="1508760"/>
          </a:xfrm>
          <a:prstGeom prst="rect">
            <a:avLst/>
          </a:prstGeom>
          <a:solidFill>
            <a:srgbClr val="EAF4FB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7178040" y="1097280"/>
            <a:ext cx="1536192" cy="21945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7708392" y="1517904"/>
            <a:ext cx="475488" cy="4754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1602" y="1601114"/>
            <a:ext cx="309067" cy="309067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178040" y="2103120"/>
            <a:ext cx="153619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</a:rPr>
              <a:t>Loss of Public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</a:rPr>
              <a:t>Trust</a:t>
            </a:r>
            <a:endParaRPr lang="en-US" sz="850" dirty="0"/>
          </a:p>
        </p:txBody>
      </p:sp>
      <p:sp>
        <p:nvSpPr>
          <p:cNvPr id="35" name="Shape 24"/>
          <p:cNvSpPr/>
          <p:nvPr/>
        </p:nvSpPr>
        <p:spPr>
          <a:xfrm>
            <a:off x="320040" y="2788920"/>
            <a:ext cx="8503920" cy="1234440"/>
          </a:xfrm>
          <a:prstGeom prst="rect">
            <a:avLst/>
          </a:prstGeom>
          <a:solidFill>
            <a:srgbClr val="FFF0F0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36" name="Text 25"/>
          <p:cNvSpPr/>
          <p:nvPr/>
        </p:nvSpPr>
        <p:spPr>
          <a:xfrm>
            <a:off x="502920" y="28529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4F3D"/>
                </a:solidFill>
              </a:rPr>
              <a:t>What happens when transparency fails: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502920" y="312724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The AI system becomes unpredictable and unsafe — no longer in control of its creator, but potentially in the hands of those who have compromised it. Outcomes become unknown and potentially catastrophic for individuals and organizations alike.</a:t>
            </a:r>
            <a:endParaRPr lang="en-US" sz="950" dirty="0"/>
          </a:p>
        </p:txBody>
      </p:sp>
      <p:sp>
        <p:nvSpPr>
          <p:cNvPr id="38" name="Shape 27"/>
          <p:cNvSpPr/>
          <p:nvPr/>
        </p:nvSpPr>
        <p:spPr>
          <a:xfrm>
            <a:off x="320040" y="4114800"/>
            <a:ext cx="850392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502920" y="4169664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✅  Conclusion: AI systems MUST maintain clear transparency to prevent minor and major damage to individuals and organizations.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07  Risk Assessment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137"/>
                </a:solidFill>
              </a:rPr>
              <a:t>Purpose of a Risk Assessment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0"/>
          </a:xfrm>
          <a:prstGeom prst="line">
            <a:avLst/>
          </a:prstGeom>
          <a:noFill/>
          <a:ln w="9525">
            <a:solidFill>
              <a:srgbClr val="B8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4160520" cy="175564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252728"/>
            <a:ext cx="512064" cy="5120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379" y="134233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280160"/>
            <a:ext cx="3246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137"/>
                </a:solidFill>
              </a:rPr>
              <a:t>Identify Hidden Vulnerabilities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48056" y="1965960"/>
            <a:ext cx="3904488" cy="749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Risks are not always visible — they often lie deep within AI system code and model logic.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1051560"/>
            <a:ext cx="4160520" cy="175564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73168" y="1252728"/>
            <a:ext cx="512064" cy="512064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79" y="134233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280160"/>
            <a:ext cx="3246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137"/>
                </a:solidFill>
              </a:rPr>
              <a:t>Assess Severity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791456" y="1965960"/>
            <a:ext cx="3904488" cy="749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Determine how serious each risk is and prioritize accordingly to allocate resources efficiently.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20040" y="2971800"/>
            <a:ext cx="4160520" cy="175564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9768" y="3172968"/>
            <a:ext cx="512064" cy="512064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" y="326257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7280" y="3200400"/>
            <a:ext cx="3246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137"/>
                </a:solidFill>
              </a:rPr>
              <a:t>Enable Mitigation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48056" y="3886200"/>
            <a:ext cx="3904488" cy="749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Using corrective action guides by trusted frameworks like NIST AI RMF and ISO 42001.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63440" y="2971800"/>
            <a:ext cx="4160520" cy="175564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73168" y="3172968"/>
            <a:ext cx="512064" cy="5120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779" y="3262579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40680" y="3200400"/>
            <a:ext cx="3246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137"/>
                </a:solidFill>
              </a:rPr>
              <a:t>Best Time: During Development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791456" y="3886200"/>
            <a:ext cx="3904488" cy="749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Perform risk assessment during and after development, but before deployment — changes are easiest to make early.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20040" y="4645152"/>
            <a:ext cx="8503920" cy="274320"/>
          </a:xfrm>
          <a:prstGeom prst="rect">
            <a:avLst/>
          </a:prstGeom>
          <a:solidFill>
            <a:srgbClr val="E8F5E9"/>
          </a:solidFill>
          <a:ln w="7620">
            <a:solidFill>
              <a:srgbClr val="2E7D3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57200" y="4681728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A2B3C"/>
                </a:solidFill>
              </a:rPr>
              <a:t>📊  Risk Matrix (see Use Case slide): Each risk is evaluated by Likelihood × Impact to determine priority for mitigation.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08  Mitigation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137"/>
                </a:solidFill>
              </a:rPr>
              <a:t>Mitigation Strategies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0"/>
          </a:xfrm>
          <a:prstGeom prst="line">
            <a:avLst/>
          </a:prstGeom>
          <a:noFill/>
          <a:ln w="9525">
            <a:solidFill>
              <a:srgbClr val="B8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2724912" cy="175564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" y="1216152"/>
            <a:ext cx="475488" cy="4754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554" y="1299362"/>
            <a:ext cx="309067" cy="30906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8056" y="1837944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Clear Policies &amp; Roles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48056" y="2130552"/>
            <a:ext cx="2468880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1A2B3C"/>
                </a:solidFill>
              </a:rPr>
              <a:t>Define rules, responsibilities, and accountability structures across the organization.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3227832" y="1051560"/>
            <a:ext cx="2724912" cy="175564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74136" y="1216152"/>
            <a:ext cx="475488" cy="475488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346" y="1299362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55848" y="1837944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Encryption &amp; Access Control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355848" y="2130552"/>
            <a:ext cx="2468880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1A2B3C"/>
                </a:solidFill>
              </a:rPr>
              <a:t>Implement encryption and least-privilege access control to protect sensitive systems and data.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6135624" y="1051560"/>
            <a:ext cx="2724912" cy="175564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81928" y="1216152"/>
            <a:ext cx="475488" cy="47548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138" y="1299362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1837944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Human Oversight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263640" y="2130552"/>
            <a:ext cx="2468880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1A2B3C"/>
                </a:solidFill>
              </a:rPr>
              <a:t>Maintain human-in-the-loop oversight for high-stakes AI decisions and automated processes.</a:t>
            </a:r>
            <a:endParaRPr lang="en-US" sz="880" dirty="0"/>
          </a:p>
        </p:txBody>
      </p:sp>
      <p:sp>
        <p:nvSpPr>
          <p:cNvPr id="21" name="Shape 16"/>
          <p:cNvSpPr/>
          <p:nvPr/>
        </p:nvSpPr>
        <p:spPr>
          <a:xfrm>
            <a:off x="320040" y="2971800"/>
            <a:ext cx="2724912" cy="175564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" y="3136392"/>
            <a:ext cx="475488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54" y="3219602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48056" y="3758184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Continuous Monitoring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48056" y="4050792"/>
            <a:ext cx="2468880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1A2B3C"/>
                </a:solidFill>
              </a:rPr>
              <a:t>Real-time monitoring detects anomalies, unauthorized access, and prompt injection attempts.</a:t>
            </a:r>
            <a:endParaRPr lang="en-US" sz="880" dirty="0"/>
          </a:p>
        </p:txBody>
      </p:sp>
      <p:sp>
        <p:nvSpPr>
          <p:cNvPr id="26" name="Shape 20"/>
          <p:cNvSpPr/>
          <p:nvPr/>
        </p:nvSpPr>
        <p:spPr>
          <a:xfrm>
            <a:off x="3227832" y="2971800"/>
            <a:ext cx="2724912" cy="175564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374136" y="3136392"/>
            <a:ext cx="475488" cy="4754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7346" y="3219602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355848" y="3758184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Framework Alignment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3355848" y="4050792"/>
            <a:ext cx="2468880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1A2B3C"/>
                </a:solidFill>
              </a:rPr>
              <a:t>Align with NIST AI RMF or ISO 42001 for transparency, fairness, and incident response readiness.</a:t>
            </a:r>
            <a:endParaRPr lang="en-US" sz="880" dirty="0"/>
          </a:p>
        </p:txBody>
      </p:sp>
      <p:sp>
        <p:nvSpPr>
          <p:cNvPr id="31" name="Shape 24"/>
          <p:cNvSpPr/>
          <p:nvPr/>
        </p:nvSpPr>
        <p:spPr>
          <a:xfrm>
            <a:off x="6135624" y="2971800"/>
            <a:ext cx="2724912" cy="175564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81928" y="3136392"/>
            <a:ext cx="475488" cy="475488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5138" y="3219602"/>
            <a:ext cx="309067" cy="30906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263640" y="3758184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</a:rPr>
              <a:t>Zero Trust Access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6263640" y="4050792"/>
            <a:ext cx="2468880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1A2B3C"/>
                </a:solidFill>
              </a:rPr>
              <a:t>Prioritize data quality, privacy impact assessments, and zero trust controls against leakage.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09  NIST AI RMF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137"/>
                </a:solidFill>
              </a:rPr>
              <a:t>NIST AI Risk Management Framework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0"/>
          </a:xfrm>
          <a:prstGeom prst="line">
            <a:avLst/>
          </a:prstGeom>
          <a:noFill/>
          <a:ln w="9525">
            <a:solidFill>
              <a:srgbClr val="B8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5074920" cy="2057400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15568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What is it?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08176"/>
            <a:ext cx="46634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A guide by NIST to help organizations build and use AI responsibly. It is not a strict law — more like a flexible set of steps for finding, estimating, controlling, and monitoring AI-related risks early, before any major catastrophe occurs.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249424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Who can use it?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05456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• Companies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• Schools &amp; Universities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• Government Institutions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77840" y="1051560"/>
            <a:ext cx="3246120" cy="2057400"/>
          </a:xfrm>
          <a:prstGeom prst="rect">
            <a:avLst/>
          </a:prstGeom>
          <a:solidFill>
            <a:srgbClr val="EBF5FB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85432" y="1197864"/>
            <a:ext cx="621792" cy="6217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4246" y="1306678"/>
            <a:ext cx="404165" cy="40416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715000" y="19202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137"/>
                </a:solidFill>
              </a:rPr>
              <a:t>Flexible for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2137"/>
                </a:solidFill>
              </a:rPr>
              <a:t>All Organizations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0" y="2331720"/>
            <a:ext cx="2926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A2B3C"/>
                </a:solidFill>
              </a:rPr>
              <a:t>Any size and sector can adapt it to their own situation while supporting innovation and accountability.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320040" y="3246120"/>
            <a:ext cx="2029968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3246120"/>
            <a:ext cx="20299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GOVERN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487168" y="3246120"/>
            <a:ext cx="2029968" cy="5120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87168" y="3246120"/>
            <a:ext cx="20299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MAP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54296" y="3246120"/>
            <a:ext cx="2029968" cy="512064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54296" y="3246120"/>
            <a:ext cx="20299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MEASURE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821424" y="3246120"/>
            <a:ext cx="2029968" cy="5120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21424" y="3246120"/>
            <a:ext cx="20299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MANAGE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20040" y="3803904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A7B96"/>
                </a:solidFill>
              </a:rPr>
              <a:t>See next slide for objectives of each function →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4069080"/>
            <a:ext cx="8503920" cy="804672"/>
          </a:xfrm>
          <a:prstGeom prst="rect">
            <a:avLst/>
          </a:prstGeom>
          <a:solidFill>
            <a:srgbClr val="FFF8E1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02920" y="413308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Ethics ↔ Security: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286000" y="4133088"/>
            <a:ext cx="6400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Ethical AI requires secure AI. A biased model can be exploited by attackers, and an insecure AI can violate ethical principles like privacy and fairness.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10  NIST Objectives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137"/>
                </a:solidFill>
              </a:rPr>
              <a:t>Main Objectives of NIST AI RMF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0"/>
          </a:xfrm>
          <a:prstGeom prst="line">
            <a:avLst/>
          </a:prstGeom>
          <a:noFill/>
          <a:ln w="9525">
            <a:solidFill>
              <a:srgbClr val="B8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4160520" cy="175564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416052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078992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" y="1136599"/>
            <a:ext cx="213970" cy="21397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968" y="1051560"/>
            <a:ext cx="3429000" cy="384048"/>
          </a:xfrm>
          <a:prstGeom prst="rect">
            <a:avLst/>
          </a:prstGeom>
          <a:noFill/>
        </p:spPr>
        <p:txBody>
          <a:bodyPr wrap="square" lIns="0" tIns="635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GOVERN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8056" y="1527048"/>
            <a:ext cx="3904488" cy="12070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Establishes organizational culture, policies, accountability, and oversight for responsible AI risk management.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1051560"/>
            <a:ext cx="4160520" cy="175564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051560"/>
            <a:ext cx="416052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73168" y="1078992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775" y="1136599"/>
            <a:ext cx="213970" cy="21397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30368" y="1051560"/>
            <a:ext cx="3429000" cy="384048"/>
          </a:xfrm>
          <a:prstGeom prst="rect">
            <a:avLst/>
          </a:prstGeom>
          <a:noFill/>
        </p:spPr>
        <p:txBody>
          <a:bodyPr wrap="square" lIns="0" tIns="635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MAP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791456" y="1527048"/>
            <a:ext cx="3904488" cy="12070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Identifies the context, intended purpose, and potential risks of AI systems across their full life cycle.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0040" y="2971800"/>
            <a:ext cx="4160520" cy="175564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2971800"/>
            <a:ext cx="4160520" cy="384048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29768" y="2999232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" y="3056839"/>
            <a:ext cx="213970" cy="21397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6968" y="2971800"/>
            <a:ext cx="3429000" cy="384048"/>
          </a:xfrm>
          <a:prstGeom prst="rect">
            <a:avLst/>
          </a:prstGeom>
          <a:noFill/>
        </p:spPr>
        <p:txBody>
          <a:bodyPr wrap="square" lIns="0" tIns="635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MEASURE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48056" y="3447288"/>
            <a:ext cx="3904488" cy="12070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Assesses, analyzes, and quantifies identified AI risks using metrics, benchmarks, and rigorous testing methods.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663440" y="2971800"/>
            <a:ext cx="4160520" cy="175564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63440" y="2971800"/>
            <a:ext cx="416052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773168" y="2999232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775" y="3056839"/>
            <a:ext cx="213970" cy="21397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30368" y="2971800"/>
            <a:ext cx="3429000" cy="384048"/>
          </a:xfrm>
          <a:prstGeom prst="rect">
            <a:avLst/>
          </a:prstGeom>
          <a:noFill/>
        </p:spPr>
        <p:txBody>
          <a:bodyPr wrap="square" lIns="0" tIns="635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MANAGE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791456" y="3447288"/>
            <a:ext cx="3904488" cy="12070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Prioritizes risks and implements targeted strategies to mitigate, monitor, and address them effectively.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11  ISO 42001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137"/>
                </a:solidFill>
              </a:rPr>
              <a:t>ISO 42001 — AI Management System Standard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0"/>
          </a:xfrm>
          <a:prstGeom prst="line">
            <a:avLst/>
          </a:prstGeom>
          <a:noFill/>
          <a:ln w="9525">
            <a:solidFill>
              <a:srgbClr val="B8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5074920" cy="239572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15568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What is it?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08176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ISO 42001 is the world's first standard for AI management in companies. It helps organizations that create or use AI to establish and continually improve their AI management system — managing risks, maintaining ethics and transparency, ensuring legal compliance, building trust, and using AI responsibly.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Who should use it?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33472"/>
            <a:ext cx="4663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• Organizations developing or deploying AI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• Private &amp; Public Sector Businesses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• Regulatory &amp; Compliance Teams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77840" y="1051560"/>
            <a:ext cx="3246120" cy="2395728"/>
          </a:xfrm>
          <a:prstGeom prst="rect">
            <a:avLst/>
          </a:prstGeom>
          <a:solidFill>
            <a:srgbClr val="EBF5FB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85432" y="1261872"/>
            <a:ext cx="621792" cy="621792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4246" y="1370686"/>
            <a:ext cx="404165" cy="40416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715000" y="1975104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</a:rPr>
              <a:t>Global Standard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15000" y="2267712"/>
            <a:ext cx="2926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A2B3C"/>
                </a:solidFill>
              </a:rPr>
              <a:t>Works alongside ISO 27001 (Information Security) and other ISO management system standards.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5715000" y="2944368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B96"/>
                </a:solidFill>
              </a:rPr>
              <a:t>Applicable globally across all industries and sizes.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0040" y="3566160"/>
            <a:ext cx="2029968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3566160"/>
            <a:ext cx="20299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CONTEXT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487168" y="3566160"/>
            <a:ext cx="2029968" cy="4572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487168" y="3566160"/>
            <a:ext cx="20299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LEADERSHIP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54296" y="3566160"/>
            <a:ext cx="2029968" cy="45720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54296" y="3566160"/>
            <a:ext cx="20299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821424" y="3566160"/>
            <a:ext cx="2029968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21424" y="3566160"/>
            <a:ext cx="20299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IMPROVE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20040" y="4078224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A7B96"/>
                </a:solidFill>
              </a:rPr>
              <a:t>See next slide for details →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12  ISO 42001 Objectives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137"/>
                </a:solidFill>
              </a:rPr>
              <a:t>Main Objectives of ISO 42001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0"/>
          </a:xfrm>
          <a:prstGeom prst="line">
            <a:avLst/>
          </a:prstGeom>
          <a:noFill/>
          <a:ln w="9525">
            <a:solidFill>
              <a:srgbClr val="B8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4160520" cy="175564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416052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078992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" y="1136599"/>
            <a:ext cx="213970" cy="21397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968" y="1051560"/>
            <a:ext cx="3429000" cy="384048"/>
          </a:xfrm>
          <a:prstGeom prst="rect">
            <a:avLst/>
          </a:prstGeom>
          <a:noFill/>
        </p:spPr>
        <p:txBody>
          <a:bodyPr wrap="square" lIns="0" tIns="635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CONTEXT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8056" y="1527048"/>
            <a:ext cx="3904488" cy="12070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Understands the organization's environment, stakeholders, scope, and AI-related obligations before building policy.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1051560"/>
            <a:ext cx="4160520" cy="175564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051560"/>
            <a:ext cx="416052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73168" y="1078992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775" y="1136599"/>
            <a:ext cx="213970" cy="21397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30368" y="1051560"/>
            <a:ext cx="3429000" cy="384048"/>
          </a:xfrm>
          <a:prstGeom prst="rect">
            <a:avLst/>
          </a:prstGeom>
          <a:noFill/>
        </p:spPr>
        <p:txBody>
          <a:bodyPr wrap="square" lIns="0" tIns="635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LEADERSHIP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791456" y="1527048"/>
            <a:ext cx="3904488" cy="12070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Ensures top management commitment, assigns roles, and establishes an AI policy aligned with organizational goals.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0040" y="2971800"/>
            <a:ext cx="4160520" cy="175564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2971800"/>
            <a:ext cx="4160520" cy="384048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29768" y="2999232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" y="3056839"/>
            <a:ext cx="213970" cy="21397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6968" y="2971800"/>
            <a:ext cx="3429000" cy="384048"/>
          </a:xfrm>
          <a:prstGeom prst="rect">
            <a:avLst/>
          </a:prstGeom>
          <a:noFill/>
        </p:spPr>
        <p:txBody>
          <a:bodyPr wrap="square" lIns="0" tIns="635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48056" y="3447288"/>
            <a:ext cx="3904488" cy="12070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Identifies, assesses, and treats AI-related risks to ensure systems are safe, ethical, and compliant throughout their lifecycle.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663440" y="2971800"/>
            <a:ext cx="4160520" cy="175564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63440" y="2971800"/>
            <a:ext cx="416052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773168" y="2999232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775" y="3056839"/>
            <a:ext cx="213970" cy="21397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30368" y="2971800"/>
            <a:ext cx="3429000" cy="384048"/>
          </a:xfrm>
          <a:prstGeom prst="rect">
            <a:avLst/>
          </a:prstGeom>
          <a:noFill/>
        </p:spPr>
        <p:txBody>
          <a:bodyPr wrap="square" lIns="0" tIns="635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IMPROVE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791456" y="3447288"/>
            <a:ext cx="3904488" cy="12070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B3C"/>
                </a:solidFill>
              </a:rPr>
              <a:t>Drives continual improvement of the AIMS through monitoring, audits, corrective actions, and management reviews.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13  AI Use Case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137"/>
                </a:solidFill>
              </a:rPr>
              <a:t>AI Use Case &amp; Its Risks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0"/>
          </a:xfrm>
          <a:prstGeom prst="line">
            <a:avLst/>
          </a:prstGeom>
          <a:noFill/>
          <a:ln w="9525">
            <a:solidFill>
              <a:srgbClr val="B8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8503920" cy="640080"/>
          </a:xfrm>
          <a:prstGeom prst="rect">
            <a:avLst/>
          </a:prstGeom>
          <a:solidFill>
            <a:srgbClr val="EAF4FB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7899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Use Case: AI Customer Support Chatbot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3502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B3C"/>
                </a:solidFill>
              </a:rPr>
              <a:t>Purpose: Automate customer support, reduce wait times, and lower operational costs through 24/7 AI-assisted service.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792224"/>
            <a:ext cx="4160520" cy="1417320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" y="1956816"/>
            <a:ext cx="438912" cy="43891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866" y="2033626"/>
            <a:ext cx="285293" cy="28529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794760" y="1901952"/>
            <a:ext cx="585216" cy="21945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94760" y="1901952"/>
            <a:ext cx="585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051560" y="1956816"/>
            <a:ext cx="2670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2137"/>
                </a:solidFill>
              </a:rPr>
              <a:t>Inaccurate Answers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48056" y="2432304"/>
            <a:ext cx="390448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</a:rPr>
              <a:t>AI may give wrong information (e.g., wrong delivery date), creating legal and customer trust issues.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63440" y="1792224"/>
            <a:ext cx="4160520" cy="1417320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91456" y="1956816"/>
            <a:ext cx="438912" cy="438912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266" y="2033626"/>
            <a:ext cx="285293" cy="285293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138160" y="1901952"/>
            <a:ext cx="585216" cy="21945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138160" y="1901952"/>
            <a:ext cx="585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5394960" y="1956816"/>
            <a:ext cx="2670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2137"/>
                </a:solidFill>
              </a:rPr>
              <a:t>Data Leakage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791456" y="2432304"/>
            <a:ext cx="390448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</a:rPr>
              <a:t>If a customer shares personal info and the AI is unsecured, it could leak addresses or order data.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20040" y="3346704"/>
            <a:ext cx="4160520" cy="1417320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48056" y="3511296"/>
            <a:ext cx="438912" cy="438912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66" y="3588106"/>
            <a:ext cx="285293" cy="285293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3794760" y="3456432"/>
            <a:ext cx="585216" cy="219456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794760" y="3456432"/>
            <a:ext cx="585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Critical</a:t>
            </a:r>
            <a:endParaRPr lang="en-US" sz="700" dirty="0"/>
          </a:p>
        </p:txBody>
      </p:sp>
      <p:sp>
        <p:nvSpPr>
          <p:cNvPr id="28" name="Text 23"/>
          <p:cNvSpPr/>
          <p:nvPr/>
        </p:nvSpPr>
        <p:spPr>
          <a:xfrm>
            <a:off x="1051560" y="3511296"/>
            <a:ext cx="2670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2137"/>
                </a:solidFill>
              </a:rPr>
              <a:t>Prompt Injection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48056" y="3986784"/>
            <a:ext cx="390448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</a:rPr>
              <a:t>Malicious users may trick the chatbot into revealing sensitive data or performing unlawful actions.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663440" y="3346704"/>
            <a:ext cx="4160520" cy="1417320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791456" y="3511296"/>
            <a:ext cx="438912" cy="43891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266" y="3588106"/>
            <a:ext cx="285293" cy="285293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8138160" y="3456432"/>
            <a:ext cx="585216" cy="21945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8138160" y="3456432"/>
            <a:ext cx="585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35" name="Text 29"/>
          <p:cNvSpPr/>
          <p:nvPr/>
        </p:nvSpPr>
        <p:spPr>
          <a:xfrm>
            <a:off x="5394960" y="3511296"/>
            <a:ext cx="26700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2137"/>
                </a:solidFill>
              </a:rPr>
              <a:t>Job Displacement &amp; Bias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4791456" y="3986784"/>
            <a:ext cx="390448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</a:rPr>
              <a:t>AI can handle heavy workloads but may also exhibit bias against non-native English speakers or users with disabilities.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320040" y="4636008"/>
            <a:ext cx="8503920" cy="274320"/>
          </a:xfrm>
          <a:prstGeom prst="rect">
            <a:avLst/>
          </a:prstGeom>
          <a:solidFill>
            <a:srgbClr val="E8F5E9"/>
          </a:solidFill>
          <a:ln w="7620">
            <a:solidFill>
              <a:srgbClr val="2E7D32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57200" y="4672584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A2B3C"/>
                </a:solidFill>
              </a:rPr>
              <a:t>📊  Risk Matrix: Prompt Injection (Likelihood: High × Impact: Critical = Top Priority) | Data Leakage (Likely × High) | Inaccurate Answers (Possible × Medium)</a:t>
            </a:r>
            <a:endParaRPr lang="en-US" sz="8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14  System 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137"/>
                </a:solidFill>
              </a:rPr>
              <a:t>System Architecture — AI Customer Support Chatbot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0"/>
          </a:xfrm>
          <a:prstGeom prst="line">
            <a:avLst/>
          </a:prstGeom>
          <a:noFill/>
          <a:ln w="9525">
            <a:solidFill>
              <a:srgbClr val="B8D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B96"/>
                </a:solidFill>
              </a:rPr>
              <a:t>Chatbot System Architecture (Draw.io Style)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1261872"/>
            <a:ext cx="6949440" cy="3200400"/>
          </a:xfrm>
          <a:prstGeom prst="rect">
            <a:avLst/>
          </a:prstGeom>
          <a:solidFill>
            <a:srgbClr val="F5FAFF"/>
          </a:solidFill>
          <a:ln w="19050">
            <a:solidFill>
              <a:srgbClr val="B8D4E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828800" y="129844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A7B96"/>
                </a:solidFill>
              </a:rPr>
              <a:t>Trusted System Boundary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7160" y="2103120"/>
            <a:ext cx="1371600" cy="1005840"/>
          </a:xfrm>
          <a:prstGeom prst="rect">
            <a:avLst/>
          </a:prstGeom>
          <a:solidFill>
            <a:srgbClr val="E8F5E9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76272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" y="257860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User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37160" y="274320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B96"/>
                </a:solidFill>
              </a:rPr>
              <a:t>(Browser / App)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1536192" y="2606040"/>
            <a:ext cx="237744" cy="0"/>
          </a:xfrm>
          <a:prstGeom prst="line">
            <a:avLst/>
          </a:prstGeom>
          <a:noFill/>
          <a:ln w="22860">
            <a:solidFill>
              <a:srgbClr val="1B6CA8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523744"/>
            <a:ext cx="219456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2432304"/>
            <a:ext cx="4754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6CA8"/>
                </a:solidFill>
              </a:rPr>
              <a:t>HTTPS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1828800" y="2103120"/>
            <a:ext cx="1554480" cy="1005840"/>
          </a:xfrm>
          <a:prstGeom prst="rect">
            <a:avLst/>
          </a:prstGeom>
          <a:solidFill>
            <a:srgbClr val="EAF4FB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217627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2578608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API Gateway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828800" y="274320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B96"/>
                </a:solidFill>
              </a:rPr>
              <a:t>Auth + Rate Limit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3401568" y="2606040"/>
            <a:ext cx="438912" cy="0"/>
          </a:xfrm>
          <a:prstGeom prst="line">
            <a:avLst/>
          </a:prstGeom>
          <a:noFill/>
          <a:ln w="22860">
            <a:solidFill>
              <a:srgbClr val="1B6CA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2523744"/>
            <a:ext cx="219456" cy="16459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3858768" y="2103120"/>
            <a:ext cx="1645920" cy="1005840"/>
          </a:xfrm>
          <a:prstGeom prst="rect">
            <a:avLst/>
          </a:prstGeom>
          <a:solidFill>
            <a:srgbClr val="EEE5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2176272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58768" y="2578608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LLM Engine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3858768" y="274320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B96"/>
                </a:solidFill>
              </a:rPr>
              <a:t>GPT / Claude</a:t>
            </a:r>
            <a:endParaRPr lang="en-US" sz="750" dirty="0"/>
          </a:p>
        </p:txBody>
      </p:sp>
      <p:sp>
        <p:nvSpPr>
          <p:cNvPr id="26" name="Shape 19"/>
          <p:cNvSpPr/>
          <p:nvPr/>
        </p:nvSpPr>
        <p:spPr>
          <a:xfrm>
            <a:off x="4681728" y="3127248"/>
            <a:ext cx="0" cy="347472"/>
          </a:xfrm>
          <a:prstGeom prst="line">
            <a:avLst/>
          </a:prstGeom>
          <a:noFill/>
          <a:ln w="19050">
            <a:solidFill>
              <a:srgbClr val="0F9B8E"/>
            </a:solidFill>
            <a:prstDash val="dash"/>
          </a:ln>
        </p:spPr>
      </p:sp>
      <p:sp>
        <p:nvSpPr>
          <p:cNvPr id="27" name="Shape 20"/>
          <p:cNvSpPr/>
          <p:nvPr/>
        </p:nvSpPr>
        <p:spPr>
          <a:xfrm>
            <a:off x="3858768" y="3520440"/>
            <a:ext cx="1645920" cy="822960"/>
          </a:xfrm>
          <a:prstGeom prst="rect">
            <a:avLst/>
          </a:prstGeom>
          <a:solidFill>
            <a:srgbClr val="E8F5E9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566160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858768" y="391363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Customer DB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3858768" y="407822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B96"/>
                </a:solidFill>
              </a:rPr>
              <a:t>Encrypted at rest</a:t>
            </a:r>
            <a:endParaRPr lang="en-US" sz="750" dirty="0"/>
          </a:p>
        </p:txBody>
      </p:sp>
      <p:sp>
        <p:nvSpPr>
          <p:cNvPr id="31" name="Shape 23"/>
          <p:cNvSpPr/>
          <p:nvPr/>
        </p:nvSpPr>
        <p:spPr>
          <a:xfrm>
            <a:off x="5522976" y="2606040"/>
            <a:ext cx="420624" cy="0"/>
          </a:xfrm>
          <a:prstGeom prst="line">
            <a:avLst/>
          </a:prstGeom>
          <a:noFill/>
          <a:ln w="19050">
            <a:solidFill>
              <a:srgbClr val="0F9B8E"/>
            </a:solidFill>
            <a:prstDash val="dash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856" y="2523744"/>
            <a:ext cx="219456" cy="164592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5961888" y="2103120"/>
            <a:ext cx="2286000" cy="1005840"/>
          </a:xfrm>
          <a:prstGeom prst="rect">
            <a:avLst/>
          </a:prstGeom>
          <a:solidFill>
            <a:srgbClr val="FFF3CD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2176272"/>
            <a:ext cx="384048" cy="38404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961888" y="2578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Logging &amp; Monitoring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5961888" y="274320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B96"/>
                </a:solidFill>
              </a:rPr>
              <a:t>SIEM / Audit Logs</a:t>
            </a:r>
            <a:endParaRPr lang="en-US" sz="750" dirty="0"/>
          </a:p>
        </p:txBody>
      </p:sp>
      <p:sp>
        <p:nvSpPr>
          <p:cNvPr id="37" name="Shape 27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EAF4FB"/>
          </a:solidFill>
          <a:ln w="7620">
            <a:solidFill>
              <a:srgbClr val="B8D4E8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502920" y="4535424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B3C"/>
                </a:solidFill>
              </a:rPr>
              <a:t>☁️  Cloud-hosted (AWS/Azure) with hybrid option for on-prem data storage   |   Zero Trust: All components verify identity before communicating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15  Data Flow Diagram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137"/>
                </a:solidFill>
              </a:rPr>
              <a:t>Data Flow Diagram — Chatbot with Trust Boundaries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0"/>
          </a:xfrm>
          <a:prstGeom prst="line">
            <a:avLst/>
          </a:prstGeom>
          <a:noFill/>
          <a:ln w="9525">
            <a:solidFill>
              <a:srgbClr val="B8D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B96"/>
                </a:solidFill>
              </a:rPr>
              <a:t>DFD Level 1: How user input, prompts, and responses move through the system with clear trust boundaries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1371600"/>
            <a:ext cx="1280160" cy="59436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371600"/>
            <a:ext cx="1280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</a:rPr>
              <a:t>User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</a:rPr>
              <a:t>(External)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37360" y="1188720"/>
            <a:ext cx="7178040" cy="1234440"/>
          </a:xfrm>
          <a:prstGeom prst="rect">
            <a:avLst/>
          </a:prstGeom>
          <a:solidFill>
            <a:srgbClr val="F5FAFF"/>
          </a:solidFill>
          <a:ln w="12700">
            <a:solidFill>
              <a:srgbClr val="B8D4E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828800" y="1216152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7B96"/>
                </a:solidFill>
              </a:rPr>
              <a:t>Internet / DMZ Trust Zone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0" y="1371600"/>
            <a:ext cx="1554480" cy="594360"/>
          </a:xfrm>
          <a:prstGeom prst="rect">
            <a:avLst/>
          </a:prstGeom>
          <a:solidFill>
            <a:srgbClr val="EAF4FB"/>
          </a:solidFill>
          <a:ln w="1905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37160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2137"/>
                </a:solidFill>
              </a:rPr>
              <a:t>1. Input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D2137"/>
                </a:solidFill>
              </a:rPr>
              <a:t>Validation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01568" y="1673352"/>
            <a:ext cx="457200" cy="0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481328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6CA8"/>
                </a:solidFill>
              </a:rPr>
              <a:t>Sanitised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B6CA8"/>
                </a:solidFill>
              </a:rPr>
              <a:t>Input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877056" y="1371600"/>
            <a:ext cx="1554480" cy="594360"/>
          </a:xfrm>
          <a:prstGeom prst="rect">
            <a:avLst/>
          </a:prstGeom>
          <a:solidFill>
            <a:srgbClr val="EAF4FB"/>
          </a:solidFill>
          <a:ln w="1905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77056" y="137160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2137"/>
                </a:solidFill>
              </a:rPr>
              <a:t>2. API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D2137"/>
                </a:solidFill>
              </a:rPr>
              <a:t>Gateway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49824" y="1673352"/>
            <a:ext cx="457200" cy="0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481328"/>
            <a:ext cx="6583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6CA8"/>
                </a:solidFill>
              </a:rPr>
              <a:t>Auth'd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B6CA8"/>
                </a:solidFill>
              </a:rPr>
              <a:t>Request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925312" y="1371600"/>
            <a:ext cx="1554480" cy="594360"/>
          </a:xfrm>
          <a:prstGeom prst="rect">
            <a:avLst/>
          </a:prstGeom>
          <a:solidFill>
            <a:srgbClr val="EEE5FF"/>
          </a:solidFill>
          <a:ln w="19050">
            <a:solidFill>
              <a:srgbClr val="1B6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137160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2137"/>
                </a:solidFill>
              </a:rPr>
              <a:t>3. LLM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D2137"/>
                </a:solidFill>
              </a:rPr>
              <a:t>Processing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737360" y="2560320"/>
            <a:ext cx="7178040" cy="1417320"/>
          </a:xfrm>
          <a:prstGeom prst="rect">
            <a:avLst/>
          </a:prstGeom>
          <a:solidFill>
            <a:srgbClr val="F0FFF4"/>
          </a:solidFill>
          <a:ln w="12700">
            <a:solidFill>
              <a:srgbClr val="2E7D32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28800" y="2587752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E7D32"/>
                </a:solidFill>
              </a:rPr>
              <a:t>Internal Trusted Zone (Encrypted)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920240" y="2724912"/>
            <a:ext cx="1600200" cy="594360"/>
          </a:xfrm>
          <a:prstGeom prst="rect">
            <a:avLst/>
          </a:prstGeom>
          <a:solidFill>
            <a:srgbClr val="FAFAFA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0240" y="2743200"/>
            <a:ext cx="160020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0240" y="3291840"/>
            <a:ext cx="160020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0240" y="274320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2137"/>
                </a:solidFill>
              </a:rPr>
              <a:t>DS1: Customer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D2137"/>
                </a:solidFill>
              </a:rPr>
              <a:t>Database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858768" y="2724912"/>
            <a:ext cx="1600200" cy="594360"/>
          </a:xfrm>
          <a:prstGeom prst="rect">
            <a:avLst/>
          </a:prstGeom>
          <a:solidFill>
            <a:srgbClr val="FAFAFA"/>
          </a:solidFill>
          <a:ln w="19050">
            <a:solidFill>
              <a:srgbClr val="1B6C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58768" y="2743200"/>
            <a:ext cx="1600200" cy="0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58768" y="3291840"/>
            <a:ext cx="1600200" cy="0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58768" y="274320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2137"/>
                </a:solidFill>
              </a:rPr>
              <a:t>DS2: Prompt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D2137"/>
                </a:solidFill>
              </a:rPr>
              <a:t>Templates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870448" y="2724912"/>
            <a:ext cx="1600200" cy="594360"/>
          </a:xfrm>
          <a:prstGeom prst="rect">
            <a:avLst/>
          </a:prstGeom>
          <a:solidFill>
            <a:srgbClr val="FAFAFA"/>
          </a:solidFill>
          <a:ln w="19050">
            <a:solidFill>
              <a:srgbClr val="E07B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70448" y="2743200"/>
            <a:ext cx="1600200" cy="0"/>
          </a:xfrm>
          <a:prstGeom prst="line">
            <a:avLst/>
          </a:prstGeom>
          <a:noFill/>
          <a:ln w="19050">
            <a:solidFill>
              <a:srgbClr val="E07B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70448" y="3291840"/>
            <a:ext cx="1600200" cy="0"/>
          </a:xfrm>
          <a:prstGeom prst="line">
            <a:avLst/>
          </a:prstGeom>
          <a:noFill/>
          <a:ln w="19050">
            <a:solidFill>
              <a:srgbClr val="E07B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0448" y="274320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2137"/>
                </a:solidFill>
              </a:rPr>
              <a:t>DS3: Audit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D2137"/>
                </a:solidFill>
              </a:rPr>
              <a:t>Logs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606040" y="1965960"/>
            <a:ext cx="0" cy="777240"/>
          </a:xfrm>
          <a:prstGeom prst="line">
            <a:avLst/>
          </a:prstGeom>
          <a:noFill/>
          <a:ln w="12700">
            <a:solidFill>
              <a:srgbClr val="0F9B8E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654296" y="1965960"/>
            <a:ext cx="0" cy="777240"/>
          </a:xfrm>
          <a:prstGeom prst="line">
            <a:avLst/>
          </a:prstGeom>
          <a:noFill/>
          <a:ln w="12700">
            <a:solidFill>
              <a:srgbClr val="0F9B8E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702552" y="1965960"/>
            <a:ext cx="0" cy="777240"/>
          </a:xfrm>
          <a:prstGeom prst="line">
            <a:avLst/>
          </a:prstGeom>
          <a:noFill/>
          <a:ln w="12700">
            <a:solidFill>
              <a:srgbClr val="0F9B8E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737360" y="4069080"/>
            <a:ext cx="7178040" cy="749808"/>
          </a:xfrm>
          <a:prstGeom prst="rect">
            <a:avLst/>
          </a:prstGeom>
          <a:solidFill>
            <a:srgbClr val="FFF8E1"/>
          </a:solidFill>
          <a:ln w="10160">
            <a:solidFill>
              <a:srgbClr val="E07B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01952" y="413308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2137"/>
                </a:solidFill>
              </a:rPr>
              <a:t>Response Flow: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01568" y="4133088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</a:rPr>
              <a:t>LLM generates response → Output Filter (removes PII) → API Gateway → HTTPS response to User browser/app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4645152"/>
            <a:ext cx="8503920" cy="274320"/>
          </a:xfrm>
          <a:prstGeom prst="rect">
            <a:avLst/>
          </a:prstGeom>
          <a:solidFill>
            <a:srgbClr val="EAF4FB"/>
          </a:solidFill>
          <a:ln w="6350">
            <a:solidFill>
              <a:srgbClr val="B8D4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681728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A2B3C"/>
                </a:solidFill>
              </a:rPr>
              <a:t>🔒  All cross-boundary data flows are encrypted (TLS 1.3). User PII never stored in LLM prompt logs.</a:t>
            </a:r>
            <a:endParaRPr lang="en-US" sz="8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16  Security 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137"/>
                </a:solidFill>
              </a:rPr>
              <a:t>Security Architecture — Encryption, Access &amp; Monitoring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0"/>
          </a:xfrm>
          <a:prstGeom prst="line">
            <a:avLst/>
          </a:prstGeom>
          <a:noFill/>
          <a:ln w="9525">
            <a:solidFill>
              <a:srgbClr val="B8D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B96"/>
                </a:solidFill>
              </a:rPr>
              <a:t>Layered defence: how encryption, access control, firewalls, and monitoring protect the chatbot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95360" cy="3657600"/>
          </a:xfrm>
          <a:prstGeom prst="rect">
            <a:avLst/>
          </a:prstGeom>
          <a:solidFill>
            <a:srgbClr val="FDECEA"/>
          </a:solidFill>
          <a:ln w="10160">
            <a:solidFill>
              <a:srgbClr val="D94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D94F3D"/>
                </a:solidFill>
              </a:rPr>
              <a:t>Internet (Untrusted)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8138160" cy="3200400"/>
          </a:xfrm>
          <a:prstGeom prst="rect">
            <a:avLst/>
          </a:prstGeom>
          <a:solidFill>
            <a:srgbClr val="FFF8E1"/>
          </a:solidFill>
          <a:ln w="10160">
            <a:solidFill>
              <a:srgbClr val="E07B0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94360" y="1554480"/>
            <a:ext cx="7955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07B00"/>
                </a:solidFill>
              </a:rPr>
              <a:t>DMZ — WAF + TLS Termination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77240" y="1828800"/>
            <a:ext cx="7589520" cy="2560320"/>
          </a:xfrm>
          <a:prstGeom prst="rect">
            <a:avLst/>
          </a:prstGeom>
          <a:solidFill>
            <a:srgbClr val="EAF4FB"/>
          </a:solidFill>
          <a:ln w="10160">
            <a:solidFill>
              <a:srgbClr val="1B6CA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68680" y="1874520"/>
            <a:ext cx="7406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B6CA8"/>
                </a:solidFill>
              </a:rPr>
              <a:t>Application Zone — Zero Trust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097280" y="2176272"/>
            <a:ext cx="6949440" cy="1883664"/>
          </a:xfrm>
          <a:prstGeom prst="rect">
            <a:avLst/>
          </a:prstGeom>
          <a:solidFill>
            <a:srgbClr val="E8F5E9"/>
          </a:solidFill>
          <a:ln w="10160">
            <a:solidFill>
              <a:srgbClr val="2E7D32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188720" y="2221992"/>
            <a:ext cx="6766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E7D32"/>
                </a:solidFill>
              </a:rPr>
              <a:t>Data Zone — Encrypted at Rest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417320" y="2304288"/>
            <a:ext cx="1481328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581912" y="2395728"/>
            <a:ext cx="365760" cy="36576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459736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057400" y="2414016"/>
            <a:ext cx="7680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2137"/>
                </a:solidFill>
              </a:rPr>
              <a:t>WAF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057400" y="2624328"/>
            <a:ext cx="7680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B96"/>
                </a:solidFill>
              </a:rPr>
              <a:t>Blocks SQLi, XSS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090672" y="2304288"/>
            <a:ext cx="1481328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55264" y="2395728"/>
            <a:ext cx="365760" cy="3657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2459736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730752" y="2414016"/>
            <a:ext cx="7680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2137"/>
                </a:solidFill>
              </a:rPr>
              <a:t>Zero Trust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3730752" y="2624328"/>
            <a:ext cx="7680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B96"/>
                </a:solidFill>
              </a:rPr>
              <a:t>MFA + Least Privilege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4754880" y="2304288"/>
            <a:ext cx="1481328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919472" y="2395728"/>
            <a:ext cx="365760" cy="3657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459736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394960" y="2414016"/>
            <a:ext cx="7680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2137"/>
                </a:solidFill>
              </a:rPr>
              <a:t>LLM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5394960" y="2624328"/>
            <a:ext cx="7680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B96"/>
                </a:solidFill>
              </a:rPr>
              <a:t>Isolated Sandbox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6400800" y="2304288"/>
            <a:ext cx="1481328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565392" y="2395728"/>
            <a:ext cx="36576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459736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040880" y="2414016"/>
            <a:ext cx="7680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2137"/>
                </a:solidFill>
              </a:rPr>
              <a:t>Database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7040880" y="2624328"/>
            <a:ext cx="7680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B96"/>
                </a:solidFill>
              </a:rPr>
              <a:t>AES-256 Encryption</a:t>
            </a:r>
            <a:endParaRPr lang="en-US" sz="750" dirty="0"/>
          </a:p>
        </p:txBody>
      </p:sp>
      <p:sp>
        <p:nvSpPr>
          <p:cNvPr id="35" name="Shape 29"/>
          <p:cNvSpPr/>
          <p:nvPr/>
        </p:nvSpPr>
        <p:spPr>
          <a:xfrm>
            <a:off x="3584448" y="3328416"/>
            <a:ext cx="1481328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3749040" y="3419856"/>
            <a:ext cx="365760" cy="36576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3048" y="3483864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224528" y="3438144"/>
            <a:ext cx="7680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2137"/>
                </a:solidFill>
              </a:rPr>
              <a:t>SIEM</a:t>
            </a:r>
            <a:endParaRPr lang="en-US" sz="850" dirty="0"/>
          </a:p>
        </p:txBody>
      </p:sp>
      <p:sp>
        <p:nvSpPr>
          <p:cNvPr id="39" name="Text 32"/>
          <p:cNvSpPr/>
          <p:nvPr/>
        </p:nvSpPr>
        <p:spPr>
          <a:xfrm>
            <a:off x="4224528" y="3648456"/>
            <a:ext cx="7680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B96"/>
                </a:solidFill>
              </a:rPr>
              <a:t>Real-time Alerts</a:t>
            </a:r>
            <a:endParaRPr lang="en-US" sz="750" dirty="0"/>
          </a:p>
        </p:txBody>
      </p:sp>
      <p:sp>
        <p:nvSpPr>
          <p:cNvPr id="40" name="Shape 33"/>
          <p:cNvSpPr/>
          <p:nvPr/>
        </p:nvSpPr>
        <p:spPr>
          <a:xfrm>
            <a:off x="1417320" y="3328416"/>
            <a:ext cx="1481328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1581912" y="3419856"/>
            <a:ext cx="365760" cy="36576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920" y="3483864"/>
            <a:ext cx="237744" cy="23774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2057400" y="3438144"/>
            <a:ext cx="7680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2137"/>
                </a:solidFill>
              </a:rPr>
              <a:t>TLS 1.3</a:t>
            </a: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2057400" y="3648456"/>
            <a:ext cx="7680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7B96"/>
                </a:solidFill>
              </a:rPr>
              <a:t>In-Transit Encrypt</a:t>
            </a:r>
            <a:endParaRPr lang="en-US" sz="750" dirty="0"/>
          </a:p>
        </p:txBody>
      </p:sp>
      <p:sp>
        <p:nvSpPr>
          <p:cNvPr id="45" name="Shape 37"/>
          <p:cNvSpPr/>
          <p:nvPr/>
        </p:nvSpPr>
        <p:spPr>
          <a:xfrm>
            <a:off x="320040" y="4645152"/>
            <a:ext cx="8503920" cy="274320"/>
          </a:xfrm>
          <a:prstGeom prst="rect">
            <a:avLst/>
          </a:prstGeom>
          <a:solidFill>
            <a:srgbClr val="EAF4FB"/>
          </a:solidFill>
          <a:ln w="6350">
            <a:solidFill>
              <a:srgbClr val="B8D4E8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457200" y="4681728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0D2137"/>
                </a:solidFill>
              </a:rPr>
              <a:t>Controls: MFA | Role-Based Access | Audit Logs | Anomaly Detection | Incident Response Playbook | Data Loss Prevention (DLP)</a:t>
            </a:r>
            <a:endParaRPr lang="en-US" sz="8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17  Policy &amp; Procedure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137"/>
                </a:solidFill>
              </a:rPr>
              <a:t>AI Policy &amp; Incident Response Procedure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0"/>
          </a:xfrm>
          <a:prstGeom prst="line">
            <a:avLst/>
          </a:prstGeom>
          <a:noFill/>
          <a:ln w="9525">
            <a:solidFill>
              <a:srgbClr val="B8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4160520" cy="3840480"/>
          </a:xfrm>
          <a:prstGeom prst="rect">
            <a:avLst/>
          </a:prstGeom>
          <a:solidFill>
            <a:srgbClr val="EAF4FB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416052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89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1078992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AI Acceptable Use Policy (AUP)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5488" y="14813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2137"/>
                </a:solidFill>
              </a:rPr>
              <a:t>Scope: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417320" y="1481328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3C"/>
                </a:solidFill>
              </a:rPr>
              <a:t>Applies to all employees and vendors using the AI chatbot system.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75488" y="2011680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2137"/>
                </a:solidFill>
              </a:rPr>
              <a:t>Permitted Use: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417320" y="201168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3C"/>
                </a:solidFill>
              </a:rPr>
              <a:t>Customer queries, support automation, internal FAQs only.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75488" y="254203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2137"/>
                </a:solidFill>
              </a:rPr>
              <a:t>Prohibited Use: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417320" y="2542032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3C"/>
                </a:solidFill>
              </a:rPr>
              <a:t>No processing of sensitive PII without explicit consent. No jailbreak attempts.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75488" y="3072384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2137"/>
                </a:solidFill>
              </a:rPr>
              <a:t>Data Privacy: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417320" y="3072384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3C"/>
                </a:solidFill>
              </a:rPr>
              <a:t>All customer data encrypted in transit (TLS) and at rest (AES-256). Retained 90 days max.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75488" y="3602736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2137"/>
                </a:solidFill>
              </a:rPr>
              <a:t>Accountability: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417320" y="3602736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3C"/>
                </a:solidFill>
              </a:rPr>
              <a:t>AI System Owner (IT Director) responsible for all chatbot decisions and failures.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5488" y="413308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2137"/>
                </a:solidFill>
              </a:rPr>
              <a:t>Review Cycle: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417320" y="4133088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3C"/>
                </a:solidFill>
              </a:rPr>
              <a:t>Policy reviewed every 6 months or after any security incident.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663440" y="1024128"/>
            <a:ext cx="4160520" cy="3840480"/>
          </a:xfrm>
          <a:prstGeom prst="rect">
            <a:avLst/>
          </a:prstGeom>
          <a:solidFill>
            <a:srgbClr val="FFF8E1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1024128"/>
            <a:ext cx="4160520" cy="347472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1078992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102352" y="1078992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Prompt Injection — Incident Response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736592" y="1517904"/>
            <a:ext cx="219456" cy="219456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36592" y="151790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5010912" y="1481328"/>
            <a:ext cx="3675888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3C"/>
                </a:solidFill>
              </a:rPr>
              <a:t>Detect: SIEM alert fires on anomalous prompt pattern.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4736592" y="1993392"/>
            <a:ext cx="219456" cy="219456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36592" y="199339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5010912" y="1956816"/>
            <a:ext cx="3675888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3C"/>
                </a:solidFill>
              </a:rPr>
              <a:t>Contain: API Gateway blocks the session token immediately.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736592" y="2468880"/>
            <a:ext cx="219456" cy="219456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736592" y="246888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5010912" y="2432304"/>
            <a:ext cx="3675888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3C"/>
                </a:solidFill>
              </a:rPr>
              <a:t>Log: All request data captured to audit log with timestamp.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4736592" y="2944368"/>
            <a:ext cx="219456" cy="219456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736592" y="294436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5010912" y="2907792"/>
            <a:ext cx="3675888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3C"/>
                </a:solidFill>
              </a:rPr>
              <a:t>Analyse: Security team reviews prompt and determines attack scope.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4736592" y="3419856"/>
            <a:ext cx="219456" cy="219456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736592" y="3419856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5010912" y="3383280"/>
            <a:ext cx="3675888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3C"/>
                </a:solidFill>
              </a:rPr>
              <a:t>Remediate: Apply input sanitisation patch; update WAF rules.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4736592" y="3895344"/>
            <a:ext cx="219456" cy="219456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736592" y="389534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5010912" y="3858768"/>
            <a:ext cx="3675888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3C"/>
                </a:solidFill>
              </a:rPr>
              <a:t>Notify: Inform affected users per GDPR 72-hour requirement.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4736592" y="4370832"/>
            <a:ext cx="219456" cy="219456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736592" y="437083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5010912" y="4334256"/>
            <a:ext cx="3675888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3C"/>
                </a:solidFill>
              </a:rPr>
              <a:t>Review: Post-incident report; update AUP and training materials.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320040" y="4645152"/>
            <a:ext cx="8503920" cy="274320"/>
          </a:xfrm>
          <a:prstGeom prst="rect">
            <a:avLst/>
          </a:prstGeom>
          <a:solidFill>
            <a:srgbClr val="FFF3CD"/>
          </a:solidFill>
          <a:ln w="7620">
            <a:solidFill>
              <a:srgbClr val="E07B00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57200" y="4681728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A2B3C"/>
                </a:solidFill>
              </a:rPr>
              <a:t>⚠️  Failure Scenario: If prompt injection succeeds → attacker extracts customer data → invoke steps 2–7 above + escalate to CISO</a:t>
            </a:r>
            <a:endParaRPr lang="en-US" sz="8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18  Conclusion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137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0"/>
          </a:xfrm>
          <a:prstGeom prst="line">
            <a:avLst/>
          </a:prstGeom>
          <a:noFill/>
          <a:ln w="9525">
            <a:solidFill>
              <a:srgbClr val="B8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4160520" cy="157276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" y="1234440"/>
            <a:ext cx="475488" cy="4754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554" y="1317650"/>
            <a:ext cx="309067" cy="30906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25272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137"/>
                </a:solidFill>
              </a:rPr>
              <a:t>Clear Rules &amp; Guidelines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48056" y="1874520"/>
            <a:ext cx="3904488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AI governance sets clear rules so systems work properly, make correct decisions, and do not harm people.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1051560"/>
            <a:ext cx="4160520" cy="157276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9744" y="1234440"/>
            <a:ext cx="475488" cy="475488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954" y="1317650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9824" y="125272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137"/>
                </a:solidFill>
              </a:rPr>
              <a:t>Cyber Protection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791456" y="1874520"/>
            <a:ext cx="3904488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Cyber risk management protects networks and data from hacking, viruses, and leaks with strong security measures.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20040" y="2788920"/>
            <a:ext cx="4160520" cy="157276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6344" y="2971800"/>
            <a:ext cx="475488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54" y="3055010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06424" y="299008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137"/>
                </a:solidFill>
              </a:rPr>
              <a:t>Reduced Risk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48056" y="3611880"/>
            <a:ext cx="3904488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Combining governance and cybersecurity helps organizations reduce risk, run smoothly, and protect personal information.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63440" y="2788920"/>
            <a:ext cx="4160520" cy="1572768"/>
          </a:xfrm>
          <a:prstGeom prst="rect">
            <a:avLst/>
          </a:prstGeom>
          <a:solidFill>
            <a:srgbClr val="F5FAFF"/>
          </a:solidFill>
          <a:ln w="6350">
            <a:solidFill>
              <a:srgbClr val="B8D4E8"/>
            </a:solidFill>
            <a:prstDash val="solid"/>
          </a:ln>
          <a:effectLst>
            <a:outerShdw blurRad="63500" dist="12700" dir="8100000" algn="bl" rotWithShape="0">
              <a:srgbClr val="A0BFDA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09744" y="2971800"/>
            <a:ext cx="475488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954" y="3055010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49824" y="299008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137"/>
                </a:solidFill>
              </a:rPr>
              <a:t>Building Trust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791456" y="3611880"/>
            <a:ext cx="3904488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3C"/>
                </a:solidFill>
              </a:rPr>
              <a:t>Together, they build public trust and allow organizations to safely grow with new AI technology.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20040" y="4590288"/>
            <a:ext cx="850392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02920" y="4617720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</a:rPr>
              <a:t>"Governance gives AI its rules. Cyber Risk Management gives it protection. Together they create a system that works to help humans."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7315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5204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C8E5"/>
                </a:solidFill>
              </a:rPr>
              <a:t>Foundations of AI Governance &amp; Cyber Risk Management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286000" y="3886200"/>
            <a:ext cx="4572000" cy="0"/>
          </a:xfrm>
          <a:prstGeom prst="line">
            <a:avLst/>
          </a:prstGeom>
          <a:noFill/>
          <a:ln w="12700">
            <a:solidFill>
              <a:srgbClr val="0F9B8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00507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C8E5"/>
                </a:solidFill>
              </a:rPr>
              <a:t>Muhammad Ali Subhaniee  |  EduQual Level 3 Diploma (DCCS)  |  Al Nafi International Institute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4400" y="43159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F9B8E"/>
                </a:solidFill>
              </a:rPr>
              <a:t>Ready for Q&amp;A — System Architecture, DFD, Security Controls, Policy &amp; Procedure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13231</Words>
  <Application>WPS Presentation</Application>
  <PresentationFormat>On-screen Show (16:9)</PresentationFormat>
  <Paragraphs>659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Foundations of AI Governance and Cyber Risk Management</dc:title>
  <dc:creator>Muhammad Ali Subhaniee</dc:creator>
  <dc:subject>PptxGenJS Presentation</dc:subject>
  <cp:lastModifiedBy>Anshra Subhaniee</cp:lastModifiedBy>
  <cp:revision>2</cp:revision>
  <dcterms:created xsi:type="dcterms:W3CDTF">2026-06-06T14:00:00Z</dcterms:created>
  <dcterms:modified xsi:type="dcterms:W3CDTF">2026-06-06T14:17:55Z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E0CD3637183F404196FC9EA7FB593FAA_13</vt:lpwstr>
  </property>
  <property fmtid="{D5CDD505-2E9C-101B-9397-08002B2CF9AE}" pid="3" name="KSOProductBuildVer">
    <vt:lpwstr>1033-12.1.0.26880</vt:lpwstr>
  </property>
</Properties>
</file>