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8" r:id="rId5"/>
    <p:sldId id="257" r:id="rId6"/>
    <p:sldId id="258" r:id="rId7"/>
    <p:sldId id="259" r:id="rId8"/>
    <p:sldId id="260" r:id="rId9"/>
    <p:sldId id="261" r:id="rId10"/>
    <p:sldId id="262" r:id="rId11"/>
    <p:sldId id="263" r:id="rId12"/>
    <p:sldId id="264" r:id="rId13"/>
    <p:sldId id="266" r:id="rId14"/>
    <p:sldId id="280" r:id="rId15"/>
    <p:sldId id="268" r:id="rId16"/>
    <p:sldId id="269" r:id="rId17"/>
    <p:sldId id="270" r:id="rId18"/>
    <p:sldId id="271" r:id="rId19"/>
    <p:sldId id="272" r:id="rId20"/>
    <p:sldId id="273" r:id="rId21"/>
    <p:sldId id="274" r:id="rId22"/>
    <p:sldId id="279" r:id="rId23"/>
    <p:sldId id="275" r:id="rId24"/>
    <p:sldId id="276" r:id="rId25"/>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RATIONALE — System Architecture (Slide 14)</a:t>
            </a:r>
            <a:endParaRPr lang="en-US" sz="1200" b="1" dirty="0"/>
          </a:p>
          <a:p>
            <a:endParaRPr sz="1200"/>
          </a:p>
          <a:p>
            <a:r>
              <a:rPr lang="en-US" sz="1200" b="1" dirty="0"/>
              <a:t>Why the API Gateway sits in the DMZ (not the internal zone):</a:t>
            </a:r>
            <a:endParaRPr lang="en-US" sz="1200" b="1" dirty="0"/>
          </a:p>
          <a:p>
            <a:r>
              <a:rPr lang="en-US" sz="1200" dirty="0"/>
              <a:t>The API Gateway is placed in the DMZ because it is the first contact point for untrusted external traffic. Placing it in the DMZ creates a buffer zone — it can validate, authenticate, and rate-limit requests before any traffic is permitted to reach internal systems. If the API Gateway were inside the internal zone, a compromised request could immediately reach backend services and the LLM engine without any perimeter filtering. The DMZ placement enforces network segmentation and limits blast radius if the gateway itself is compromised.</a:t>
            </a:r>
            <a:endParaRPr lang="en-US" sz="1200" dirty="0"/>
          </a:p>
          <a:p>
            <a:endParaRPr sz="1200"/>
          </a:p>
          <a:p>
            <a:r>
              <a:rPr lang="en-US" sz="1200" b="1" dirty="0"/>
              <a:t>Why TLS 1.3 is used for cross-boundary data (encryption in transit):</a:t>
            </a:r>
            <a:endParaRPr lang="en-US" sz="1200" b="1" dirty="0"/>
          </a:p>
          <a:p>
            <a:r>
              <a:rPr lang="en-US" sz="1200" dirty="0"/>
              <a:t>TLS 1.3 is the current gold standard for encryption in transit. Compared to TLS 1.2, it removes weak cipher suites, reduces the handshake to one round trip (faster and harder to intercept), and provides forward secrecy by default — meaning even if a session key is later compromised, past sessions cannot be decrypted. All cross-boundary data flows (User to API Gateway, API Gateway to LLM) must be encrypted because they traverse network segments with different trust levels, making them susceptible to man-in-the-middle attacks without TLS.</a:t>
            </a:r>
            <a:endParaRPr lang="en-US" sz="1200" dirty="0"/>
          </a:p>
          <a:p>
            <a:endParaRPr sz="1200"/>
          </a:p>
          <a:p>
            <a:r>
              <a:rPr lang="en-US" sz="1200" b="1" dirty="0"/>
              <a:t>Why the LLM is in an isolated sandbox (prevents lateral movement):</a:t>
            </a:r>
            <a:endParaRPr lang="en-US" sz="1200" b="1" dirty="0"/>
          </a:p>
          <a:p>
            <a:r>
              <a:rPr lang="en-US" sz="1200" dirty="0"/>
              <a:t>The LLM engine runs in an isolated sandbox because it directly processes untrusted user input and is therefore the highest-risk component in the system. Sandbox isolation means the LLM process has no direct network access to other internal systems — it can only communicate through defined, monitored channels. If a prompt injection attack succeeds and the LLM is manipulated into executing unintended behavior, sandbox isolation prevents that attack from laterally moving to the Customer Database or other backend services. This is a core defence-in-depth principle: assume any component can be compromised, and limit what it can reach.</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RATIONALE — Data Flow Diagram (Slide 15)</a:t>
            </a:r>
            <a:endParaRPr lang="en-US" sz="1200" b="1" dirty="0"/>
          </a:p>
          <a:p>
            <a:endParaRPr sz="1200"/>
          </a:p>
          <a:p>
            <a:r>
              <a:rPr lang="en-US" sz="1200" b="1" dirty="0"/>
              <a:t>Why Input Validation is the first process (before the API Gateway):</a:t>
            </a:r>
            <a:endParaRPr lang="en-US" sz="1200" b="1" dirty="0"/>
          </a:p>
          <a:p>
            <a:r>
              <a:rPr lang="en-US" sz="1200" dirty="0"/>
              <a:t>Input validation sits at the trust boundary between the external user and our system. Sanitising user input at the earliest point ensures that malformed or malicious strings (e.g., prompt injection payloads, SQL injection, XSS) are stripped before they reach the API Gateway or LLM. This follows the principle of "validate at entry, trust nothing from outside." If we moved validation inside the internal zone, the risk surface would be larger — the API Gateway and LLM would be exposed to raw, unsanitised input.</a:t>
            </a:r>
            <a:endParaRPr lang="en-US" sz="1200" dirty="0"/>
          </a:p>
          <a:p>
            <a:endParaRPr sz="1200"/>
          </a:p>
          <a:p>
            <a:r>
              <a:rPr lang="en-US" sz="1200" b="1" dirty="0"/>
              <a:t>Why TLS 1.3 is enforced on all cross-boundary flows:</a:t>
            </a:r>
            <a:endParaRPr lang="en-US" sz="1200" b="1" dirty="0"/>
          </a:p>
          <a:p>
            <a:r>
              <a:rPr lang="en-US" sz="1200" dirty="0"/>
              <a:t>Each arrow crossing a trust boundary in this DFD represents a potential interception point. Encrypting every cross-boundary data flow with TLS 1.3 ensures confidentiality and integrity of data in transit — an attacker who intercepts traffic cannot read or tamper with requests or responses. This also satisfies GDPR Article 32's requirement for appropriate technical measures to protect personal data during processing.</a:t>
            </a:r>
            <a:endParaRPr lang="en-US" sz="1200" dirty="0"/>
          </a:p>
          <a:p>
            <a:endParaRPr sz="1200"/>
          </a:p>
          <a:p>
            <a:r>
              <a:rPr lang="en-US" sz="1200" b="1" dirty="0"/>
              <a:t>Why PII is stripped by the Output Filter before reaching the user:</a:t>
            </a:r>
            <a:endParaRPr lang="en-US" sz="1200" b="1" dirty="0"/>
          </a:p>
          <a:p>
            <a:r>
              <a:rPr lang="en-US" sz="1200" dirty="0"/>
              <a:t>The LLM processes prompts that may contain customer PII (e.g., names, order numbers). The Output Filter acts as a data loss prevention (DLP) control — it scans LLM responses and removes any PII before the response is returned. This prevents accidental data leakage through the chatbot interface, even if the LLM incorrectly includes sensitive data in its response. User PII is never stored in LLM prompt logs, which limits forensic exposure and aligns with GDPR data minimisation requirements.</a:t>
            </a:r>
            <a:endParaRPr lang="en-US" sz="1200" dirty="0"/>
          </a:p>
          <a:p>
            <a:endParaRPr sz="1200"/>
          </a:p>
          <a:p>
            <a:r>
              <a:rPr lang="en-US" sz="1200" b="1" dirty="0"/>
              <a:t>Why DS3 (Audit Logs) is a separate data store:</a:t>
            </a:r>
            <a:endParaRPr lang="en-US" sz="1200" b="1" dirty="0"/>
          </a:p>
          <a:p>
            <a:r>
              <a:rPr lang="en-US" sz="1200" dirty="0"/>
              <a:t>Keeping audit logs in a dedicated, write-only data store ensures tamper-evidence. If the Customer Database or LLM is compromised, the audit trail remains intact and independent. This supports incident response (forensic investigation), regulatory compliance (GDPR 72-hour breach notification), and accountability requirements in the AI Acceptable Use Policy.</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RATIONALE — Security Architecture (Slide 16)</a:t>
            </a:r>
            <a:endParaRPr lang="en-US" sz="1200" b="1" dirty="0"/>
          </a:p>
          <a:p>
            <a:endParaRPr sz="1200"/>
          </a:p>
          <a:p>
            <a:r>
              <a:rPr lang="en-US" sz="1200" b="1" dirty="0"/>
              <a:t>Why the API Gateway sits in the DMZ (and not the internal zone):</a:t>
            </a:r>
            <a:endParaRPr lang="en-US" sz="1200" b="1" dirty="0"/>
          </a:p>
          <a:p>
            <a:r>
              <a:rPr lang="en-US" sz="1200" dirty="0"/>
              <a:t>The DMZ is a semi-trusted network zone between the untrusted internet and the trusted internal application zone. The API Gateway belongs here because it must be reachable from the internet, yet it must not have direct access to internal databases or the LLM engine. By terminating TLS in the DMZ (at the WAF), we prevent the raw encrypted stream from entering the internal network — allowing us to inspect, filter, and authenticate traffic before it proceeds further inward.</a:t>
            </a:r>
            <a:endParaRPr lang="en-US" sz="1200" dirty="0"/>
          </a:p>
          <a:p>
            <a:endParaRPr sz="1200"/>
          </a:p>
          <a:p>
            <a:r>
              <a:rPr lang="en-US" sz="1200" b="1" dirty="0"/>
              <a:t>Why TLS 1.3 is used for cross-boundary data (encryption in transit):</a:t>
            </a:r>
            <a:endParaRPr lang="en-US" sz="1200" b="1" dirty="0"/>
          </a:p>
          <a:p>
            <a:r>
              <a:rPr lang="en-US" sz="1200" dirty="0"/>
              <a:t>TLS 1.3 provides authenticated, encrypted communication channels. It eliminates deprecated cipher suites present in TLS 1.2 (e.g., RC4, 3DES) and mandates Perfect Forward Secrecy (PFS), so each session uses ephemeral keys — compromising one session key does not expose other sessions. This is critical for a chatbot that handles customer PII, as any interception of unencrypted or weakly encrypted traffic could constitute a GDPR data breach.</a:t>
            </a:r>
            <a:endParaRPr lang="en-US" sz="1200" dirty="0"/>
          </a:p>
          <a:p>
            <a:endParaRPr sz="1200"/>
          </a:p>
          <a:p>
            <a:r>
              <a:rPr lang="en-US" sz="1200" b="1" dirty="0"/>
              <a:t>Why the LLM is in an isolated sandbox (prevents lateral movement):</a:t>
            </a:r>
            <a:endParaRPr lang="en-US" sz="1200" b="1" dirty="0"/>
          </a:p>
          <a:p>
            <a:r>
              <a:rPr lang="en-US" sz="1200" dirty="0"/>
              <a:t>The LLM processes adversarial user input by design — it cannot distinguish a legitimate question from a prompt injection attack without external controls. Sandbox isolation enforces the principle of least privilege at the infrastructure level: the LLM process cannot initiate outbound connections, cannot access the filesystem outside its working directory, and cannot communicate with the Customer Database directly. Any lateral movement attempt is blocked at the network layer. This means even a successful prompt injection is contained — the attacker cannot pivot from the LLM to other systems.</a:t>
            </a:r>
            <a:endParaRPr lang="en-US" sz="1200" dirty="0"/>
          </a:p>
          <a:p>
            <a:endParaRPr sz="1200"/>
          </a:p>
          <a:p>
            <a:r>
              <a:rPr lang="en-US" sz="1200" b="1" dirty="0"/>
              <a:t>Why AES-256 for data at rest:</a:t>
            </a:r>
            <a:endParaRPr lang="en-US" sz="1200" b="1" dirty="0"/>
          </a:p>
          <a:p>
            <a:r>
              <a:rPr lang="en-US" sz="1200" dirty="0"/>
              <a:t>AES-256 is the current NIST-approved standard for symmetric encryption at rest. It is computationally infeasible to brute-force with today's technology. For a customer database containing personal data, AES-256 encryption ensures that even if storage media is physically stolen or a storage-level vulnerability is exploited, the data remains unreadable without the encryption key. Keys are managed separately (e.g., AWS KMS / Azure Key Vault), so storage and key access are segregated.</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RATIONALE — AI Policy &amp; Procedure (Slide 17)</a:t>
            </a:r>
            <a:endParaRPr lang="en-US" sz="1200" b="1" dirty="0"/>
          </a:p>
          <a:p>
            <a:endParaRPr sz="1200"/>
          </a:p>
          <a:p>
            <a:r>
              <a:rPr lang="en-US" sz="1200" b="1" dirty="0"/>
              <a:t>Why 90-day data retention?</a:t>
            </a:r>
            <a:endParaRPr lang="en-US" sz="1200" b="1" dirty="0"/>
          </a:p>
          <a:p>
            <a:r>
              <a:rPr lang="en-US" sz="1200" dirty="0"/>
              <a:t>90 days balances two competing requirements: (1) GDPR data minimisation — personal data must not be kept longer than necessary, and (2) forensic investigation needs — security incidents often take weeks to detect and investigate. 90 days provides sufficient window for post-incident forensics while avoiding indefinite storage of customer PII. Shorter retention (e.g., 30 days) risks deleting logs before an incident is identified; longer retention (e.g., 1 year) creates unnecessary data liability and GDPR exposure.</a:t>
            </a:r>
            <a:endParaRPr lang="en-US" sz="1200" dirty="0"/>
          </a:p>
          <a:p>
            <a:endParaRPr sz="1200"/>
          </a:p>
          <a:p>
            <a:r>
              <a:rPr lang="en-US" sz="1200" b="1" dirty="0"/>
              <a:t>Why IT Director as AI System Owner (not CISO)?</a:t>
            </a:r>
            <a:endParaRPr lang="en-US" sz="1200" b="1" dirty="0"/>
          </a:p>
          <a:p>
            <a:r>
              <a:rPr lang="en-US" sz="1200" dirty="0"/>
              <a:t>The IT Director owns operational accountability — they manage the infrastructure, deployment pipelines, and day-to-day chatbot operations. They are the most appropriate owner for operational decisions and failures. The CISO retains strategic oversight, setting security policy and reviewing incidents, but does not manage the system directly. This separation of duties follows the principle of assigning accountability to the role with the most operational visibility. Assigning the CISO as System Owner would conflate strategic governance with operational responsibility.</a:t>
            </a:r>
            <a:endParaRPr lang="en-US" sz="1200" dirty="0"/>
          </a:p>
          <a:p>
            <a:endParaRPr sz="1200"/>
          </a:p>
          <a:p>
            <a:r>
              <a:rPr lang="en-US" sz="1200" b="1" dirty="0"/>
              <a:t>Why a 6-month policy review cycle?</a:t>
            </a:r>
            <a:endParaRPr lang="en-US" sz="1200" b="1" dirty="0"/>
          </a:p>
          <a:p>
            <a:r>
              <a:rPr lang="en-US" sz="1200" dirty="0"/>
              <a:t>Six months matches the rapid pace of AI threat evolution — new prompt injection techniques, jailbreak methods, and adversarial attack vectors emerge frequently. An annual review cycle would leave the policy outdated relative to the threat landscape. A shorter cycle (e.g., monthly) would create operational burden without commensurate risk reduction. Six months also aligns with common compliance frameworks (ISO 27001 recommends semi-annual reviews for high-risk controls) and allows the organisation to incorporate lessons from any security incidents or near-misses that occurred in the previous period. Note: the policy is also reviewed immediately after any security incident, regardless of the scheduled cycle.</a:t>
            </a:r>
            <a:endParaRPr lang="en-US" sz="1200" dirty="0"/>
          </a:p>
          <a:p>
            <a:endParaRPr sz="1200"/>
          </a:p>
          <a:p>
            <a:r>
              <a:rPr lang="en-US" sz="1200" b="1" dirty="0"/>
              <a:t>Why is the AI Acceptable Use Policy scoped to all employees AND vendors?</a:t>
            </a:r>
            <a:endParaRPr lang="en-US" sz="1200" b="1" dirty="0"/>
          </a:p>
          <a:p>
            <a:r>
              <a:rPr lang="en-US" sz="1200" dirty="0"/>
              <a:t>Third-party vendors (e.g., cloud providers, API integrators) interact with the chatbot system and could introduce misuse or data leakage vectors. Including vendors in the scope ensures that acceptable use obligations flow down through the supply chain, consistent with GDPR Article 28's requirements for data processor agreements and ISO 42001's third-party risk management obligations.</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RATIONALE — Deployment, Scalability &amp; Failure Recovery (Slide 17B)</a:t>
            </a:r>
            <a:endParaRPr lang="en-US" sz="1200" b="1" dirty="0"/>
          </a:p>
          <a:p>
            <a:endParaRPr sz="1200"/>
          </a:p>
          <a:p>
            <a:r>
              <a:rPr lang="en-US" sz="1200" b="1" dirty="0"/>
              <a:t>How is this deployed?</a:t>
            </a:r>
            <a:endParaRPr lang="en-US" sz="1200" b="1" dirty="0"/>
          </a:p>
          <a:p>
            <a:r>
              <a:rPr lang="en-US" sz="1200" dirty="0"/>
              <a:t>The chatbot is deployed through a CI/CD pipeline backed by Infrastructure as Code (e.g., Terraform/CloudFormation). Every change to the API Gateway, LLM engine, or supporting services is version-controlled, tested in a staging environment, and rolled out through an automated pipeline rather than manual configuration. This makes deployments repeatable, auditable, and quick to roll back if a release introduces a defect — a manually configured environment cannot offer the same speed of recovery or the same audit trail for compliance purposes.</a:t>
            </a:r>
            <a:endParaRPr lang="en-US" sz="1200" dirty="0"/>
          </a:p>
          <a:p>
            <a:endParaRPr sz="1200"/>
          </a:p>
          <a:p>
            <a:r>
              <a:rPr lang="en-US" sz="1200" b="1" dirty="0"/>
              <a:t>How does this scale during traffic spikes?</a:t>
            </a:r>
            <a:endParaRPr lang="en-US" sz="1200" b="1" dirty="0"/>
          </a:p>
          <a:p>
            <a:r>
              <a:rPr lang="en-US" sz="1200" dirty="0"/>
              <a:t>The API Gateway and LLM engine scale horizontally: auto-scaling policies add new instances when CPU utilisation or request-queue depth crosses a threshold, and a load balancer distributes traffic evenly across all healthy instances. This means a traffic spike (e.g., a marketing campaign or seasonal peak) does not degrade response times — additional capacity comes online automatically rather than requiring manual intervention, and capacity scales back down afterwards to control cost.</a:t>
            </a:r>
            <a:endParaRPr lang="en-US" sz="1200" dirty="0"/>
          </a:p>
          <a:p>
            <a:endParaRPr sz="1200"/>
          </a:p>
          <a:p>
            <a:r>
              <a:rPr lang="en-US" sz="1200" b="1" dirty="0"/>
              <a:t>What happens if the LLM goes down?</a:t>
            </a:r>
            <a:endParaRPr lang="en-US" sz="1200" b="1" dirty="0"/>
          </a:p>
          <a:p>
            <a:r>
              <a:rPr lang="en-US" sz="1200" dirty="0"/>
              <a:t>Automated health checks (liveness/readiness probes) run every 30 seconds. If the LLM engine becomes unresponsive, the load balancer immediately removes it from rotation and the affected session falls back to a human support agent queue, so the customer experience degrades gracefully instead of failing outright. Meanwhile, the auto-scaler provisions a fresh instance from the same Infrastructure-as-Code template used in deployment, and the new instance only rejoins the pool once it passes its own health check. This closes the loop between deployment, scaling, and recovery — they all rely on the same automated, version-controlled definition of the system.</a:t>
            </a:r>
            <a:endParaRPr lang="en-US" sz="1200" dirty="0"/>
          </a:p>
          <a:p>
            <a:endParaRPr sz="1200"/>
          </a:p>
          <a:p>
            <a:r>
              <a:rPr lang="en-US" sz="1200" b="1" dirty="0"/>
              <a:t>What happens if a prompt injection attack succeeds?</a:t>
            </a:r>
            <a:endParaRPr lang="en-US" sz="1200" b="1" dirty="0"/>
          </a:p>
          <a:p>
            <a:r>
              <a:rPr lang="en-US" sz="1200" dirty="0"/>
              <a:t>A successful prompt injection is treated as a security incident, not just an availability problem. It feeds into the same seven-step Prompt Injection Incident Response procedure introduced on the Policy &amp; Procedure slide (Detect, Contain, Log, Analyse, Remediate, Notify, Review), and is escalated to the CISO for strategic oversight rather than handled purely as an operational outage. This shows the two failure paths — infrastructure failure and security failure — converge on accountable owners: the IT Director for operational recovery, the CISO for security escalation, consistent with the accountability split already defined in the AI Acceptable Use Policy.</a:t>
            </a:r>
            <a:endParaRPr lang="en-US" sz="1200" dirty="0"/>
          </a:p>
        </p:txBody>
      </p:sp>
      <p:sp>
        <p:nvSpPr>
          <p:cNvPr id="4" name="Slide Number Placeholder 3"/>
          <p:cNvSpPr>
            <a:spLocks noGrp="1"/>
          </p:cNvSpPr>
          <p:nvPr>
            <p:ph type="sldNum" sz="quarter" idx="10"/>
          </p:nvPr>
        </p:nvSpPr>
        <p:spPr/>
        <p:txBody>
          <a:bodyPr/>
          <a:lstStyle/>
          <a:p>
            <a:fld id="{F7021451-1387-4CA6-816F-3879F97B5CBD}"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png"/><Relationship Id="rId7" Type="http://schemas.openxmlformats.org/officeDocument/2006/relationships/image" Target="../media/image12.png"/><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5.png"/><Relationship Id="rId3" Type="http://schemas.openxmlformats.org/officeDocument/2006/relationships/image" Target="../media/image10.png"/><Relationship Id="rId2" Type="http://schemas.openxmlformats.org/officeDocument/2006/relationships/image" Target="../media/image6.png"/><Relationship Id="rId10" Type="http://schemas.openxmlformats.org/officeDocument/2006/relationships/notesSlide" Target="../notesSlides/notesSlide6.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18.png"/><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7.png"/><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9.png"/><Relationship Id="rId2" Type="http://schemas.openxmlformats.org/officeDocument/2006/relationships/image" Target="../media/image20.png"/><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image" Target="../media/image19.png"/><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4.png"/><Relationship Id="rId3" Type="http://schemas.openxmlformats.org/officeDocument/2006/relationships/image" Target="../media/image24.png"/><Relationship Id="rId2" Type="http://schemas.openxmlformats.org/officeDocument/2006/relationships/image" Target="../media/image11.png"/><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4.png"/><Relationship Id="rId2" Type="http://schemas.openxmlformats.org/officeDocument/2006/relationships/image" Target="../media/image27.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9B8E"/>
          </a:solidFill>
          <a:ln w="12700">
            <a:solidFill>
              <a:srgbClr val="0F9B8E"/>
            </a:solidFill>
            <a:prstDash val="solid"/>
          </a:ln>
        </p:spPr>
      </p:sp>
      <p:pic>
        <p:nvPicPr>
          <p:cNvPr id="3" name="Image 0" descr="preencoded.png"/>
          <p:cNvPicPr>
            <a:picLocks noChangeAspect="1"/>
          </p:cNvPicPr>
          <p:nvPr/>
        </p:nvPicPr>
        <p:blipFill>
          <a:blip r:embed="rId1"/>
          <a:stretch>
            <a:fillRect/>
          </a:stretch>
        </p:blipFill>
        <p:spPr>
          <a:xfrm>
            <a:off x="7132320" y="640080"/>
            <a:ext cx="1097280" cy="1097280"/>
          </a:xfrm>
          <a:prstGeom prst="rect">
            <a:avLst/>
          </a:prstGeom>
        </p:spPr>
      </p:pic>
      <p:pic>
        <p:nvPicPr>
          <p:cNvPr id="4" name="Image 1" descr="preencoded.png"/>
          <p:cNvPicPr>
            <a:picLocks noChangeAspect="1"/>
          </p:cNvPicPr>
          <p:nvPr/>
        </p:nvPicPr>
        <p:blipFill>
          <a:blip r:embed="rId2"/>
          <a:stretch>
            <a:fillRect/>
          </a:stretch>
        </p:blipFill>
        <p:spPr>
          <a:xfrm>
            <a:off x="6858000" y="2011680"/>
            <a:ext cx="1097280" cy="1097280"/>
          </a:xfrm>
          <a:prstGeom prst="rect">
            <a:avLst/>
          </a:prstGeom>
        </p:spPr>
      </p:pic>
      <p:pic>
        <p:nvPicPr>
          <p:cNvPr id="5" name="Image 2" descr="preencoded.png"/>
          <p:cNvPicPr>
            <a:picLocks noChangeAspect="1"/>
          </p:cNvPicPr>
          <p:nvPr/>
        </p:nvPicPr>
        <p:blipFill>
          <a:blip r:embed="rId3"/>
          <a:stretch>
            <a:fillRect/>
          </a:stretch>
        </p:blipFill>
        <p:spPr>
          <a:xfrm>
            <a:off x="7132320" y="3383280"/>
            <a:ext cx="1097280" cy="1097280"/>
          </a:xfrm>
          <a:prstGeom prst="rect">
            <a:avLst/>
          </a:prstGeom>
        </p:spPr>
      </p:pic>
      <p:sp>
        <p:nvSpPr>
          <p:cNvPr id="6" name="Shape 1"/>
          <p:cNvSpPr/>
          <p:nvPr/>
        </p:nvSpPr>
        <p:spPr>
          <a:xfrm>
            <a:off x="411480" y="292608"/>
            <a:ext cx="1920240" cy="274320"/>
          </a:xfrm>
          <a:prstGeom prst="rect">
            <a:avLst/>
          </a:prstGeom>
          <a:solidFill>
            <a:srgbClr val="0F9B8E"/>
          </a:solidFill>
          <a:ln w="12700">
            <a:solidFill>
              <a:srgbClr val="0F9B8E"/>
            </a:solidFill>
            <a:prstDash val="solid"/>
          </a:ln>
        </p:spPr>
      </p:sp>
      <p:sp>
        <p:nvSpPr>
          <p:cNvPr id="7" name="Text 2"/>
          <p:cNvSpPr/>
          <p:nvPr/>
        </p:nvSpPr>
        <p:spPr>
          <a:xfrm>
            <a:off x="411480" y="292608"/>
            <a:ext cx="1920240" cy="274320"/>
          </a:xfrm>
          <a:prstGeom prst="rect">
            <a:avLst/>
          </a:prstGeom>
          <a:noFill/>
        </p:spPr>
        <p:txBody>
          <a:bodyPr wrap="square" lIns="0" tIns="0" rIns="0" bIns="0" rtlCol="0" anchor="ctr"/>
          <a:lstStyle/>
          <a:p>
            <a:pPr marL="0" indent="0" algn="ctr">
              <a:buNone/>
            </a:pPr>
            <a:r>
              <a:rPr lang="en-US" sz="750" b="1" dirty="0">
                <a:solidFill>
                  <a:srgbClr val="FFFFFF"/>
                </a:solidFill>
              </a:rPr>
              <a:t>DCCS – Diploma in Cloud Cybersecurity</a:t>
            </a:r>
            <a:endParaRPr lang="en-US" sz="750" dirty="0"/>
          </a:p>
        </p:txBody>
      </p:sp>
      <p:sp>
        <p:nvSpPr>
          <p:cNvPr id="8" name="Text 3"/>
          <p:cNvSpPr/>
          <p:nvPr/>
        </p:nvSpPr>
        <p:spPr>
          <a:xfrm>
            <a:off x="411480" y="713232"/>
            <a:ext cx="6492240" cy="502920"/>
          </a:xfrm>
          <a:prstGeom prst="rect">
            <a:avLst/>
          </a:prstGeom>
          <a:noFill/>
        </p:spPr>
        <p:txBody>
          <a:bodyPr wrap="square" lIns="0" tIns="0" rIns="0" bIns="0" rtlCol="0" anchor="t"/>
          <a:lstStyle/>
          <a:p>
            <a:pPr marL="0" indent="0" algn="l">
              <a:buNone/>
            </a:pPr>
            <a:r>
              <a:rPr lang="en-US" sz="3400" dirty="0">
                <a:solidFill>
                  <a:srgbClr val="FFFFFF"/>
                </a:solidFill>
              </a:rPr>
              <a:t>Foundations of</a:t>
            </a:r>
            <a:endParaRPr lang="en-US" sz="3400" dirty="0"/>
          </a:p>
        </p:txBody>
      </p:sp>
      <p:sp>
        <p:nvSpPr>
          <p:cNvPr id="9" name="Text 4"/>
          <p:cNvSpPr/>
          <p:nvPr/>
        </p:nvSpPr>
        <p:spPr>
          <a:xfrm>
            <a:off x="411480" y="1188720"/>
            <a:ext cx="6492240" cy="594360"/>
          </a:xfrm>
          <a:prstGeom prst="rect">
            <a:avLst/>
          </a:prstGeom>
          <a:noFill/>
        </p:spPr>
        <p:txBody>
          <a:bodyPr wrap="square" lIns="0" tIns="0" rIns="0" bIns="0" rtlCol="0" anchor="t"/>
          <a:lstStyle/>
          <a:p>
            <a:pPr marL="0" indent="0" algn="l">
              <a:buNone/>
            </a:pPr>
            <a:r>
              <a:rPr lang="en-US" sz="4200" b="1" dirty="0">
                <a:solidFill>
                  <a:srgbClr val="0F9B8E"/>
                </a:solidFill>
              </a:rPr>
              <a:t>AI Governance</a:t>
            </a:r>
            <a:endParaRPr lang="en-US" sz="4200" dirty="0"/>
          </a:p>
        </p:txBody>
      </p:sp>
      <p:sp>
        <p:nvSpPr>
          <p:cNvPr id="10" name="Text 5"/>
          <p:cNvSpPr/>
          <p:nvPr/>
        </p:nvSpPr>
        <p:spPr>
          <a:xfrm>
            <a:off x="411480" y="1755648"/>
            <a:ext cx="6492240" cy="457200"/>
          </a:xfrm>
          <a:prstGeom prst="rect">
            <a:avLst/>
          </a:prstGeom>
          <a:noFill/>
        </p:spPr>
        <p:txBody>
          <a:bodyPr wrap="square" lIns="0" tIns="0" rIns="0" bIns="0" rtlCol="0" anchor="t"/>
          <a:lstStyle/>
          <a:p>
            <a:pPr marL="0" indent="0" algn="l">
              <a:buNone/>
            </a:pPr>
            <a:r>
              <a:rPr lang="en-US" sz="2600" dirty="0">
                <a:solidFill>
                  <a:srgbClr val="B0D4EE"/>
                </a:solidFill>
              </a:rPr>
              <a:t>and Cyber Risk Management</a:t>
            </a:r>
            <a:endParaRPr lang="en-US" sz="2600" dirty="0"/>
          </a:p>
        </p:txBody>
      </p:sp>
      <p:sp>
        <p:nvSpPr>
          <p:cNvPr id="11" name="Shape 6"/>
          <p:cNvSpPr/>
          <p:nvPr/>
        </p:nvSpPr>
        <p:spPr>
          <a:xfrm>
            <a:off x="411480" y="2340864"/>
            <a:ext cx="6217920" cy="0"/>
          </a:xfrm>
          <a:prstGeom prst="line">
            <a:avLst/>
          </a:prstGeom>
          <a:noFill/>
          <a:ln w="15240">
            <a:solidFill>
              <a:srgbClr val="0F9B8E"/>
            </a:solidFill>
            <a:prstDash val="solid"/>
          </a:ln>
        </p:spPr>
      </p:sp>
      <p:sp>
        <p:nvSpPr>
          <p:cNvPr id="12" name="Text 7"/>
          <p:cNvSpPr/>
          <p:nvPr/>
        </p:nvSpPr>
        <p:spPr>
          <a:xfrm>
            <a:off x="411480" y="2487168"/>
            <a:ext cx="6492240" cy="274320"/>
          </a:xfrm>
          <a:prstGeom prst="rect">
            <a:avLst/>
          </a:prstGeom>
          <a:noFill/>
        </p:spPr>
        <p:txBody>
          <a:bodyPr wrap="square" lIns="0" tIns="0" rIns="0" bIns="0" rtlCol="0" anchor="ctr"/>
          <a:lstStyle/>
          <a:p>
            <a:pPr marL="0" indent="0" algn="l">
              <a:buNone/>
            </a:pPr>
            <a:r>
              <a:rPr lang="en-US" sz="1200" i="1" dirty="0">
                <a:solidFill>
                  <a:srgbClr val="8FC8E5"/>
                </a:solidFill>
              </a:rPr>
              <a:t>EduQual Level 3 Diploma — Oral Presentation (Topic 37)</a:t>
            </a:r>
            <a:endParaRPr lang="en-US" sz="1200" dirty="0"/>
          </a:p>
        </p:txBody>
      </p:sp>
      <p:sp>
        <p:nvSpPr>
          <p:cNvPr id="13" name="Text 8"/>
          <p:cNvSpPr/>
          <p:nvPr/>
        </p:nvSpPr>
        <p:spPr>
          <a:xfrm>
            <a:off x="411480" y="4297680"/>
            <a:ext cx="6492240" cy="320040"/>
          </a:xfrm>
          <a:prstGeom prst="rect">
            <a:avLst/>
          </a:prstGeom>
          <a:noFill/>
        </p:spPr>
        <p:txBody>
          <a:bodyPr wrap="square" lIns="0" tIns="0" rIns="0" bIns="0" rtlCol="0" anchor="ctr"/>
          <a:lstStyle/>
          <a:p>
            <a:pPr marL="0" indent="0" algn="l">
              <a:buNone/>
            </a:pPr>
            <a:r>
              <a:rPr lang="en-US" sz="1400" b="1" dirty="0">
                <a:solidFill>
                  <a:srgbClr val="FFFFFF"/>
                </a:solidFill>
              </a:rPr>
              <a:t>Muhammad Ali Subhaniee</a:t>
            </a:r>
            <a:endParaRPr lang="en-US" sz="1400" dirty="0"/>
          </a:p>
        </p:txBody>
      </p:sp>
      <p:sp>
        <p:nvSpPr>
          <p:cNvPr id="14" name="Text 9"/>
          <p:cNvSpPr/>
          <p:nvPr/>
        </p:nvSpPr>
        <p:spPr>
          <a:xfrm>
            <a:off x="411480" y="4572000"/>
            <a:ext cx="6492240" cy="228600"/>
          </a:xfrm>
          <a:prstGeom prst="rect">
            <a:avLst/>
          </a:prstGeom>
          <a:noFill/>
        </p:spPr>
        <p:txBody>
          <a:bodyPr wrap="square" lIns="0" tIns="0" rIns="0" bIns="0" rtlCol="0" anchor="ctr"/>
          <a:lstStyle/>
          <a:p>
            <a:pPr marL="0" indent="0" algn="l">
              <a:buNone/>
            </a:pPr>
            <a:r>
              <a:rPr lang="en-US" sz="1000" dirty="0">
                <a:solidFill>
                  <a:srgbClr val="8FC8E5"/>
                </a:solidFill>
              </a:rPr>
              <a:t>Al Nafi International Institute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9B8E"/>
          </a:solidFill>
          <a:ln w="12700">
            <a:solidFill>
              <a:srgbClr val="0F9B8E"/>
            </a:solidFill>
            <a:prstDash val="solid"/>
          </a:ln>
        </p:spPr>
      </p:sp>
      <p:sp>
        <p:nvSpPr>
          <p:cNvPr id="3" name="Text 1"/>
          <p:cNvSpPr/>
          <p:nvPr/>
        </p:nvSpPr>
        <p:spPr>
          <a:xfrm>
            <a:off x="411480" y="164592"/>
            <a:ext cx="1920240" cy="256032"/>
          </a:xfrm>
          <a:prstGeom prst="rect">
            <a:avLst/>
          </a:prstGeom>
          <a:solidFill>
            <a:srgbClr val="0F9B8E"/>
          </a:solidFill>
          <a:ln w="12700">
            <a:solidFill>
              <a:srgbClr val="0F9B8E"/>
            </a:solidFill>
            <a:prstDash val="solid"/>
          </a:ln>
        </p:spPr>
      </p:sp>
      <p:sp>
        <p:nvSpPr>
          <p:cNvPr id="4" name="Text 2"/>
          <p:cNvSpPr/>
          <p:nvPr/>
        </p:nvSpPr>
        <p:spPr>
          <a:xfrm>
            <a:off x="411480" y="164592"/>
            <a:ext cx="1920240" cy="256032"/>
          </a:xfrm>
          <a:prstGeom prst="rect">
            <a:avLst/>
          </a:prstGeom>
          <a:noFill/>
        </p:spPr>
        <p:txBody>
          <a:bodyPr wrap="square" lIns="0" tIns="0" rIns="0" bIns="0" rtlCol="0" anchor="ctr"/>
          <a:lstStyle/>
          <a:p>
            <a:pPr marL="0" indent="0" algn="ctr">
              <a:buNone/>
            </a:pPr>
            <a:r>
              <a:rPr lang="en-US" sz="750" b="1" dirty="0">
                <a:solidFill>
                  <a:srgbClr val="FFFFFF"/>
                </a:solidFill>
              </a:rPr>
              <a:t>AI Usage Disclosure</a:t>
            </a:r>
            <a:endParaRPr lang="en-US" sz="750" b="1" dirty="0">
              <a:solidFill>
                <a:srgbClr val="FFFFFF"/>
              </a:solidFill>
            </a:endParaRPr>
          </a:p>
        </p:txBody>
      </p:sp>
      <p:sp>
        <p:nvSpPr>
          <p:cNvPr id="5" name="Text 3"/>
          <p:cNvSpPr/>
          <p:nvPr/>
        </p:nvSpPr>
        <p:spPr>
          <a:xfrm>
            <a:off x="411480" y="548640"/>
            <a:ext cx="8300160" cy="411480"/>
          </a:xfrm>
          <a:prstGeom prst="rect">
            <a:avLst/>
          </a:prstGeom>
          <a:noFill/>
        </p:spPr>
        <p:txBody>
          <a:bodyPr wrap="square" lIns="91440" tIns="45720" rIns="91440" bIns="45720" rtlCol="0" anchor="t"/>
          <a:lstStyle/>
          <a:p>
            <a:pPr marL="0" indent="0" algn="l">
              <a:buNone/>
            </a:pPr>
            <a:r>
              <a:rPr lang="en-US" sz="2800" b="1" dirty="0">
                <a:solidFill>
                  <a:srgbClr val="0F9B8E"/>
                </a:solidFill>
              </a:rPr>
              <a:t>AI Assistance Statement</a:t>
            </a:r>
            <a:endParaRPr lang="en-US" sz="2800" b="1" dirty="0">
              <a:solidFill>
                <a:srgbClr val="0F9B8E"/>
              </a:solidFill>
            </a:endParaRPr>
          </a:p>
        </p:txBody>
      </p:sp>
      <p:sp>
        <p:nvSpPr>
          <p:cNvPr id="6" name="Text 4"/>
          <p:cNvSpPr/>
          <p:nvPr/>
        </p:nvSpPr>
        <p:spPr>
          <a:xfrm>
            <a:off x="411480" y="1097280"/>
            <a:ext cx="8300160" cy="914400"/>
          </a:xfrm>
          <a:prstGeom prst="rect">
            <a:avLst/>
          </a:prstGeom>
          <a:solidFill>
            <a:srgbClr val="0F2B45"/>
          </a:solidFill>
          <a:ln w="19050">
            <a:solidFill>
              <a:srgbClr val="0F9B8E"/>
            </a:solidFill>
            <a:prstDash val="solid"/>
          </a:ln>
        </p:spPr>
        <p:txBody>
          <a:bodyPr wrap="square" lIns="182880" tIns="91440" rIns="182880" bIns="91440" rtlCol="0" anchor="ctr"/>
          <a:lstStyle/>
          <a:p>
            <a:pPr marL="0" indent="0" algn="l">
              <a:buNone/>
            </a:pPr>
            <a:r>
              <a:rPr lang="en-US" sz="1400" i="1" dirty="0">
                <a:solidFill>
                  <a:srgbClr val="B0D4EE"/>
                </a:solidFill>
              </a:rPr>
              <a:t>“I used AI tools (e.g., ChatGPT/Claude) for grammar refinement and drafting structural outlines. All technical designs, risk assessments, architectural justifications, and policy decisions are my original work and fully defensible.”</a:t>
            </a:r>
            <a:endParaRPr lang="en-US" sz="1400" i="1" dirty="0">
              <a:solidFill>
                <a:srgbClr val="B0D4EE"/>
              </a:solidFill>
            </a:endParaRPr>
          </a:p>
        </p:txBody>
      </p:sp>
      <p:sp>
        <p:nvSpPr>
          <p:cNvPr id="7" name="Text 5"/>
          <p:cNvSpPr/>
          <p:nvPr/>
        </p:nvSpPr>
        <p:spPr>
          <a:xfrm>
            <a:off x="411480" y="2194560"/>
            <a:ext cx="8300160" cy="320040"/>
          </a:xfrm>
          <a:prstGeom prst="rect">
            <a:avLst/>
          </a:prstGeom>
          <a:noFill/>
        </p:spPr>
        <p:txBody>
          <a:bodyPr wrap="square" lIns="91440" tIns="45720" rIns="91440" bIns="45720" rtlCol="0" anchor="t"/>
          <a:lstStyle/>
          <a:p>
            <a:pPr marL="0" indent="0" algn="l">
              <a:buNone/>
            </a:pPr>
            <a:r>
              <a:rPr lang="en-US" sz="1600" b="1" dirty="0">
                <a:solidFill>
                  <a:srgbClr val="FFFFFF"/>
                </a:solidFill>
              </a:rPr>
              <a:t>Scope of AI Use</a:t>
            </a:r>
            <a:endParaRPr lang="en-US" sz="1600" b="1" dirty="0">
              <a:solidFill>
                <a:srgbClr val="FFFFFF"/>
              </a:solidFill>
            </a:endParaRPr>
          </a:p>
        </p:txBody>
      </p:sp>
      <p:sp>
        <p:nvSpPr>
          <p:cNvPr id="8" name="Text 6"/>
          <p:cNvSpPr/>
          <p:nvPr/>
        </p:nvSpPr>
        <p:spPr>
          <a:xfrm>
            <a:off x="411480" y="2743200"/>
            <a:ext cx="3840480" cy="1828800"/>
          </a:xfrm>
          <a:prstGeom prst="rect">
            <a:avLst/>
          </a:prstGeom>
          <a:noFill/>
        </p:spPr>
        <p:txBody>
          <a:bodyPr wrap="square" lIns="91440" tIns="45720" rIns="91440" bIns="45720" rtlCol="0" anchor="t"/>
          <a:lstStyle/>
          <a:p>
            <a:pPr marL="114300" indent="-114300" algn="l">
              <a:buChar char="✓"/>
            </a:pPr>
            <a:r>
              <a:rPr lang="en-US" sz="1200" dirty="0">
                <a:solidFill>
                  <a:srgbClr val="0F9B8E"/>
                </a:solidFill>
              </a:rPr>
              <a:t>Grammar refinement</a:t>
            </a:r>
            <a:endParaRPr lang="en-US" sz="1200" dirty="0">
              <a:solidFill>
                <a:srgbClr val="0F9B8E"/>
              </a:solidFill>
            </a:endParaRPr>
          </a:p>
          <a:p>
            <a:pPr marL="114300" indent="-114300" algn="l">
              <a:buChar char="✓"/>
            </a:pPr>
            <a:r>
              <a:rPr lang="en-US" sz="1200" dirty="0">
                <a:solidFill>
                  <a:srgbClr val="0F9B8E"/>
                </a:solidFill>
              </a:rPr>
              <a:t>Drafting structural outlines</a:t>
            </a:r>
            <a:endParaRPr lang="en-US" sz="1200" dirty="0">
              <a:solidFill>
                <a:srgbClr val="0F9B8E"/>
              </a:solidFill>
            </a:endParaRPr>
          </a:p>
          <a:p>
            <a:pPr marL="114300" indent="-114300" algn="l">
              <a:buChar char="✓"/>
            </a:pPr>
            <a:r>
              <a:rPr lang="en-US" sz="1200" dirty="0">
                <a:solidFill>
                  <a:srgbClr val="0F9B8E"/>
                </a:solidFill>
              </a:rPr>
              <a:t>Formatting suggestions</a:t>
            </a:r>
            <a:endParaRPr lang="en-US" sz="1200" dirty="0">
              <a:solidFill>
                <a:srgbClr val="0F9B8E"/>
              </a:solidFill>
            </a:endParaRPr>
          </a:p>
        </p:txBody>
      </p:sp>
      <p:sp>
        <p:nvSpPr>
          <p:cNvPr id="9" name="Text 7"/>
          <p:cNvSpPr/>
          <p:nvPr/>
        </p:nvSpPr>
        <p:spPr>
          <a:xfrm>
            <a:off x="4572000" y="2743200"/>
            <a:ext cx="4139640" cy="1828800"/>
          </a:xfrm>
          <a:prstGeom prst="rect">
            <a:avLst/>
          </a:prstGeom>
          <a:noFill/>
        </p:spPr>
        <p:txBody>
          <a:bodyPr wrap="square" lIns="91440" tIns="45720" rIns="91440" bIns="45720" rtlCol="0" anchor="t"/>
          <a:lstStyle/>
          <a:p>
            <a:pPr marL="114300" indent="-114300" algn="l">
              <a:buChar char="✗"/>
            </a:pPr>
            <a:r>
              <a:rPr lang="en-US" sz="1200" dirty="0">
                <a:solidFill>
                  <a:srgbClr val="F96167"/>
                </a:solidFill>
              </a:rPr>
              <a:t>Technical designs</a:t>
            </a:r>
            <a:endParaRPr lang="en-US" sz="1200" dirty="0">
              <a:solidFill>
                <a:srgbClr val="F96167"/>
              </a:solidFill>
            </a:endParaRPr>
          </a:p>
          <a:p>
            <a:pPr marL="114300" indent="-114300" algn="l">
              <a:buChar char="✗"/>
            </a:pPr>
            <a:r>
              <a:rPr lang="en-US" sz="1200" dirty="0">
                <a:solidFill>
                  <a:srgbClr val="F96167"/>
                </a:solidFill>
              </a:rPr>
              <a:t>Risk assessments</a:t>
            </a:r>
            <a:endParaRPr lang="en-US" sz="1200" dirty="0">
              <a:solidFill>
                <a:srgbClr val="F96167"/>
              </a:solidFill>
            </a:endParaRPr>
          </a:p>
          <a:p>
            <a:pPr marL="114300" indent="-114300" algn="l">
              <a:buChar char="✗"/>
            </a:pPr>
            <a:r>
              <a:rPr lang="en-US" sz="1200" dirty="0">
                <a:solidFill>
                  <a:srgbClr val="F96167"/>
                </a:solidFill>
              </a:rPr>
              <a:t>Architectural justifications</a:t>
            </a:r>
            <a:endParaRPr lang="en-US" sz="1200" dirty="0">
              <a:solidFill>
                <a:srgbClr val="F96167"/>
              </a:solidFill>
            </a:endParaRPr>
          </a:p>
          <a:p>
            <a:pPr marL="114300" indent="-114300" algn="l">
              <a:buChar char="✗"/>
            </a:pPr>
            <a:r>
              <a:rPr lang="en-US" sz="1200" dirty="0">
                <a:solidFill>
                  <a:srgbClr val="F96167"/>
                </a:solidFill>
              </a:rPr>
              <a:t>Policy decisions</a:t>
            </a:r>
            <a:endParaRPr lang="en-US" sz="1200" dirty="0">
              <a:solidFill>
                <a:srgbClr val="F96167"/>
              </a:solidFill>
            </a:endParaRPr>
          </a:p>
        </p:txBody>
      </p:sp>
      <p:sp>
        <p:nvSpPr>
          <p:cNvPr id="10" name="Text 8"/>
          <p:cNvSpPr/>
          <p:nvPr/>
        </p:nvSpPr>
        <p:spPr>
          <a:xfrm>
            <a:off x="411480" y="2560320"/>
            <a:ext cx="3840480" cy="182880"/>
          </a:xfrm>
          <a:prstGeom prst="rect">
            <a:avLst/>
          </a:prstGeom>
          <a:noFill/>
        </p:spPr>
        <p:txBody>
          <a:bodyPr wrap="square" lIns="0" tIns="0" rIns="0" bIns="0" rtlCol="0" anchor="ctr"/>
          <a:lstStyle/>
          <a:p>
            <a:pPr marL="0" indent="0" algn="l">
              <a:buNone/>
            </a:pPr>
            <a:r>
              <a:rPr lang="en-US" sz="1000" i="1" dirty="0">
                <a:solidFill>
                  <a:srgbClr val="0F9B8E"/>
                </a:solidFill>
              </a:rPr>
              <a:t>AI WAS used for:</a:t>
            </a:r>
            <a:endParaRPr lang="en-US" sz="1000" i="1" dirty="0">
              <a:solidFill>
                <a:srgbClr val="0F9B8E"/>
              </a:solidFill>
            </a:endParaRPr>
          </a:p>
        </p:txBody>
      </p:sp>
      <p:sp>
        <p:nvSpPr>
          <p:cNvPr id="11" name="Text 9"/>
          <p:cNvSpPr/>
          <p:nvPr/>
        </p:nvSpPr>
        <p:spPr>
          <a:xfrm>
            <a:off x="4572000" y="2560320"/>
            <a:ext cx="4139640" cy="182880"/>
          </a:xfrm>
          <a:prstGeom prst="rect">
            <a:avLst/>
          </a:prstGeom>
          <a:noFill/>
        </p:spPr>
        <p:txBody>
          <a:bodyPr wrap="square" lIns="0" tIns="0" rIns="0" bIns="0" rtlCol="0" anchor="ctr"/>
          <a:lstStyle/>
          <a:p>
            <a:pPr marL="0" indent="0" algn="l">
              <a:buNone/>
            </a:pPr>
            <a:r>
              <a:rPr lang="en-US" sz="1000" i="1" dirty="0">
                <a:solidFill>
                  <a:srgbClr val="F96167"/>
                </a:solidFill>
              </a:rPr>
              <a:t>AI was NOT used for (100% original work):</a:t>
            </a:r>
            <a:endParaRPr lang="en-US" sz="1000" i="1" dirty="0">
              <a:solidFill>
                <a:srgbClr val="F9616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137"/>
          </a:solidFill>
          <a:ln w="12700">
            <a:solidFill>
              <a:srgbClr val="0D2137"/>
            </a:solidFill>
            <a:prstDash val="solid"/>
          </a:ln>
        </p:spPr>
      </p:sp>
      <p:sp>
        <p:nvSpPr>
          <p:cNvPr id="3" name="Text 1"/>
          <p:cNvSpPr/>
          <p:nvPr/>
        </p:nvSpPr>
        <p:spPr>
          <a:xfrm>
            <a:off x="365760" y="109728"/>
            <a:ext cx="8229600" cy="548640"/>
          </a:xfrm>
          <a:prstGeom prst="rect">
            <a:avLst/>
          </a:prstGeom>
          <a:noFill/>
        </p:spPr>
        <p:txBody>
          <a:bodyPr wrap="square" lIns="0" tIns="0" rIns="0" bIns="0" rtlCol="0" anchor="ctr"/>
          <a:lstStyle/>
          <a:p>
            <a:pPr marL="0" indent="0" algn="l">
              <a:buNone/>
            </a:pPr>
            <a:r>
              <a:rPr lang="en-US" sz="2600" b="1" dirty="0">
                <a:solidFill>
                  <a:srgbClr val="FFFFFF"/>
                </a:solidFill>
              </a:rPr>
              <a:t>Contents</a:t>
            </a:r>
            <a:endParaRPr lang="en-US" sz="2600" dirty="0"/>
          </a:p>
        </p:txBody>
      </p:sp>
      <p:sp>
        <p:nvSpPr>
          <p:cNvPr id="4" name="Shape 2"/>
          <p:cNvSpPr/>
          <p:nvPr/>
        </p:nvSpPr>
        <p:spPr>
          <a:xfrm>
            <a:off x="320040" y="896112"/>
            <a:ext cx="4206240" cy="384048"/>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5" name="Shape 3"/>
          <p:cNvSpPr/>
          <p:nvPr/>
        </p:nvSpPr>
        <p:spPr>
          <a:xfrm>
            <a:off x="320040" y="896112"/>
            <a:ext cx="329184" cy="384048"/>
          </a:xfrm>
          <a:prstGeom prst="rect">
            <a:avLst/>
          </a:prstGeom>
          <a:solidFill>
            <a:srgbClr val="1B6CA8"/>
          </a:solidFill>
          <a:ln w="12700">
            <a:solidFill>
              <a:srgbClr val="1B6CA8"/>
            </a:solidFill>
            <a:prstDash val="solid"/>
          </a:ln>
        </p:spPr>
      </p:sp>
      <p:sp>
        <p:nvSpPr>
          <p:cNvPr id="6" name="Text 4"/>
          <p:cNvSpPr/>
          <p:nvPr/>
        </p:nvSpPr>
        <p:spPr>
          <a:xfrm>
            <a:off x="320040" y="896112"/>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7" name="Text 5"/>
          <p:cNvSpPr/>
          <p:nvPr/>
        </p:nvSpPr>
        <p:spPr>
          <a:xfrm>
            <a:off x="704088" y="896112"/>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Definition &amp; Overview</a:t>
            </a:r>
            <a:endParaRPr lang="en-US" sz="1000" dirty="0"/>
          </a:p>
        </p:txBody>
      </p:sp>
      <p:sp>
        <p:nvSpPr>
          <p:cNvPr id="8" name="Shape 6"/>
          <p:cNvSpPr/>
          <p:nvPr/>
        </p:nvSpPr>
        <p:spPr>
          <a:xfrm>
            <a:off x="4617720" y="896112"/>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9" name="Shape 7"/>
          <p:cNvSpPr/>
          <p:nvPr/>
        </p:nvSpPr>
        <p:spPr>
          <a:xfrm>
            <a:off x="4617720" y="896112"/>
            <a:ext cx="329184" cy="384048"/>
          </a:xfrm>
          <a:prstGeom prst="rect">
            <a:avLst/>
          </a:prstGeom>
          <a:solidFill>
            <a:srgbClr val="1B6CA8"/>
          </a:solidFill>
          <a:ln w="12700">
            <a:solidFill>
              <a:srgbClr val="1B6CA8"/>
            </a:solidFill>
            <a:prstDash val="solid"/>
          </a:ln>
        </p:spPr>
      </p:sp>
      <p:sp>
        <p:nvSpPr>
          <p:cNvPr id="10" name="Text 8"/>
          <p:cNvSpPr/>
          <p:nvPr/>
        </p:nvSpPr>
        <p:spPr>
          <a:xfrm>
            <a:off x="4617720" y="896112"/>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1" name="Text 9"/>
          <p:cNvSpPr/>
          <p:nvPr/>
        </p:nvSpPr>
        <p:spPr>
          <a:xfrm>
            <a:off x="5001768" y="896112"/>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Importance</a:t>
            </a:r>
            <a:endParaRPr lang="en-US" sz="1000" dirty="0"/>
          </a:p>
        </p:txBody>
      </p:sp>
      <p:sp>
        <p:nvSpPr>
          <p:cNvPr id="12" name="Shape 10"/>
          <p:cNvSpPr/>
          <p:nvPr/>
        </p:nvSpPr>
        <p:spPr>
          <a:xfrm>
            <a:off x="320040" y="1371600"/>
            <a:ext cx="4206240" cy="384048"/>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13" name="Shape 11"/>
          <p:cNvSpPr/>
          <p:nvPr/>
        </p:nvSpPr>
        <p:spPr>
          <a:xfrm>
            <a:off x="320040" y="1371600"/>
            <a:ext cx="329184" cy="384048"/>
          </a:xfrm>
          <a:prstGeom prst="rect">
            <a:avLst/>
          </a:prstGeom>
          <a:solidFill>
            <a:srgbClr val="1B6CA8"/>
          </a:solidFill>
          <a:ln w="12700">
            <a:solidFill>
              <a:srgbClr val="1B6CA8"/>
            </a:solidFill>
            <a:prstDash val="solid"/>
          </a:ln>
        </p:spPr>
      </p:sp>
      <p:sp>
        <p:nvSpPr>
          <p:cNvPr id="14" name="Text 12"/>
          <p:cNvSpPr/>
          <p:nvPr/>
        </p:nvSpPr>
        <p:spPr>
          <a:xfrm>
            <a:off x="320040" y="1371600"/>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15" name="Text 13"/>
          <p:cNvSpPr/>
          <p:nvPr/>
        </p:nvSpPr>
        <p:spPr>
          <a:xfrm>
            <a:off x="704088" y="1371600"/>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Key Components</a:t>
            </a:r>
            <a:endParaRPr lang="en-US" sz="1000" dirty="0"/>
          </a:p>
        </p:txBody>
      </p:sp>
      <p:sp>
        <p:nvSpPr>
          <p:cNvPr id="16" name="Shape 14"/>
          <p:cNvSpPr/>
          <p:nvPr/>
        </p:nvSpPr>
        <p:spPr>
          <a:xfrm>
            <a:off x="4617720" y="1371600"/>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17" name="Shape 15"/>
          <p:cNvSpPr/>
          <p:nvPr/>
        </p:nvSpPr>
        <p:spPr>
          <a:xfrm>
            <a:off x="4617720" y="1371600"/>
            <a:ext cx="329184" cy="384048"/>
          </a:xfrm>
          <a:prstGeom prst="rect">
            <a:avLst/>
          </a:prstGeom>
          <a:solidFill>
            <a:srgbClr val="1B6CA8"/>
          </a:solidFill>
          <a:ln w="12700">
            <a:solidFill>
              <a:srgbClr val="1B6CA8"/>
            </a:solidFill>
            <a:prstDash val="solid"/>
          </a:ln>
        </p:spPr>
      </p:sp>
      <p:sp>
        <p:nvSpPr>
          <p:cNvPr id="18" name="Text 16"/>
          <p:cNvSpPr/>
          <p:nvPr/>
        </p:nvSpPr>
        <p:spPr>
          <a:xfrm>
            <a:off x="4617720" y="1371600"/>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19" name="Text 17"/>
          <p:cNvSpPr/>
          <p:nvPr/>
        </p:nvSpPr>
        <p:spPr>
          <a:xfrm>
            <a:off x="5001768" y="1371600"/>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Types of Risk</a:t>
            </a:r>
            <a:endParaRPr lang="en-US" sz="1000" dirty="0"/>
          </a:p>
        </p:txBody>
      </p:sp>
      <p:sp>
        <p:nvSpPr>
          <p:cNvPr id="20" name="Shape 18"/>
          <p:cNvSpPr/>
          <p:nvPr/>
        </p:nvSpPr>
        <p:spPr>
          <a:xfrm>
            <a:off x="320040" y="1847088"/>
            <a:ext cx="4206240" cy="384048"/>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21" name="Shape 19"/>
          <p:cNvSpPr/>
          <p:nvPr/>
        </p:nvSpPr>
        <p:spPr>
          <a:xfrm>
            <a:off x="320040" y="1847088"/>
            <a:ext cx="329184" cy="384048"/>
          </a:xfrm>
          <a:prstGeom prst="rect">
            <a:avLst/>
          </a:prstGeom>
          <a:solidFill>
            <a:srgbClr val="1B6CA8"/>
          </a:solidFill>
          <a:ln w="12700">
            <a:solidFill>
              <a:srgbClr val="1B6CA8"/>
            </a:solidFill>
            <a:prstDash val="solid"/>
          </a:ln>
        </p:spPr>
      </p:sp>
      <p:sp>
        <p:nvSpPr>
          <p:cNvPr id="22" name="Text 20"/>
          <p:cNvSpPr/>
          <p:nvPr/>
        </p:nvSpPr>
        <p:spPr>
          <a:xfrm>
            <a:off x="320040" y="1847088"/>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23" name="Text 21"/>
          <p:cNvSpPr/>
          <p:nvPr/>
        </p:nvSpPr>
        <p:spPr>
          <a:xfrm>
            <a:off x="704088" y="1847088"/>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Potential Risks</a:t>
            </a:r>
            <a:endParaRPr lang="en-US" sz="1000" dirty="0"/>
          </a:p>
        </p:txBody>
      </p:sp>
      <p:sp>
        <p:nvSpPr>
          <p:cNvPr id="24" name="Shape 22"/>
          <p:cNvSpPr/>
          <p:nvPr/>
        </p:nvSpPr>
        <p:spPr>
          <a:xfrm>
            <a:off x="4617720" y="1847088"/>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25" name="Shape 23"/>
          <p:cNvSpPr/>
          <p:nvPr/>
        </p:nvSpPr>
        <p:spPr>
          <a:xfrm>
            <a:off x="4617720" y="1847088"/>
            <a:ext cx="329184" cy="384048"/>
          </a:xfrm>
          <a:prstGeom prst="rect">
            <a:avLst/>
          </a:prstGeom>
          <a:solidFill>
            <a:srgbClr val="1B6CA8"/>
          </a:solidFill>
          <a:ln w="12700">
            <a:solidFill>
              <a:srgbClr val="1B6CA8"/>
            </a:solidFill>
            <a:prstDash val="solid"/>
          </a:ln>
        </p:spPr>
      </p:sp>
      <p:sp>
        <p:nvSpPr>
          <p:cNvPr id="26" name="Text 24"/>
          <p:cNvSpPr/>
          <p:nvPr/>
        </p:nvSpPr>
        <p:spPr>
          <a:xfrm>
            <a:off x="4617720" y="1847088"/>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06</a:t>
            </a:r>
            <a:endParaRPr lang="en-US" sz="1100" dirty="0"/>
          </a:p>
        </p:txBody>
      </p:sp>
      <p:sp>
        <p:nvSpPr>
          <p:cNvPr id="27" name="Text 25"/>
          <p:cNvSpPr/>
          <p:nvPr/>
        </p:nvSpPr>
        <p:spPr>
          <a:xfrm>
            <a:off x="5001768" y="1847088"/>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Transparency Risks</a:t>
            </a:r>
            <a:endParaRPr lang="en-US" sz="1000" dirty="0"/>
          </a:p>
        </p:txBody>
      </p:sp>
      <p:sp>
        <p:nvSpPr>
          <p:cNvPr id="28" name="Shape 26"/>
          <p:cNvSpPr/>
          <p:nvPr/>
        </p:nvSpPr>
        <p:spPr>
          <a:xfrm>
            <a:off x="320040" y="2322576"/>
            <a:ext cx="4206240" cy="384048"/>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29" name="Shape 27"/>
          <p:cNvSpPr/>
          <p:nvPr/>
        </p:nvSpPr>
        <p:spPr>
          <a:xfrm>
            <a:off x="320040" y="2322576"/>
            <a:ext cx="329184" cy="384048"/>
          </a:xfrm>
          <a:prstGeom prst="rect">
            <a:avLst/>
          </a:prstGeom>
          <a:solidFill>
            <a:srgbClr val="1B6CA8"/>
          </a:solidFill>
          <a:ln w="12700">
            <a:solidFill>
              <a:srgbClr val="1B6CA8"/>
            </a:solidFill>
            <a:prstDash val="solid"/>
          </a:ln>
        </p:spPr>
      </p:sp>
      <p:sp>
        <p:nvSpPr>
          <p:cNvPr id="30" name="Text 28"/>
          <p:cNvSpPr/>
          <p:nvPr/>
        </p:nvSpPr>
        <p:spPr>
          <a:xfrm>
            <a:off x="320040" y="2322576"/>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07</a:t>
            </a:r>
            <a:endParaRPr lang="en-US" sz="1100" dirty="0"/>
          </a:p>
        </p:txBody>
      </p:sp>
      <p:sp>
        <p:nvSpPr>
          <p:cNvPr id="31" name="Text 29"/>
          <p:cNvSpPr/>
          <p:nvPr/>
        </p:nvSpPr>
        <p:spPr>
          <a:xfrm>
            <a:off x="704088" y="2322576"/>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Risk Assessment</a:t>
            </a:r>
            <a:endParaRPr lang="en-US" sz="1000" dirty="0"/>
          </a:p>
        </p:txBody>
      </p:sp>
      <p:sp>
        <p:nvSpPr>
          <p:cNvPr id="32" name="Shape 30"/>
          <p:cNvSpPr/>
          <p:nvPr/>
        </p:nvSpPr>
        <p:spPr>
          <a:xfrm>
            <a:off x="4617720" y="2322576"/>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33" name="Shape 31"/>
          <p:cNvSpPr/>
          <p:nvPr/>
        </p:nvSpPr>
        <p:spPr>
          <a:xfrm>
            <a:off x="4617720" y="2322576"/>
            <a:ext cx="329184" cy="384048"/>
          </a:xfrm>
          <a:prstGeom prst="rect">
            <a:avLst/>
          </a:prstGeom>
          <a:solidFill>
            <a:srgbClr val="1B6CA8"/>
          </a:solidFill>
          <a:ln w="12700">
            <a:solidFill>
              <a:srgbClr val="1B6CA8"/>
            </a:solidFill>
            <a:prstDash val="solid"/>
          </a:ln>
        </p:spPr>
      </p:sp>
      <p:sp>
        <p:nvSpPr>
          <p:cNvPr id="34" name="Text 32"/>
          <p:cNvSpPr/>
          <p:nvPr/>
        </p:nvSpPr>
        <p:spPr>
          <a:xfrm>
            <a:off x="4617720" y="2322576"/>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08</a:t>
            </a:r>
            <a:endParaRPr lang="en-US" sz="1100" dirty="0"/>
          </a:p>
        </p:txBody>
      </p:sp>
      <p:sp>
        <p:nvSpPr>
          <p:cNvPr id="35" name="Text 33"/>
          <p:cNvSpPr/>
          <p:nvPr/>
        </p:nvSpPr>
        <p:spPr>
          <a:xfrm>
            <a:off x="5001768" y="2322576"/>
            <a:ext cx="3749040" cy="384048"/>
          </a:xfrm>
          <a:prstGeom prst="rect">
            <a:avLst/>
          </a:prstGeom>
          <a:noFill/>
        </p:spPr>
        <p:txBody>
          <a:bodyPr wrap="square" lIns="0" tIns="762" rIns="0" bIns="0" rtlCol="0" anchor="ctr"/>
          <a:lstStyle/>
          <a:p>
            <a:pPr marL="0" indent="0" algn="l">
              <a:buNone/>
            </a:pPr>
            <a:r>
              <a:rPr lang="en-US" sz="1000" dirty="0"/>
              <a:t>NIST AI RMF</a:t>
            </a:r>
            <a:endParaRPr lang="en-US" sz="1000" dirty="0"/>
          </a:p>
        </p:txBody>
      </p:sp>
      <p:sp>
        <p:nvSpPr>
          <p:cNvPr id="36" name="Shape 34"/>
          <p:cNvSpPr/>
          <p:nvPr/>
        </p:nvSpPr>
        <p:spPr>
          <a:xfrm>
            <a:off x="320040" y="2798064"/>
            <a:ext cx="4206240" cy="384048"/>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37" name="Shape 35"/>
          <p:cNvSpPr/>
          <p:nvPr/>
        </p:nvSpPr>
        <p:spPr>
          <a:xfrm>
            <a:off x="320040" y="2798064"/>
            <a:ext cx="329184" cy="384048"/>
          </a:xfrm>
          <a:prstGeom prst="rect">
            <a:avLst/>
          </a:prstGeom>
          <a:solidFill>
            <a:srgbClr val="1B6CA8"/>
          </a:solidFill>
          <a:ln w="12700">
            <a:solidFill>
              <a:srgbClr val="1B6CA8"/>
            </a:solidFill>
            <a:prstDash val="solid"/>
          </a:ln>
        </p:spPr>
      </p:sp>
      <p:sp>
        <p:nvSpPr>
          <p:cNvPr id="38" name="Text 36"/>
          <p:cNvSpPr/>
          <p:nvPr/>
        </p:nvSpPr>
        <p:spPr>
          <a:xfrm>
            <a:off x="320040" y="2798064"/>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09</a:t>
            </a:r>
            <a:endParaRPr lang="en-US" sz="1100" dirty="0"/>
          </a:p>
        </p:txBody>
      </p:sp>
      <p:sp>
        <p:nvSpPr>
          <p:cNvPr id="39" name="Text 37"/>
          <p:cNvSpPr/>
          <p:nvPr/>
        </p:nvSpPr>
        <p:spPr>
          <a:xfrm>
            <a:off x="704088" y="2798064"/>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NIST AI RMF Objectives</a:t>
            </a:r>
            <a:endParaRPr lang="en-US" sz="1000" dirty="0"/>
          </a:p>
        </p:txBody>
      </p:sp>
      <p:sp>
        <p:nvSpPr>
          <p:cNvPr id="40" name="Shape 38"/>
          <p:cNvSpPr/>
          <p:nvPr/>
        </p:nvSpPr>
        <p:spPr>
          <a:xfrm>
            <a:off x="4617720" y="2798064"/>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41" name="Shape 39"/>
          <p:cNvSpPr/>
          <p:nvPr/>
        </p:nvSpPr>
        <p:spPr>
          <a:xfrm>
            <a:off x="4617720" y="2798064"/>
            <a:ext cx="329184" cy="384048"/>
          </a:xfrm>
          <a:prstGeom prst="rect">
            <a:avLst/>
          </a:prstGeom>
          <a:solidFill>
            <a:srgbClr val="1B6CA8"/>
          </a:solidFill>
          <a:ln w="12700">
            <a:solidFill>
              <a:srgbClr val="1B6CA8"/>
            </a:solidFill>
            <a:prstDash val="solid"/>
          </a:ln>
        </p:spPr>
      </p:sp>
      <p:sp>
        <p:nvSpPr>
          <p:cNvPr id="42" name="Text 40"/>
          <p:cNvSpPr/>
          <p:nvPr/>
        </p:nvSpPr>
        <p:spPr>
          <a:xfrm>
            <a:off x="4617720" y="2798064"/>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10</a:t>
            </a:r>
            <a:endParaRPr lang="en-US" sz="1100" dirty="0"/>
          </a:p>
        </p:txBody>
      </p:sp>
      <p:sp>
        <p:nvSpPr>
          <p:cNvPr id="43" name="Text 41"/>
          <p:cNvSpPr/>
          <p:nvPr/>
        </p:nvSpPr>
        <p:spPr>
          <a:xfrm>
            <a:off x="5001768" y="2798064"/>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ISO 42001</a:t>
            </a:r>
            <a:endParaRPr lang="en-US" sz="1000" dirty="0"/>
          </a:p>
        </p:txBody>
      </p:sp>
      <p:sp>
        <p:nvSpPr>
          <p:cNvPr id="44" name="Shape 42"/>
          <p:cNvSpPr/>
          <p:nvPr/>
        </p:nvSpPr>
        <p:spPr>
          <a:xfrm>
            <a:off x="4617720" y="3273552"/>
            <a:ext cx="4206240" cy="384048"/>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45" name="Shape 43"/>
          <p:cNvSpPr/>
          <p:nvPr/>
        </p:nvSpPr>
        <p:spPr>
          <a:xfrm>
            <a:off x="4617720" y="3273552"/>
            <a:ext cx="329184" cy="384048"/>
          </a:xfrm>
          <a:prstGeom prst="rect">
            <a:avLst/>
          </a:prstGeom>
          <a:solidFill>
            <a:srgbClr val="1B6CA8"/>
          </a:solidFill>
          <a:ln w="12700">
            <a:solidFill>
              <a:srgbClr val="1B6CA8"/>
            </a:solidFill>
            <a:prstDash val="solid"/>
          </a:ln>
        </p:spPr>
      </p:sp>
      <p:sp>
        <p:nvSpPr>
          <p:cNvPr id="46" name="Text 44"/>
          <p:cNvSpPr/>
          <p:nvPr/>
        </p:nvSpPr>
        <p:spPr>
          <a:xfrm>
            <a:off x="4617720" y="3273552"/>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12</a:t>
            </a:r>
            <a:endParaRPr lang="en-US" sz="1100" dirty="0"/>
          </a:p>
        </p:txBody>
      </p:sp>
      <p:sp>
        <p:nvSpPr>
          <p:cNvPr id="47" name="Text 45"/>
          <p:cNvSpPr/>
          <p:nvPr/>
        </p:nvSpPr>
        <p:spPr>
          <a:xfrm>
            <a:off x="5001768" y="3273552"/>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AI Use Case &amp; Risks</a:t>
            </a:r>
            <a:endParaRPr lang="en-US" sz="1000" dirty="0"/>
          </a:p>
        </p:txBody>
      </p:sp>
      <p:sp>
        <p:nvSpPr>
          <p:cNvPr id="48" name="Shape 46"/>
          <p:cNvSpPr/>
          <p:nvPr/>
        </p:nvSpPr>
        <p:spPr>
          <a:xfrm>
            <a:off x="320040" y="3749167"/>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49" name="Shape 47"/>
          <p:cNvSpPr/>
          <p:nvPr/>
        </p:nvSpPr>
        <p:spPr>
          <a:xfrm>
            <a:off x="320040" y="3749167"/>
            <a:ext cx="329184" cy="384048"/>
          </a:xfrm>
          <a:prstGeom prst="rect">
            <a:avLst/>
          </a:prstGeom>
          <a:solidFill>
            <a:srgbClr val="1B6CA8"/>
          </a:solidFill>
          <a:ln w="12700">
            <a:solidFill>
              <a:srgbClr val="1B6CA8"/>
            </a:solidFill>
            <a:prstDash val="solid"/>
          </a:ln>
        </p:spPr>
      </p:sp>
      <p:sp>
        <p:nvSpPr>
          <p:cNvPr id="50" name="Text 48"/>
          <p:cNvSpPr/>
          <p:nvPr/>
        </p:nvSpPr>
        <p:spPr>
          <a:xfrm>
            <a:off x="320040" y="3749167"/>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13</a:t>
            </a:r>
            <a:endParaRPr lang="en-US" sz="1100" dirty="0"/>
          </a:p>
        </p:txBody>
      </p:sp>
      <p:sp>
        <p:nvSpPr>
          <p:cNvPr id="51" name="Text 49"/>
          <p:cNvSpPr/>
          <p:nvPr/>
        </p:nvSpPr>
        <p:spPr>
          <a:xfrm>
            <a:off x="704088" y="3749167"/>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System Architecture</a:t>
            </a:r>
            <a:endParaRPr lang="en-US" sz="1000" dirty="0"/>
          </a:p>
        </p:txBody>
      </p:sp>
      <p:sp>
        <p:nvSpPr>
          <p:cNvPr id="52" name="Shape 50"/>
          <p:cNvSpPr/>
          <p:nvPr/>
        </p:nvSpPr>
        <p:spPr>
          <a:xfrm>
            <a:off x="4617720" y="3749040"/>
            <a:ext cx="4206240" cy="384048"/>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53" name="Shape 51"/>
          <p:cNvSpPr/>
          <p:nvPr/>
        </p:nvSpPr>
        <p:spPr>
          <a:xfrm>
            <a:off x="4617720" y="3749040"/>
            <a:ext cx="329184" cy="384048"/>
          </a:xfrm>
          <a:prstGeom prst="rect">
            <a:avLst/>
          </a:prstGeom>
          <a:solidFill>
            <a:srgbClr val="1B6CA8"/>
          </a:solidFill>
          <a:ln w="12700">
            <a:solidFill>
              <a:srgbClr val="1B6CA8"/>
            </a:solidFill>
            <a:prstDash val="solid"/>
          </a:ln>
        </p:spPr>
      </p:sp>
      <p:sp>
        <p:nvSpPr>
          <p:cNvPr id="54" name="Text 52"/>
          <p:cNvSpPr/>
          <p:nvPr/>
        </p:nvSpPr>
        <p:spPr>
          <a:xfrm>
            <a:off x="4617720" y="3749040"/>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14</a:t>
            </a:r>
            <a:endParaRPr lang="en-US" sz="1100" dirty="0"/>
          </a:p>
        </p:txBody>
      </p:sp>
      <p:sp>
        <p:nvSpPr>
          <p:cNvPr id="55" name="Text 53"/>
          <p:cNvSpPr/>
          <p:nvPr/>
        </p:nvSpPr>
        <p:spPr>
          <a:xfrm>
            <a:off x="5001768" y="3749040"/>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Data Flow Diagram</a:t>
            </a:r>
            <a:endParaRPr lang="en-US" sz="1000" dirty="0"/>
          </a:p>
        </p:txBody>
      </p:sp>
      <p:sp>
        <p:nvSpPr>
          <p:cNvPr id="56" name="Shape 54"/>
          <p:cNvSpPr/>
          <p:nvPr/>
        </p:nvSpPr>
        <p:spPr>
          <a:xfrm>
            <a:off x="320040" y="4224020"/>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57" name="Shape 55"/>
          <p:cNvSpPr/>
          <p:nvPr/>
        </p:nvSpPr>
        <p:spPr>
          <a:xfrm>
            <a:off x="320040" y="4224020"/>
            <a:ext cx="329184" cy="384048"/>
          </a:xfrm>
          <a:prstGeom prst="rect">
            <a:avLst/>
          </a:prstGeom>
          <a:solidFill>
            <a:srgbClr val="1B6CA8"/>
          </a:solidFill>
          <a:ln w="12700">
            <a:solidFill>
              <a:srgbClr val="1B6CA8"/>
            </a:solidFill>
            <a:prstDash val="solid"/>
          </a:ln>
        </p:spPr>
      </p:sp>
      <p:sp>
        <p:nvSpPr>
          <p:cNvPr id="58" name="Text 56"/>
          <p:cNvSpPr/>
          <p:nvPr/>
        </p:nvSpPr>
        <p:spPr>
          <a:xfrm>
            <a:off x="320040" y="4224020"/>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15</a:t>
            </a:r>
            <a:endParaRPr lang="en-US" sz="1100" dirty="0"/>
          </a:p>
        </p:txBody>
      </p:sp>
      <p:sp>
        <p:nvSpPr>
          <p:cNvPr id="59" name="Text 57"/>
          <p:cNvSpPr/>
          <p:nvPr/>
        </p:nvSpPr>
        <p:spPr>
          <a:xfrm>
            <a:off x="704088" y="4224020"/>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Security Architecture</a:t>
            </a:r>
            <a:endParaRPr lang="en-US" sz="1000" dirty="0"/>
          </a:p>
        </p:txBody>
      </p:sp>
      <p:sp>
        <p:nvSpPr>
          <p:cNvPr id="60" name="Shape 58"/>
          <p:cNvSpPr/>
          <p:nvPr/>
        </p:nvSpPr>
        <p:spPr>
          <a:xfrm>
            <a:off x="4617720" y="4223893"/>
            <a:ext cx="4206240" cy="384048"/>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61" name="Shape 59"/>
          <p:cNvSpPr/>
          <p:nvPr/>
        </p:nvSpPr>
        <p:spPr>
          <a:xfrm>
            <a:off x="4617720" y="4223893"/>
            <a:ext cx="329184" cy="384048"/>
          </a:xfrm>
          <a:prstGeom prst="rect">
            <a:avLst/>
          </a:prstGeom>
          <a:solidFill>
            <a:srgbClr val="1B6CA8"/>
          </a:solidFill>
          <a:ln w="12700">
            <a:solidFill>
              <a:srgbClr val="1B6CA8"/>
            </a:solidFill>
            <a:prstDash val="solid"/>
          </a:ln>
        </p:spPr>
      </p:sp>
      <p:sp>
        <p:nvSpPr>
          <p:cNvPr id="62" name="Text 60"/>
          <p:cNvSpPr/>
          <p:nvPr/>
        </p:nvSpPr>
        <p:spPr>
          <a:xfrm>
            <a:off x="4617720" y="4223893"/>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16</a:t>
            </a:r>
            <a:endParaRPr lang="en-US" sz="1100" dirty="0"/>
          </a:p>
        </p:txBody>
      </p:sp>
      <p:sp>
        <p:nvSpPr>
          <p:cNvPr id="63" name="Text 61"/>
          <p:cNvSpPr/>
          <p:nvPr/>
        </p:nvSpPr>
        <p:spPr>
          <a:xfrm>
            <a:off x="5001768" y="4223893"/>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AI Policy &amp; Procedure</a:t>
            </a:r>
            <a:endParaRPr lang="en-US" sz="1000" dirty="0"/>
          </a:p>
        </p:txBody>
      </p:sp>
      <p:sp>
        <p:nvSpPr>
          <p:cNvPr id="64" name="Shape 62"/>
          <p:cNvSpPr/>
          <p:nvPr/>
        </p:nvSpPr>
        <p:spPr>
          <a:xfrm>
            <a:off x="320040" y="4699508"/>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65" name="Shape 63"/>
          <p:cNvSpPr/>
          <p:nvPr/>
        </p:nvSpPr>
        <p:spPr>
          <a:xfrm>
            <a:off x="320040" y="4699508"/>
            <a:ext cx="329184" cy="384048"/>
          </a:xfrm>
          <a:prstGeom prst="rect">
            <a:avLst/>
          </a:prstGeom>
          <a:solidFill>
            <a:srgbClr val="1B6CA8"/>
          </a:solidFill>
          <a:ln w="12700">
            <a:solidFill>
              <a:srgbClr val="1B6CA8"/>
            </a:solidFill>
            <a:prstDash val="solid"/>
          </a:ln>
        </p:spPr>
      </p:sp>
      <p:sp>
        <p:nvSpPr>
          <p:cNvPr id="66" name="Text 64"/>
          <p:cNvSpPr/>
          <p:nvPr/>
        </p:nvSpPr>
        <p:spPr>
          <a:xfrm>
            <a:off x="320040" y="4699508"/>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17</a:t>
            </a:r>
            <a:endParaRPr lang="en-US" sz="1100" dirty="0"/>
          </a:p>
        </p:txBody>
      </p:sp>
      <p:sp>
        <p:nvSpPr>
          <p:cNvPr id="67" name="Text 65"/>
          <p:cNvSpPr/>
          <p:nvPr/>
        </p:nvSpPr>
        <p:spPr>
          <a:xfrm>
            <a:off x="704088" y="4699508"/>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Deployment &amp; Recovery</a:t>
            </a:r>
            <a:endParaRPr lang="en-US" sz="1000" dirty="0"/>
          </a:p>
        </p:txBody>
      </p:sp>
      <p:sp>
        <p:nvSpPr>
          <p:cNvPr id="72" name="Shape 70"/>
          <p:cNvSpPr/>
          <p:nvPr/>
        </p:nvSpPr>
        <p:spPr>
          <a:xfrm>
            <a:off x="4617720" y="4700016"/>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73" name="Shape 71"/>
          <p:cNvSpPr/>
          <p:nvPr/>
        </p:nvSpPr>
        <p:spPr>
          <a:xfrm>
            <a:off x="4617720" y="4700016"/>
            <a:ext cx="329184" cy="384048"/>
          </a:xfrm>
          <a:prstGeom prst="rect">
            <a:avLst/>
          </a:prstGeom>
          <a:solidFill>
            <a:srgbClr val="1B6CA8"/>
          </a:solidFill>
          <a:ln w="12700">
            <a:solidFill>
              <a:srgbClr val="1B6CA8"/>
            </a:solidFill>
            <a:prstDash val="solid"/>
          </a:ln>
        </p:spPr>
      </p:sp>
      <p:sp>
        <p:nvSpPr>
          <p:cNvPr id="74" name="Text 72"/>
          <p:cNvSpPr/>
          <p:nvPr/>
        </p:nvSpPr>
        <p:spPr>
          <a:xfrm>
            <a:off x="4617720" y="4700016"/>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18</a:t>
            </a:r>
            <a:endParaRPr lang="en-US" sz="1100" dirty="0"/>
          </a:p>
        </p:txBody>
      </p:sp>
      <p:sp>
        <p:nvSpPr>
          <p:cNvPr id="75" name="Text 73"/>
          <p:cNvSpPr/>
          <p:nvPr/>
        </p:nvSpPr>
        <p:spPr>
          <a:xfrm>
            <a:off x="5001768" y="4700016"/>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Conclusion</a:t>
            </a:r>
            <a:endParaRPr lang="en-US" sz="1000" dirty="0"/>
          </a:p>
        </p:txBody>
      </p:sp>
      <p:sp>
        <p:nvSpPr>
          <p:cNvPr id="76" name="Shape 38"/>
          <p:cNvSpPr/>
          <p:nvPr/>
        </p:nvSpPr>
        <p:spPr>
          <a:xfrm>
            <a:off x="320040" y="3273679"/>
            <a:ext cx="4206240" cy="384048"/>
          </a:xfrm>
          <a:prstGeom prst="rect">
            <a:avLst/>
          </a:prstGeom>
          <a:solidFill>
            <a:srgbClr val="F0F7FF"/>
          </a:solidFill>
          <a:ln w="6350">
            <a:solidFill>
              <a:srgbClr val="B8D4E8"/>
            </a:solidFill>
            <a:prstDash val="solid"/>
          </a:ln>
          <a:effectLst>
            <a:outerShdw blurRad="63500" dist="12700" dir="8100000" algn="bl" rotWithShape="0">
              <a:srgbClr val="A0BFDA">
                <a:alpha val="18000"/>
              </a:srgbClr>
            </a:outerShdw>
          </a:effectLst>
        </p:spPr>
      </p:sp>
      <p:sp>
        <p:nvSpPr>
          <p:cNvPr id="77" name="Shape 39"/>
          <p:cNvSpPr/>
          <p:nvPr/>
        </p:nvSpPr>
        <p:spPr>
          <a:xfrm>
            <a:off x="320040" y="3273679"/>
            <a:ext cx="329184" cy="384048"/>
          </a:xfrm>
          <a:prstGeom prst="rect">
            <a:avLst/>
          </a:prstGeom>
          <a:solidFill>
            <a:srgbClr val="1B6CA8"/>
          </a:solidFill>
          <a:ln w="12700">
            <a:solidFill>
              <a:srgbClr val="1B6CA8"/>
            </a:solidFill>
            <a:prstDash val="solid"/>
          </a:ln>
        </p:spPr>
      </p:sp>
      <p:sp>
        <p:nvSpPr>
          <p:cNvPr id="78" name="Text 40"/>
          <p:cNvSpPr/>
          <p:nvPr/>
        </p:nvSpPr>
        <p:spPr>
          <a:xfrm>
            <a:off x="320040" y="3273679"/>
            <a:ext cx="329184" cy="384048"/>
          </a:xfrm>
          <a:prstGeom prst="rect">
            <a:avLst/>
          </a:prstGeom>
          <a:noFill/>
        </p:spPr>
        <p:txBody>
          <a:bodyPr wrap="square" lIns="0" tIns="0" rIns="0" bIns="0" rtlCol="0" anchor="ctr"/>
          <a:lstStyle/>
          <a:p>
            <a:pPr marL="0" indent="0" algn="ctr">
              <a:buNone/>
            </a:pPr>
            <a:r>
              <a:rPr lang="en-US" sz="1100" b="1" dirty="0">
                <a:solidFill>
                  <a:srgbClr val="FFFFFF"/>
                </a:solidFill>
              </a:rPr>
              <a:t>11</a:t>
            </a:r>
            <a:endParaRPr lang="en-US" sz="1100" dirty="0"/>
          </a:p>
        </p:txBody>
      </p:sp>
      <p:sp>
        <p:nvSpPr>
          <p:cNvPr id="79" name="Text 41"/>
          <p:cNvSpPr/>
          <p:nvPr/>
        </p:nvSpPr>
        <p:spPr>
          <a:xfrm>
            <a:off x="704088" y="3273679"/>
            <a:ext cx="3749040" cy="384048"/>
          </a:xfrm>
          <a:prstGeom prst="rect">
            <a:avLst/>
          </a:prstGeom>
          <a:noFill/>
        </p:spPr>
        <p:txBody>
          <a:bodyPr wrap="square" lIns="0" tIns="762" rIns="0" bIns="0" rtlCol="0" anchor="ctr"/>
          <a:lstStyle/>
          <a:p>
            <a:pPr marL="0" indent="0" algn="l">
              <a:buNone/>
            </a:pPr>
            <a:r>
              <a:rPr lang="en-US" sz="1000" dirty="0">
                <a:solidFill>
                  <a:srgbClr val="1A2B3C"/>
                </a:solidFill>
              </a:rPr>
              <a:t>ISO 42001 Objectives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01  Definition &amp; Overview</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Definition &amp; Overview</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2697480" cy="356616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484632" y="1225296"/>
            <a:ext cx="512064" cy="512064"/>
          </a:xfrm>
          <a:prstGeom prst="rect">
            <a:avLst/>
          </a:prstGeom>
          <a:solidFill>
            <a:srgbClr val="1B6CA8"/>
          </a:solidFill>
          <a:ln w="12700">
            <a:solidFill>
              <a:srgbClr val="1B6CA8"/>
            </a:solidFill>
            <a:prstDash val="solid"/>
          </a:ln>
        </p:spPr>
      </p:sp>
      <p:pic>
        <p:nvPicPr>
          <p:cNvPr id="8" name="Image 0" descr="preencoded.png"/>
          <p:cNvPicPr>
            <a:picLocks noChangeAspect="1"/>
          </p:cNvPicPr>
          <p:nvPr/>
        </p:nvPicPr>
        <p:blipFill>
          <a:blip r:embed="rId1"/>
          <a:stretch>
            <a:fillRect/>
          </a:stretch>
        </p:blipFill>
        <p:spPr>
          <a:xfrm>
            <a:off x="574243" y="1314907"/>
            <a:ext cx="332842" cy="332842"/>
          </a:xfrm>
          <a:prstGeom prst="rect">
            <a:avLst/>
          </a:prstGeom>
        </p:spPr>
      </p:pic>
      <p:sp>
        <p:nvSpPr>
          <p:cNvPr id="9" name="Text 6"/>
          <p:cNvSpPr/>
          <p:nvPr/>
        </p:nvSpPr>
        <p:spPr>
          <a:xfrm>
            <a:off x="448056" y="1874520"/>
            <a:ext cx="2441448" cy="320040"/>
          </a:xfrm>
          <a:prstGeom prst="rect">
            <a:avLst/>
          </a:prstGeom>
          <a:noFill/>
        </p:spPr>
        <p:txBody>
          <a:bodyPr wrap="square" lIns="0" tIns="0" rIns="0" bIns="0" rtlCol="0" anchor="ctr"/>
          <a:lstStyle/>
          <a:p>
            <a:pPr marL="0" indent="0" algn="l">
              <a:buNone/>
            </a:pPr>
            <a:r>
              <a:rPr lang="en-US" sz="1150" b="1" dirty="0">
                <a:solidFill>
                  <a:srgbClr val="0D2137"/>
                </a:solidFill>
              </a:rPr>
              <a:t>AI Governance</a:t>
            </a:r>
            <a:endParaRPr lang="en-US" sz="1150" dirty="0"/>
          </a:p>
        </p:txBody>
      </p:sp>
      <p:sp>
        <p:nvSpPr>
          <p:cNvPr id="10" name="Text 7"/>
          <p:cNvSpPr/>
          <p:nvPr/>
        </p:nvSpPr>
        <p:spPr>
          <a:xfrm>
            <a:off x="448056" y="2231136"/>
            <a:ext cx="2441448" cy="1645920"/>
          </a:xfrm>
          <a:prstGeom prst="rect">
            <a:avLst/>
          </a:prstGeom>
          <a:noFill/>
        </p:spPr>
        <p:txBody>
          <a:bodyPr wrap="square" lIns="0" tIns="0" rIns="0" bIns="0" rtlCol="0" anchor="t"/>
          <a:lstStyle/>
          <a:p>
            <a:pPr marL="0" indent="0" algn="l">
              <a:buNone/>
            </a:pPr>
            <a:r>
              <a:rPr lang="en-US" sz="950" dirty="0">
                <a:solidFill>
                  <a:srgbClr val="1A2B3C"/>
                </a:solidFill>
              </a:rPr>
              <a:t>The set of rules and practices that ensure AI is developed and used safely, ethically, and responsibly covering accountability, fairness, transparency, and legal compliance.</a:t>
            </a:r>
            <a:endParaRPr lang="en-US" sz="950" dirty="0"/>
          </a:p>
        </p:txBody>
      </p:sp>
      <p:sp>
        <p:nvSpPr>
          <p:cNvPr id="11" name="Shape 8"/>
          <p:cNvSpPr/>
          <p:nvPr/>
        </p:nvSpPr>
        <p:spPr>
          <a:xfrm>
            <a:off x="3218688" y="1051560"/>
            <a:ext cx="2697480" cy="356616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2" name="Shape 9"/>
          <p:cNvSpPr/>
          <p:nvPr/>
        </p:nvSpPr>
        <p:spPr>
          <a:xfrm>
            <a:off x="3383280" y="1225296"/>
            <a:ext cx="512064" cy="512064"/>
          </a:xfrm>
          <a:prstGeom prst="rect">
            <a:avLst/>
          </a:prstGeom>
          <a:solidFill>
            <a:srgbClr val="0F9B8E"/>
          </a:solidFill>
          <a:ln w="12700">
            <a:solidFill>
              <a:srgbClr val="0F9B8E"/>
            </a:solidFill>
            <a:prstDash val="solid"/>
          </a:ln>
        </p:spPr>
      </p:sp>
      <p:pic>
        <p:nvPicPr>
          <p:cNvPr id="13" name="Image 1" descr="preencoded.png"/>
          <p:cNvPicPr>
            <a:picLocks noChangeAspect="1"/>
          </p:cNvPicPr>
          <p:nvPr/>
        </p:nvPicPr>
        <p:blipFill>
          <a:blip r:embed="rId2"/>
          <a:stretch>
            <a:fillRect/>
          </a:stretch>
        </p:blipFill>
        <p:spPr>
          <a:xfrm>
            <a:off x="3472891" y="1314907"/>
            <a:ext cx="332842" cy="332842"/>
          </a:xfrm>
          <a:prstGeom prst="rect">
            <a:avLst/>
          </a:prstGeom>
        </p:spPr>
      </p:pic>
      <p:sp>
        <p:nvSpPr>
          <p:cNvPr id="14" name="Text 10"/>
          <p:cNvSpPr/>
          <p:nvPr/>
        </p:nvSpPr>
        <p:spPr>
          <a:xfrm>
            <a:off x="3346704" y="1874520"/>
            <a:ext cx="2441448" cy="320040"/>
          </a:xfrm>
          <a:prstGeom prst="rect">
            <a:avLst/>
          </a:prstGeom>
          <a:noFill/>
        </p:spPr>
        <p:txBody>
          <a:bodyPr wrap="square" lIns="0" tIns="0" rIns="0" bIns="0" rtlCol="0" anchor="ctr"/>
          <a:lstStyle/>
          <a:p>
            <a:pPr marL="0" indent="0" algn="l">
              <a:buNone/>
            </a:pPr>
            <a:r>
              <a:rPr lang="en-US" sz="1150" b="1" dirty="0">
                <a:solidFill>
                  <a:srgbClr val="0D2137"/>
                </a:solidFill>
              </a:rPr>
              <a:t>Cyber Risk Management</a:t>
            </a:r>
            <a:endParaRPr lang="en-US" sz="1150" dirty="0"/>
          </a:p>
        </p:txBody>
      </p:sp>
      <p:sp>
        <p:nvSpPr>
          <p:cNvPr id="15" name="Text 11"/>
          <p:cNvSpPr/>
          <p:nvPr/>
        </p:nvSpPr>
        <p:spPr>
          <a:xfrm>
            <a:off x="3346704" y="2231136"/>
            <a:ext cx="2441448" cy="1645920"/>
          </a:xfrm>
          <a:prstGeom prst="rect">
            <a:avLst/>
          </a:prstGeom>
          <a:noFill/>
        </p:spPr>
        <p:txBody>
          <a:bodyPr wrap="square" lIns="0" tIns="0" rIns="0" bIns="0" rtlCol="0" anchor="t"/>
          <a:lstStyle/>
          <a:p>
            <a:pPr marL="0" indent="0" algn="l">
              <a:buNone/>
            </a:pPr>
            <a:r>
              <a:rPr lang="en-US" sz="950" dirty="0">
                <a:solidFill>
                  <a:srgbClr val="1A2B3C"/>
                </a:solidFill>
              </a:rPr>
              <a:t>The ongoing process of identifying, assessing, and reducing threats to digital systems from cyber-attacks through continuous monitoring, policies, and security controls.</a:t>
            </a:r>
            <a:endParaRPr lang="en-US" sz="950" dirty="0"/>
          </a:p>
        </p:txBody>
      </p:sp>
      <p:sp>
        <p:nvSpPr>
          <p:cNvPr id="16" name="Shape 12"/>
          <p:cNvSpPr/>
          <p:nvPr/>
        </p:nvSpPr>
        <p:spPr>
          <a:xfrm>
            <a:off x="6117336" y="1051560"/>
            <a:ext cx="2697480" cy="356616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7" name="Shape 13"/>
          <p:cNvSpPr/>
          <p:nvPr/>
        </p:nvSpPr>
        <p:spPr>
          <a:xfrm>
            <a:off x="6281928" y="1225296"/>
            <a:ext cx="512064" cy="512064"/>
          </a:xfrm>
          <a:prstGeom prst="rect">
            <a:avLst/>
          </a:prstGeom>
          <a:solidFill>
            <a:srgbClr val="2E7D32"/>
          </a:solidFill>
          <a:ln w="12700">
            <a:solidFill>
              <a:srgbClr val="2E7D32"/>
            </a:solidFill>
            <a:prstDash val="solid"/>
          </a:ln>
        </p:spPr>
      </p:sp>
      <p:pic>
        <p:nvPicPr>
          <p:cNvPr id="18" name="Image 2" descr="preencoded.png"/>
          <p:cNvPicPr>
            <a:picLocks noChangeAspect="1"/>
          </p:cNvPicPr>
          <p:nvPr/>
        </p:nvPicPr>
        <p:blipFill>
          <a:blip r:embed="rId3"/>
          <a:stretch>
            <a:fillRect/>
          </a:stretch>
        </p:blipFill>
        <p:spPr>
          <a:xfrm>
            <a:off x="6371539" y="1314907"/>
            <a:ext cx="332842" cy="332842"/>
          </a:xfrm>
          <a:prstGeom prst="rect">
            <a:avLst/>
          </a:prstGeom>
        </p:spPr>
      </p:pic>
      <p:sp>
        <p:nvSpPr>
          <p:cNvPr id="19" name="Text 14"/>
          <p:cNvSpPr/>
          <p:nvPr/>
        </p:nvSpPr>
        <p:spPr>
          <a:xfrm>
            <a:off x="6245352" y="1874520"/>
            <a:ext cx="2441448" cy="320040"/>
          </a:xfrm>
          <a:prstGeom prst="rect">
            <a:avLst/>
          </a:prstGeom>
          <a:noFill/>
        </p:spPr>
        <p:txBody>
          <a:bodyPr wrap="square" lIns="0" tIns="0" rIns="0" bIns="0" rtlCol="0" anchor="ctr"/>
          <a:lstStyle/>
          <a:p>
            <a:pPr marL="0" indent="0" algn="l">
              <a:buNone/>
            </a:pPr>
            <a:r>
              <a:rPr lang="en-US" sz="1150" b="1" dirty="0">
                <a:solidFill>
                  <a:srgbClr val="0D2137"/>
                </a:solidFill>
              </a:rPr>
              <a:t>Together</a:t>
            </a:r>
            <a:endParaRPr lang="en-US" sz="1150" dirty="0"/>
          </a:p>
        </p:txBody>
      </p:sp>
      <p:sp>
        <p:nvSpPr>
          <p:cNvPr id="20" name="Text 15"/>
          <p:cNvSpPr/>
          <p:nvPr/>
        </p:nvSpPr>
        <p:spPr>
          <a:xfrm>
            <a:off x="6245352" y="2231136"/>
            <a:ext cx="2441448" cy="1645920"/>
          </a:xfrm>
          <a:prstGeom prst="rect">
            <a:avLst/>
          </a:prstGeom>
          <a:noFill/>
        </p:spPr>
        <p:txBody>
          <a:bodyPr wrap="square" lIns="0" tIns="0" rIns="0" bIns="0" rtlCol="0" anchor="t"/>
          <a:lstStyle/>
          <a:p>
            <a:pPr marL="0" indent="0" algn="l">
              <a:buNone/>
            </a:pPr>
            <a:r>
              <a:rPr lang="en-US" sz="950" dirty="0">
                <a:solidFill>
                  <a:srgbClr val="1A2B3C"/>
                </a:solidFill>
              </a:rPr>
              <a:t>Together, they help organizations use AI securely while managing cyber threats, protecting data, and building public trust making innovation both safe and sustainable.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02  Importance</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Why AI Governance &amp; Cyber Risk Management Matter</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4160520" cy="182880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448056" y="1197864"/>
            <a:ext cx="512064" cy="512064"/>
          </a:xfrm>
          <a:prstGeom prst="rect">
            <a:avLst/>
          </a:prstGeom>
          <a:solidFill>
            <a:srgbClr val="1B6CA8"/>
          </a:solidFill>
          <a:ln w="12700">
            <a:solidFill>
              <a:srgbClr val="1B6CA8"/>
            </a:solidFill>
            <a:prstDash val="solid"/>
          </a:ln>
        </p:spPr>
      </p:sp>
      <p:pic>
        <p:nvPicPr>
          <p:cNvPr id="8" name="Image 0" descr="preencoded.png"/>
          <p:cNvPicPr>
            <a:picLocks noChangeAspect="1"/>
          </p:cNvPicPr>
          <p:nvPr/>
        </p:nvPicPr>
        <p:blipFill>
          <a:blip r:embed="rId1"/>
          <a:stretch>
            <a:fillRect/>
          </a:stretch>
        </p:blipFill>
        <p:spPr>
          <a:xfrm>
            <a:off x="537667" y="1287475"/>
            <a:ext cx="332842" cy="332842"/>
          </a:xfrm>
          <a:prstGeom prst="rect">
            <a:avLst/>
          </a:prstGeom>
        </p:spPr>
      </p:pic>
      <p:sp>
        <p:nvSpPr>
          <p:cNvPr id="9" name="Text 6"/>
          <p:cNvSpPr/>
          <p:nvPr/>
        </p:nvSpPr>
        <p:spPr>
          <a:xfrm>
            <a:off x="448056" y="1801368"/>
            <a:ext cx="3904488" cy="292608"/>
          </a:xfrm>
          <a:prstGeom prst="rect">
            <a:avLst/>
          </a:prstGeom>
          <a:noFill/>
        </p:spPr>
        <p:txBody>
          <a:bodyPr wrap="square" lIns="0" tIns="0" rIns="0" bIns="0" rtlCol="0" anchor="ctr"/>
          <a:lstStyle/>
          <a:p>
            <a:pPr marL="0" indent="0" algn="l">
              <a:buNone/>
            </a:pPr>
            <a:r>
              <a:rPr lang="en-US" sz="1100" b="1" dirty="0">
                <a:solidFill>
                  <a:srgbClr val="0D2137"/>
                </a:solidFill>
              </a:rPr>
              <a:t>Safety Guardrails</a:t>
            </a:r>
            <a:endParaRPr lang="en-US" sz="1100" dirty="0"/>
          </a:p>
        </p:txBody>
      </p:sp>
      <p:sp>
        <p:nvSpPr>
          <p:cNvPr id="10" name="Text 7"/>
          <p:cNvSpPr/>
          <p:nvPr/>
        </p:nvSpPr>
        <p:spPr>
          <a:xfrm>
            <a:off x="448056" y="2112264"/>
            <a:ext cx="3904488" cy="685800"/>
          </a:xfrm>
          <a:prstGeom prst="rect">
            <a:avLst/>
          </a:prstGeom>
          <a:noFill/>
        </p:spPr>
        <p:txBody>
          <a:bodyPr wrap="square" lIns="0" tIns="0" rIns="0" bIns="0" rtlCol="0" anchor="t"/>
          <a:lstStyle/>
          <a:p>
            <a:pPr marL="0" indent="0" algn="l">
              <a:buNone/>
            </a:pPr>
            <a:r>
              <a:rPr lang="en-US" sz="950" dirty="0">
                <a:solidFill>
                  <a:srgbClr val="1A2B3C"/>
                </a:solidFill>
              </a:rPr>
              <a:t>As AI enters phones, banks, hospitals and cars, governance prevents unfair decisions, data leaks, and adversarial attacks.</a:t>
            </a:r>
            <a:endParaRPr lang="en-US" sz="950" dirty="0"/>
          </a:p>
        </p:txBody>
      </p:sp>
      <p:sp>
        <p:nvSpPr>
          <p:cNvPr id="11" name="Shape 8"/>
          <p:cNvSpPr/>
          <p:nvPr/>
        </p:nvSpPr>
        <p:spPr>
          <a:xfrm>
            <a:off x="4663440" y="1051560"/>
            <a:ext cx="4160520" cy="182880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2" name="Shape 9"/>
          <p:cNvSpPr/>
          <p:nvPr/>
        </p:nvSpPr>
        <p:spPr>
          <a:xfrm>
            <a:off x="4791456" y="1197864"/>
            <a:ext cx="512064" cy="512064"/>
          </a:xfrm>
          <a:prstGeom prst="rect">
            <a:avLst/>
          </a:prstGeom>
          <a:solidFill>
            <a:srgbClr val="0F9B8E"/>
          </a:solidFill>
          <a:ln w="12700">
            <a:solidFill>
              <a:srgbClr val="0F9B8E"/>
            </a:solidFill>
            <a:prstDash val="solid"/>
          </a:ln>
        </p:spPr>
      </p:sp>
      <p:pic>
        <p:nvPicPr>
          <p:cNvPr id="13" name="Image 1" descr="preencoded.png"/>
          <p:cNvPicPr>
            <a:picLocks noChangeAspect="1"/>
          </p:cNvPicPr>
          <p:nvPr/>
        </p:nvPicPr>
        <p:blipFill>
          <a:blip r:embed="rId2"/>
          <a:stretch>
            <a:fillRect/>
          </a:stretch>
        </p:blipFill>
        <p:spPr>
          <a:xfrm>
            <a:off x="4881067" y="1287475"/>
            <a:ext cx="332842" cy="332842"/>
          </a:xfrm>
          <a:prstGeom prst="rect">
            <a:avLst/>
          </a:prstGeom>
        </p:spPr>
      </p:pic>
      <p:sp>
        <p:nvSpPr>
          <p:cNvPr id="14" name="Text 10"/>
          <p:cNvSpPr/>
          <p:nvPr/>
        </p:nvSpPr>
        <p:spPr>
          <a:xfrm>
            <a:off x="4791456" y="1801368"/>
            <a:ext cx="3904488" cy="292608"/>
          </a:xfrm>
          <a:prstGeom prst="rect">
            <a:avLst/>
          </a:prstGeom>
          <a:noFill/>
        </p:spPr>
        <p:txBody>
          <a:bodyPr wrap="square" lIns="0" tIns="0" rIns="0" bIns="0" rtlCol="0" anchor="ctr"/>
          <a:lstStyle/>
          <a:p>
            <a:pPr marL="0" indent="0" algn="l">
              <a:buNone/>
            </a:pPr>
            <a:r>
              <a:rPr lang="en-US" sz="1100" b="1" dirty="0">
                <a:solidFill>
                  <a:srgbClr val="0D2137"/>
                </a:solidFill>
              </a:rPr>
              <a:t>Public Trust</a:t>
            </a:r>
            <a:endParaRPr lang="en-US" sz="1100" dirty="0"/>
          </a:p>
        </p:txBody>
      </p:sp>
      <p:sp>
        <p:nvSpPr>
          <p:cNvPr id="15" name="Text 11"/>
          <p:cNvSpPr/>
          <p:nvPr/>
        </p:nvSpPr>
        <p:spPr>
          <a:xfrm>
            <a:off x="4791456" y="2112264"/>
            <a:ext cx="3904488" cy="685800"/>
          </a:xfrm>
          <a:prstGeom prst="rect">
            <a:avLst/>
          </a:prstGeom>
          <a:noFill/>
        </p:spPr>
        <p:txBody>
          <a:bodyPr wrap="square" lIns="0" tIns="0" rIns="0" bIns="0" rtlCol="0" anchor="t"/>
          <a:lstStyle/>
          <a:p>
            <a:pPr marL="0" indent="0" algn="l">
              <a:buNone/>
            </a:pPr>
            <a:r>
              <a:rPr lang="en-US" sz="950" dirty="0">
                <a:solidFill>
                  <a:srgbClr val="1A2B3C"/>
                </a:solidFill>
              </a:rPr>
              <a:t>Governance acts as a guardrail letting businesses innovate responsibly so users feel safe with AI-powered systems.</a:t>
            </a:r>
            <a:endParaRPr lang="en-US" sz="950" dirty="0"/>
          </a:p>
        </p:txBody>
      </p:sp>
      <p:sp>
        <p:nvSpPr>
          <p:cNvPr id="16" name="Shape 12"/>
          <p:cNvSpPr/>
          <p:nvPr/>
        </p:nvSpPr>
        <p:spPr>
          <a:xfrm>
            <a:off x="320040" y="3063240"/>
            <a:ext cx="4160520" cy="182880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7" name="Shape 13"/>
          <p:cNvSpPr/>
          <p:nvPr/>
        </p:nvSpPr>
        <p:spPr>
          <a:xfrm>
            <a:off x="448056" y="3209544"/>
            <a:ext cx="512064" cy="512064"/>
          </a:xfrm>
          <a:prstGeom prst="rect">
            <a:avLst/>
          </a:prstGeom>
          <a:solidFill>
            <a:srgbClr val="E07B00"/>
          </a:solidFill>
          <a:ln w="12700">
            <a:solidFill>
              <a:srgbClr val="E07B00"/>
            </a:solidFill>
            <a:prstDash val="solid"/>
          </a:ln>
        </p:spPr>
      </p:sp>
      <p:pic>
        <p:nvPicPr>
          <p:cNvPr id="18" name="Image 2" descr="preencoded.png"/>
          <p:cNvPicPr>
            <a:picLocks noChangeAspect="1"/>
          </p:cNvPicPr>
          <p:nvPr/>
        </p:nvPicPr>
        <p:blipFill>
          <a:blip r:embed="rId3"/>
          <a:stretch>
            <a:fillRect/>
          </a:stretch>
        </p:blipFill>
        <p:spPr>
          <a:xfrm>
            <a:off x="537667" y="3299155"/>
            <a:ext cx="332842" cy="332842"/>
          </a:xfrm>
          <a:prstGeom prst="rect">
            <a:avLst/>
          </a:prstGeom>
        </p:spPr>
      </p:pic>
      <p:sp>
        <p:nvSpPr>
          <p:cNvPr id="19" name="Text 14"/>
          <p:cNvSpPr/>
          <p:nvPr/>
        </p:nvSpPr>
        <p:spPr>
          <a:xfrm>
            <a:off x="448056" y="3813048"/>
            <a:ext cx="3904488" cy="292608"/>
          </a:xfrm>
          <a:prstGeom prst="rect">
            <a:avLst/>
          </a:prstGeom>
          <a:noFill/>
        </p:spPr>
        <p:txBody>
          <a:bodyPr wrap="square" lIns="0" tIns="0" rIns="0" bIns="0" rtlCol="0" anchor="ctr"/>
          <a:lstStyle/>
          <a:p>
            <a:pPr marL="0" indent="0" algn="l">
              <a:buNone/>
            </a:pPr>
            <a:r>
              <a:rPr lang="en-US" sz="1100" b="1" dirty="0">
                <a:solidFill>
                  <a:srgbClr val="0D2137"/>
                </a:solidFill>
              </a:rPr>
              <a:t>Financial &amp; Reputation Protection</a:t>
            </a:r>
            <a:endParaRPr lang="en-US" sz="1100" dirty="0"/>
          </a:p>
        </p:txBody>
      </p:sp>
      <p:sp>
        <p:nvSpPr>
          <p:cNvPr id="20" name="Text 15"/>
          <p:cNvSpPr/>
          <p:nvPr/>
        </p:nvSpPr>
        <p:spPr>
          <a:xfrm>
            <a:off x="448056" y="4123944"/>
            <a:ext cx="3904488" cy="685800"/>
          </a:xfrm>
          <a:prstGeom prst="rect">
            <a:avLst/>
          </a:prstGeom>
          <a:noFill/>
        </p:spPr>
        <p:txBody>
          <a:bodyPr wrap="square" lIns="0" tIns="0" rIns="0" bIns="0" rtlCol="0" anchor="t"/>
          <a:lstStyle/>
          <a:p>
            <a:pPr marL="0" indent="0" algn="l">
              <a:buNone/>
            </a:pPr>
            <a:r>
              <a:rPr lang="en-US" sz="950" dirty="0">
                <a:solidFill>
                  <a:srgbClr val="1A2B3C"/>
                </a:solidFill>
              </a:rPr>
              <a:t>Identifying AI failures, biases, and security breaches early helps avoid costly incidents and protects brand reputation.</a:t>
            </a:r>
            <a:endParaRPr lang="en-US" sz="950" dirty="0"/>
          </a:p>
        </p:txBody>
      </p:sp>
      <p:sp>
        <p:nvSpPr>
          <p:cNvPr id="21" name="Shape 16"/>
          <p:cNvSpPr/>
          <p:nvPr/>
        </p:nvSpPr>
        <p:spPr>
          <a:xfrm>
            <a:off x="4663440" y="3063240"/>
            <a:ext cx="4160520" cy="182880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22" name="Shape 17"/>
          <p:cNvSpPr/>
          <p:nvPr/>
        </p:nvSpPr>
        <p:spPr>
          <a:xfrm>
            <a:off x="4791456" y="3209544"/>
            <a:ext cx="512064" cy="512064"/>
          </a:xfrm>
          <a:prstGeom prst="rect">
            <a:avLst/>
          </a:prstGeom>
          <a:solidFill>
            <a:srgbClr val="2E7D32"/>
          </a:solidFill>
          <a:ln w="12700">
            <a:solidFill>
              <a:srgbClr val="2E7D32"/>
            </a:solidFill>
            <a:prstDash val="solid"/>
          </a:ln>
        </p:spPr>
      </p:sp>
      <p:pic>
        <p:nvPicPr>
          <p:cNvPr id="23" name="Image 3" descr="preencoded.png"/>
          <p:cNvPicPr>
            <a:picLocks noChangeAspect="1"/>
          </p:cNvPicPr>
          <p:nvPr/>
        </p:nvPicPr>
        <p:blipFill>
          <a:blip r:embed="rId4"/>
          <a:stretch>
            <a:fillRect/>
          </a:stretch>
        </p:blipFill>
        <p:spPr>
          <a:xfrm>
            <a:off x="4881067" y="3299155"/>
            <a:ext cx="332842" cy="332842"/>
          </a:xfrm>
          <a:prstGeom prst="rect">
            <a:avLst/>
          </a:prstGeom>
        </p:spPr>
      </p:pic>
      <p:sp>
        <p:nvSpPr>
          <p:cNvPr id="24" name="Text 18"/>
          <p:cNvSpPr/>
          <p:nvPr/>
        </p:nvSpPr>
        <p:spPr>
          <a:xfrm>
            <a:off x="4791456" y="3813048"/>
            <a:ext cx="3904488" cy="292608"/>
          </a:xfrm>
          <a:prstGeom prst="rect">
            <a:avLst/>
          </a:prstGeom>
          <a:noFill/>
        </p:spPr>
        <p:txBody>
          <a:bodyPr wrap="square" lIns="0" tIns="0" rIns="0" bIns="0" rtlCol="0" anchor="ctr"/>
          <a:lstStyle/>
          <a:p>
            <a:pPr marL="0" indent="0" algn="l">
              <a:buNone/>
            </a:pPr>
            <a:r>
              <a:rPr lang="en-US" sz="1100" b="1" dirty="0">
                <a:solidFill>
                  <a:srgbClr val="0D2137"/>
                </a:solidFill>
              </a:rPr>
              <a:t>Necessary — Not Optional</a:t>
            </a:r>
            <a:endParaRPr lang="en-US" sz="1100" dirty="0"/>
          </a:p>
        </p:txBody>
      </p:sp>
      <p:sp>
        <p:nvSpPr>
          <p:cNvPr id="25" name="Text 19"/>
          <p:cNvSpPr/>
          <p:nvPr/>
        </p:nvSpPr>
        <p:spPr>
          <a:xfrm>
            <a:off x="4791456" y="4123944"/>
            <a:ext cx="3904488" cy="685800"/>
          </a:xfrm>
          <a:prstGeom prst="rect">
            <a:avLst/>
          </a:prstGeom>
          <a:noFill/>
        </p:spPr>
        <p:txBody>
          <a:bodyPr wrap="square" lIns="0" tIns="0" rIns="0" bIns="0" rtlCol="0" anchor="t"/>
          <a:lstStyle/>
          <a:p>
            <a:pPr marL="0" indent="0" algn="l">
              <a:buNone/>
            </a:pPr>
            <a:r>
              <a:rPr lang="en-US" sz="950" dirty="0">
                <a:solidFill>
                  <a:srgbClr val="1A2B3C"/>
                </a:solidFill>
              </a:rPr>
              <a:t>AI governance and cyber risk management are no longer optional they are essential for any AI-leveraging organization.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03  Key Components</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Key Components of AI Governance</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24128"/>
            <a:ext cx="4160520" cy="182880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7" name="Text 5"/>
          <p:cNvSpPr/>
          <p:nvPr/>
        </p:nvSpPr>
        <p:spPr>
          <a:xfrm>
            <a:off x="457200" y="1078992"/>
            <a:ext cx="3840480" cy="256032"/>
          </a:xfrm>
          <a:prstGeom prst="rect">
            <a:avLst/>
          </a:prstGeom>
          <a:noFill/>
        </p:spPr>
        <p:txBody>
          <a:bodyPr wrap="square" lIns="0" tIns="0" rIns="0" bIns="0" rtlCol="0" anchor="ctr"/>
          <a:lstStyle/>
          <a:p>
            <a:pPr marL="0" indent="0" algn="l">
              <a:buNone/>
            </a:pPr>
            <a:r>
              <a:rPr lang="en-US" sz="1050" b="1" dirty="0">
                <a:solidFill>
                  <a:srgbClr val="0D2137"/>
                </a:solidFill>
              </a:rPr>
              <a:t>Ethical Principles — the Moral Compass</a:t>
            </a:r>
            <a:endParaRPr lang="en-US" sz="1050" dirty="0"/>
          </a:p>
        </p:txBody>
      </p:sp>
      <p:sp>
        <p:nvSpPr>
          <p:cNvPr id="8" name="Shape 6"/>
          <p:cNvSpPr/>
          <p:nvPr/>
        </p:nvSpPr>
        <p:spPr>
          <a:xfrm>
            <a:off x="493776" y="1371600"/>
            <a:ext cx="329184" cy="329184"/>
          </a:xfrm>
          <a:prstGeom prst="rect">
            <a:avLst/>
          </a:prstGeom>
          <a:solidFill>
            <a:srgbClr val="1B6CA8"/>
          </a:solidFill>
          <a:ln w="12700">
            <a:solidFill>
              <a:srgbClr val="1B6CA8"/>
            </a:solidFill>
            <a:prstDash val="solid"/>
          </a:ln>
        </p:spPr>
      </p:sp>
      <p:pic>
        <p:nvPicPr>
          <p:cNvPr id="9" name="Image 0" descr="preencoded.png"/>
          <p:cNvPicPr>
            <a:picLocks noChangeAspect="1"/>
          </p:cNvPicPr>
          <p:nvPr/>
        </p:nvPicPr>
        <p:blipFill>
          <a:blip r:embed="rId1"/>
          <a:stretch>
            <a:fillRect/>
          </a:stretch>
        </p:blipFill>
        <p:spPr>
          <a:xfrm>
            <a:off x="551383" y="1429207"/>
            <a:ext cx="213970" cy="213970"/>
          </a:xfrm>
          <a:prstGeom prst="rect">
            <a:avLst/>
          </a:prstGeom>
        </p:spPr>
      </p:pic>
      <p:sp>
        <p:nvSpPr>
          <p:cNvPr id="10" name="Text 7"/>
          <p:cNvSpPr/>
          <p:nvPr/>
        </p:nvSpPr>
        <p:spPr>
          <a:xfrm>
            <a:off x="457200" y="1719072"/>
            <a:ext cx="841248" cy="201168"/>
          </a:xfrm>
          <a:prstGeom prst="rect">
            <a:avLst/>
          </a:prstGeom>
          <a:noFill/>
        </p:spPr>
        <p:txBody>
          <a:bodyPr wrap="square" lIns="0" tIns="0" rIns="0" bIns="0" rtlCol="0" anchor="ctr"/>
          <a:lstStyle/>
          <a:p>
            <a:pPr marL="0" indent="0" algn="ctr">
              <a:buNone/>
            </a:pPr>
            <a:r>
              <a:rPr lang="en-US" sz="800" dirty="0">
                <a:solidFill>
                  <a:srgbClr val="1A2B3C"/>
                </a:solidFill>
              </a:rPr>
              <a:t>Ethics</a:t>
            </a:r>
            <a:endParaRPr lang="en-US" sz="800" dirty="0"/>
          </a:p>
        </p:txBody>
      </p:sp>
      <p:sp>
        <p:nvSpPr>
          <p:cNvPr id="11" name="Shape 8"/>
          <p:cNvSpPr/>
          <p:nvPr/>
        </p:nvSpPr>
        <p:spPr>
          <a:xfrm>
            <a:off x="1828800" y="1371600"/>
            <a:ext cx="329184" cy="329184"/>
          </a:xfrm>
          <a:prstGeom prst="rect">
            <a:avLst/>
          </a:prstGeom>
          <a:solidFill>
            <a:srgbClr val="0F9B8E"/>
          </a:solidFill>
          <a:ln w="12700">
            <a:solidFill>
              <a:srgbClr val="0F9B8E"/>
            </a:solidFill>
            <a:prstDash val="solid"/>
          </a:ln>
        </p:spPr>
      </p:sp>
      <p:pic>
        <p:nvPicPr>
          <p:cNvPr id="12" name="Image 1" descr="preencoded.png"/>
          <p:cNvPicPr>
            <a:picLocks noChangeAspect="1"/>
          </p:cNvPicPr>
          <p:nvPr/>
        </p:nvPicPr>
        <p:blipFill>
          <a:blip r:embed="rId2"/>
          <a:stretch>
            <a:fillRect/>
          </a:stretch>
        </p:blipFill>
        <p:spPr>
          <a:xfrm>
            <a:off x="1886407" y="1429207"/>
            <a:ext cx="213970" cy="213970"/>
          </a:xfrm>
          <a:prstGeom prst="rect">
            <a:avLst/>
          </a:prstGeom>
        </p:spPr>
      </p:pic>
      <p:sp>
        <p:nvSpPr>
          <p:cNvPr id="13" name="Text 9"/>
          <p:cNvSpPr/>
          <p:nvPr/>
        </p:nvSpPr>
        <p:spPr>
          <a:xfrm>
            <a:off x="1792224" y="1719072"/>
            <a:ext cx="841248" cy="201168"/>
          </a:xfrm>
          <a:prstGeom prst="rect">
            <a:avLst/>
          </a:prstGeom>
          <a:noFill/>
        </p:spPr>
        <p:txBody>
          <a:bodyPr wrap="square" lIns="0" tIns="0" rIns="0" bIns="0" rtlCol="0" anchor="ctr"/>
          <a:lstStyle/>
          <a:p>
            <a:pPr marL="0" indent="0" algn="ctr">
              <a:buNone/>
            </a:pPr>
            <a:r>
              <a:rPr lang="en-US" sz="800" dirty="0">
                <a:solidFill>
                  <a:srgbClr val="1A2B3C"/>
                </a:solidFill>
              </a:rPr>
              <a:t>Fairness</a:t>
            </a:r>
            <a:endParaRPr lang="en-US" sz="800" dirty="0"/>
          </a:p>
        </p:txBody>
      </p:sp>
      <p:sp>
        <p:nvSpPr>
          <p:cNvPr id="14" name="Shape 10"/>
          <p:cNvSpPr/>
          <p:nvPr/>
        </p:nvSpPr>
        <p:spPr>
          <a:xfrm>
            <a:off x="3163824" y="1371600"/>
            <a:ext cx="329184" cy="329184"/>
          </a:xfrm>
          <a:prstGeom prst="rect">
            <a:avLst/>
          </a:prstGeom>
          <a:solidFill>
            <a:srgbClr val="2E7D32"/>
          </a:solidFill>
          <a:ln w="12700">
            <a:solidFill>
              <a:srgbClr val="2E7D32"/>
            </a:solidFill>
            <a:prstDash val="solid"/>
          </a:ln>
        </p:spPr>
      </p:sp>
      <p:pic>
        <p:nvPicPr>
          <p:cNvPr id="15" name="Image 2" descr="preencoded.png"/>
          <p:cNvPicPr>
            <a:picLocks noChangeAspect="1"/>
          </p:cNvPicPr>
          <p:nvPr/>
        </p:nvPicPr>
        <p:blipFill>
          <a:blip r:embed="rId2"/>
          <a:stretch>
            <a:fillRect/>
          </a:stretch>
        </p:blipFill>
        <p:spPr>
          <a:xfrm>
            <a:off x="3221431" y="1429207"/>
            <a:ext cx="213970" cy="213970"/>
          </a:xfrm>
          <a:prstGeom prst="rect">
            <a:avLst/>
          </a:prstGeom>
        </p:spPr>
      </p:pic>
      <p:sp>
        <p:nvSpPr>
          <p:cNvPr id="16" name="Text 11"/>
          <p:cNvSpPr/>
          <p:nvPr/>
        </p:nvSpPr>
        <p:spPr>
          <a:xfrm>
            <a:off x="3127248" y="1719072"/>
            <a:ext cx="841248" cy="201168"/>
          </a:xfrm>
          <a:prstGeom prst="rect">
            <a:avLst/>
          </a:prstGeom>
          <a:noFill/>
        </p:spPr>
        <p:txBody>
          <a:bodyPr wrap="square" lIns="0" tIns="0" rIns="0" bIns="0" rtlCol="0" anchor="ctr"/>
          <a:lstStyle/>
          <a:p>
            <a:pPr marL="0" indent="0" algn="ctr">
              <a:buNone/>
            </a:pPr>
            <a:r>
              <a:rPr lang="en-US" sz="800" dirty="0">
                <a:solidFill>
                  <a:srgbClr val="1A2B3C"/>
                </a:solidFill>
              </a:rPr>
              <a:t>Reliability</a:t>
            </a:r>
            <a:endParaRPr lang="en-US" sz="800" dirty="0"/>
          </a:p>
        </p:txBody>
      </p:sp>
      <p:sp>
        <p:nvSpPr>
          <p:cNvPr id="17" name="Shape 12"/>
          <p:cNvSpPr/>
          <p:nvPr/>
        </p:nvSpPr>
        <p:spPr>
          <a:xfrm>
            <a:off x="493776" y="2029968"/>
            <a:ext cx="329184" cy="329184"/>
          </a:xfrm>
          <a:prstGeom prst="rect">
            <a:avLst/>
          </a:prstGeom>
          <a:solidFill>
            <a:srgbClr val="1B6CA8"/>
          </a:solidFill>
          <a:ln w="12700">
            <a:solidFill>
              <a:srgbClr val="1B6CA8"/>
            </a:solidFill>
            <a:prstDash val="solid"/>
          </a:ln>
        </p:spPr>
      </p:sp>
      <p:pic>
        <p:nvPicPr>
          <p:cNvPr id="18" name="Image 3" descr="preencoded.png"/>
          <p:cNvPicPr>
            <a:picLocks noChangeAspect="1"/>
          </p:cNvPicPr>
          <p:nvPr/>
        </p:nvPicPr>
        <p:blipFill>
          <a:blip r:embed="rId3"/>
          <a:stretch>
            <a:fillRect/>
          </a:stretch>
        </p:blipFill>
        <p:spPr>
          <a:xfrm>
            <a:off x="551383" y="2087575"/>
            <a:ext cx="213970" cy="213970"/>
          </a:xfrm>
          <a:prstGeom prst="rect">
            <a:avLst/>
          </a:prstGeom>
        </p:spPr>
      </p:pic>
      <p:sp>
        <p:nvSpPr>
          <p:cNvPr id="19" name="Text 13"/>
          <p:cNvSpPr/>
          <p:nvPr/>
        </p:nvSpPr>
        <p:spPr>
          <a:xfrm>
            <a:off x="457200" y="2377440"/>
            <a:ext cx="841248" cy="201168"/>
          </a:xfrm>
          <a:prstGeom prst="rect">
            <a:avLst/>
          </a:prstGeom>
          <a:noFill/>
        </p:spPr>
        <p:txBody>
          <a:bodyPr wrap="square" lIns="0" tIns="0" rIns="0" bIns="0" rtlCol="0" anchor="ctr"/>
          <a:lstStyle/>
          <a:p>
            <a:pPr marL="0" indent="0" algn="ctr">
              <a:buNone/>
            </a:pPr>
            <a:r>
              <a:rPr lang="en-US" sz="800" dirty="0">
                <a:solidFill>
                  <a:srgbClr val="1A2B3C"/>
                </a:solidFill>
              </a:rPr>
              <a:t>Governance</a:t>
            </a:r>
            <a:endParaRPr lang="en-US" sz="800" dirty="0"/>
          </a:p>
        </p:txBody>
      </p:sp>
      <p:sp>
        <p:nvSpPr>
          <p:cNvPr id="20" name="Shape 14"/>
          <p:cNvSpPr/>
          <p:nvPr/>
        </p:nvSpPr>
        <p:spPr>
          <a:xfrm>
            <a:off x="1828800" y="2029968"/>
            <a:ext cx="329184" cy="329184"/>
          </a:xfrm>
          <a:prstGeom prst="rect">
            <a:avLst/>
          </a:prstGeom>
          <a:solidFill>
            <a:srgbClr val="0F9B8E"/>
          </a:solidFill>
          <a:ln w="12700">
            <a:solidFill>
              <a:srgbClr val="0F9B8E"/>
            </a:solidFill>
            <a:prstDash val="solid"/>
          </a:ln>
        </p:spPr>
      </p:sp>
      <p:pic>
        <p:nvPicPr>
          <p:cNvPr id="21" name="Image 4" descr="preencoded.png"/>
          <p:cNvPicPr>
            <a:picLocks noChangeAspect="1"/>
          </p:cNvPicPr>
          <p:nvPr/>
        </p:nvPicPr>
        <p:blipFill>
          <a:blip r:embed="rId4"/>
          <a:stretch>
            <a:fillRect/>
          </a:stretch>
        </p:blipFill>
        <p:spPr>
          <a:xfrm>
            <a:off x="1886407" y="2087575"/>
            <a:ext cx="213970" cy="213970"/>
          </a:xfrm>
          <a:prstGeom prst="rect">
            <a:avLst/>
          </a:prstGeom>
        </p:spPr>
      </p:pic>
      <p:sp>
        <p:nvSpPr>
          <p:cNvPr id="22" name="Text 15"/>
          <p:cNvSpPr/>
          <p:nvPr/>
        </p:nvSpPr>
        <p:spPr>
          <a:xfrm>
            <a:off x="1792224" y="2377440"/>
            <a:ext cx="841248" cy="201168"/>
          </a:xfrm>
          <a:prstGeom prst="rect">
            <a:avLst/>
          </a:prstGeom>
          <a:noFill/>
        </p:spPr>
        <p:txBody>
          <a:bodyPr wrap="square" lIns="0" tIns="0" rIns="0" bIns="0" rtlCol="0" anchor="ctr"/>
          <a:lstStyle/>
          <a:p>
            <a:pPr marL="0" indent="0" algn="ctr">
              <a:buNone/>
            </a:pPr>
            <a:r>
              <a:rPr lang="en-US" sz="800" dirty="0">
                <a:solidFill>
                  <a:srgbClr val="1A2B3C"/>
                </a:solidFill>
              </a:rPr>
              <a:t>Privacy</a:t>
            </a:r>
            <a:endParaRPr lang="en-US" sz="800" dirty="0"/>
          </a:p>
        </p:txBody>
      </p:sp>
      <p:sp>
        <p:nvSpPr>
          <p:cNvPr id="23" name="Shape 16"/>
          <p:cNvSpPr/>
          <p:nvPr/>
        </p:nvSpPr>
        <p:spPr>
          <a:xfrm>
            <a:off x="4663440" y="1024128"/>
            <a:ext cx="4160520" cy="1828800"/>
          </a:xfrm>
          <a:prstGeom prst="rect">
            <a:avLst/>
          </a:prstGeom>
          <a:solidFill>
            <a:srgbClr val="FFF8E1"/>
          </a:solidFill>
          <a:ln w="6350">
            <a:solidFill>
              <a:srgbClr val="B8D4E8"/>
            </a:solidFill>
            <a:prstDash val="solid"/>
          </a:ln>
          <a:effectLst>
            <a:outerShdw blurRad="63500" dist="12700" dir="8100000" algn="bl" rotWithShape="0">
              <a:srgbClr val="A0BFDA">
                <a:alpha val="18000"/>
              </a:srgbClr>
            </a:outerShdw>
          </a:effectLst>
        </p:spPr>
      </p:sp>
      <p:sp>
        <p:nvSpPr>
          <p:cNvPr id="24" name="Text 17"/>
          <p:cNvSpPr/>
          <p:nvPr/>
        </p:nvSpPr>
        <p:spPr>
          <a:xfrm>
            <a:off x="4800600" y="1078992"/>
            <a:ext cx="3840480" cy="256032"/>
          </a:xfrm>
          <a:prstGeom prst="rect">
            <a:avLst/>
          </a:prstGeom>
          <a:noFill/>
        </p:spPr>
        <p:txBody>
          <a:bodyPr wrap="square" lIns="0" tIns="0" rIns="0" bIns="0" rtlCol="0" anchor="ctr"/>
          <a:lstStyle/>
          <a:p>
            <a:pPr marL="0" indent="0" algn="l">
              <a:buNone/>
            </a:pPr>
            <a:r>
              <a:rPr lang="en-US" sz="1050" b="1" dirty="0">
                <a:solidFill>
                  <a:srgbClr val="0D2137"/>
                </a:solidFill>
              </a:rPr>
              <a:t>Governance Structure</a:t>
            </a:r>
            <a:endParaRPr lang="en-US" sz="1050" dirty="0"/>
          </a:p>
        </p:txBody>
      </p:sp>
      <p:sp>
        <p:nvSpPr>
          <p:cNvPr id="25" name="Text 18"/>
          <p:cNvSpPr/>
          <p:nvPr/>
        </p:nvSpPr>
        <p:spPr>
          <a:xfrm>
            <a:off x="4800600" y="1389888"/>
            <a:ext cx="3840480" cy="658368"/>
          </a:xfrm>
          <a:prstGeom prst="rect">
            <a:avLst/>
          </a:prstGeom>
          <a:noFill/>
        </p:spPr>
        <p:txBody>
          <a:bodyPr wrap="square" lIns="0" tIns="0" rIns="0" bIns="0" rtlCol="0" anchor="t"/>
          <a:lstStyle/>
          <a:p>
            <a:pPr marL="0" indent="0" algn="l">
              <a:buNone/>
            </a:pPr>
            <a:r>
              <a:rPr lang="en-US" sz="950" dirty="0">
                <a:solidFill>
                  <a:srgbClr val="1A2B3C"/>
                </a:solidFill>
              </a:rPr>
              <a:t>• AI Oversight Committee</a:t>
            </a:r>
            <a:endParaRPr lang="en-US" sz="950" dirty="0"/>
          </a:p>
          <a:p>
            <a:pPr marL="0" indent="0" algn="l">
              <a:buNone/>
            </a:pPr>
            <a:r>
              <a:rPr lang="en-US" sz="950" dirty="0">
                <a:solidFill>
                  <a:srgbClr val="1A2B3C"/>
                </a:solidFill>
              </a:rPr>
              <a:t>• Chief AI Officers</a:t>
            </a:r>
            <a:endParaRPr lang="en-US" sz="950" dirty="0"/>
          </a:p>
          <a:p>
            <a:pPr marL="0" indent="0" algn="l">
              <a:buNone/>
            </a:pPr>
            <a:r>
              <a:rPr lang="en-US" sz="950" dirty="0">
                <a:solidFill>
                  <a:srgbClr val="1A2B3C"/>
                </a:solidFill>
              </a:rPr>
              <a:t>• Multi-department AI project governance</a:t>
            </a:r>
            <a:endParaRPr lang="en-US" sz="950" dirty="0"/>
          </a:p>
        </p:txBody>
      </p:sp>
      <p:sp>
        <p:nvSpPr>
          <p:cNvPr id="26" name="Text 19"/>
          <p:cNvSpPr/>
          <p:nvPr/>
        </p:nvSpPr>
        <p:spPr>
          <a:xfrm>
            <a:off x="4800600" y="2084832"/>
            <a:ext cx="3840480" cy="219456"/>
          </a:xfrm>
          <a:prstGeom prst="rect">
            <a:avLst/>
          </a:prstGeom>
          <a:noFill/>
        </p:spPr>
        <p:txBody>
          <a:bodyPr wrap="square" lIns="0" tIns="0" rIns="0" bIns="0" rtlCol="0" anchor="ctr"/>
          <a:lstStyle/>
          <a:p>
            <a:pPr marL="0" indent="0" algn="l">
              <a:buNone/>
            </a:pPr>
            <a:r>
              <a:rPr lang="en-US" sz="1050" b="1" dirty="0">
                <a:solidFill>
                  <a:srgbClr val="0D2137"/>
                </a:solidFill>
              </a:rPr>
              <a:t>Policies &amp; Standards</a:t>
            </a:r>
            <a:endParaRPr lang="en-US" sz="1050" dirty="0"/>
          </a:p>
        </p:txBody>
      </p:sp>
      <p:sp>
        <p:nvSpPr>
          <p:cNvPr id="27" name="Text 20"/>
          <p:cNvSpPr/>
          <p:nvPr/>
        </p:nvSpPr>
        <p:spPr>
          <a:xfrm>
            <a:off x="4800600" y="2322576"/>
            <a:ext cx="3840480" cy="457200"/>
          </a:xfrm>
          <a:prstGeom prst="rect">
            <a:avLst/>
          </a:prstGeom>
          <a:noFill/>
        </p:spPr>
        <p:txBody>
          <a:bodyPr wrap="square" lIns="0" tIns="0" rIns="0" bIns="0" rtlCol="0" anchor="t"/>
          <a:lstStyle/>
          <a:p>
            <a:pPr marL="0" indent="0" algn="l">
              <a:buNone/>
            </a:pPr>
            <a:r>
              <a:rPr lang="en-US" sz="950" dirty="0">
                <a:solidFill>
                  <a:srgbClr val="1A2B3C"/>
                </a:solidFill>
              </a:rPr>
              <a:t>• Written rules defining AI system boundaries</a:t>
            </a:r>
            <a:endParaRPr lang="en-US" sz="950" dirty="0"/>
          </a:p>
          <a:p>
            <a:pPr marL="0" indent="0" algn="l">
              <a:buNone/>
            </a:pPr>
            <a:r>
              <a:rPr lang="en-US" sz="950" dirty="0">
                <a:solidFill>
                  <a:srgbClr val="1A2B3C"/>
                </a:solidFill>
              </a:rPr>
              <a:t>• Protection against data poisoning and hacking</a:t>
            </a:r>
            <a:endParaRPr lang="en-US" sz="950" dirty="0"/>
          </a:p>
          <a:p>
            <a:pPr marL="0" indent="0" algn="l">
              <a:buNone/>
            </a:pPr>
            <a:r>
              <a:rPr lang="en-US" sz="950" dirty="0">
                <a:solidFill>
                  <a:srgbClr val="1A2B3C"/>
                </a:solidFill>
              </a:rPr>
              <a:t>• Grounded in NIST AI RMF and ISO 42001</a:t>
            </a:r>
            <a:endParaRPr lang="en-US" sz="950" dirty="0"/>
          </a:p>
        </p:txBody>
      </p:sp>
      <p:sp>
        <p:nvSpPr>
          <p:cNvPr id="28" name="Shape 21"/>
          <p:cNvSpPr/>
          <p:nvPr/>
        </p:nvSpPr>
        <p:spPr>
          <a:xfrm>
            <a:off x="320040" y="2944368"/>
            <a:ext cx="8503920" cy="192024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29" name="Text 22"/>
          <p:cNvSpPr/>
          <p:nvPr/>
        </p:nvSpPr>
        <p:spPr>
          <a:xfrm>
            <a:off x="457200" y="3017520"/>
            <a:ext cx="8229600" cy="256032"/>
          </a:xfrm>
          <a:prstGeom prst="rect">
            <a:avLst/>
          </a:prstGeom>
          <a:noFill/>
        </p:spPr>
        <p:txBody>
          <a:bodyPr wrap="square" lIns="0" tIns="0" rIns="0" bIns="0" rtlCol="0" anchor="ctr"/>
          <a:lstStyle/>
          <a:p>
            <a:pPr marL="0" indent="0" algn="l">
              <a:buNone/>
            </a:pPr>
            <a:r>
              <a:rPr lang="en-US" sz="1050" b="1" dirty="0">
                <a:solidFill>
                  <a:srgbClr val="0D2137"/>
                </a:solidFill>
              </a:rPr>
              <a:t>Risk Management Process</a:t>
            </a:r>
            <a:endParaRPr lang="en-US" sz="1050" dirty="0"/>
          </a:p>
        </p:txBody>
      </p:sp>
      <p:sp>
        <p:nvSpPr>
          <p:cNvPr id="30" name="Shape 23"/>
          <p:cNvSpPr/>
          <p:nvPr/>
        </p:nvSpPr>
        <p:spPr>
          <a:xfrm>
            <a:off x="557784" y="3337560"/>
            <a:ext cx="402336" cy="402336"/>
          </a:xfrm>
          <a:prstGeom prst="rect">
            <a:avLst/>
          </a:prstGeom>
          <a:solidFill>
            <a:srgbClr val="1B6CA8"/>
          </a:solidFill>
          <a:ln w="12700">
            <a:solidFill>
              <a:srgbClr val="1B6CA8"/>
            </a:solidFill>
            <a:prstDash val="solid"/>
          </a:ln>
        </p:spPr>
      </p:sp>
      <p:pic>
        <p:nvPicPr>
          <p:cNvPr id="31" name="Image 5" descr="preencoded.png"/>
          <p:cNvPicPr>
            <a:picLocks noChangeAspect="1"/>
          </p:cNvPicPr>
          <p:nvPr/>
        </p:nvPicPr>
        <p:blipFill>
          <a:blip r:embed="rId1"/>
          <a:stretch>
            <a:fillRect/>
          </a:stretch>
        </p:blipFill>
        <p:spPr>
          <a:xfrm>
            <a:off x="628193" y="3407969"/>
            <a:ext cx="261518" cy="261518"/>
          </a:xfrm>
          <a:prstGeom prst="rect">
            <a:avLst/>
          </a:prstGeom>
        </p:spPr>
      </p:pic>
      <p:sp>
        <p:nvSpPr>
          <p:cNvPr id="32" name="Text 24"/>
          <p:cNvSpPr/>
          <p:nvPr/>
        </p:nvSpPr>
        <p:spPr>
          <a:xfrm>
            <a:off x="502920" y="3813048"/>
            <a:ext cx="731520" cy="201168"/>
          </a:xfrm>
          <a:prstGeom prst="rect">
            <a:avLst/>
          </a:prstGeom>
          <a:noFill/>
        </p:spPr>
        <p:txBody>
          <a:bodyPr wrap="square" lIns="0" tIns="0" rIns="0" bIns="0" rtlCol="0" anchor="ctr"/>
          <a:lstStyle/>
          <a:p>
            <a:pPr marL="0" indent="0" algn="ctr">
              <a:buNone/>
            </a:pPr>
            <a:r>
              <a:rPr lang="en-US" sz="950" b="1" dirty="0">
                <a:solidFill>
                  <a:srgbClr val="0D2137"/>
                </a:solidFill>
              </a:rPr>
              <a:t>Identify</a:t>
            </a:r>
            <a:endParaRPr lang="en-US" sz="950" dirty="0"/>
          </a:p>
        </p:txBody>
      </p:sp>
      <p:sp>
        <p:nvSpPr>
          <p:cNvPr id="33" name="Text 25"/>
          <p:cNvSpPr/>
          <p:nvPr/>
        </p:nvSpPr>
        <p:spPr>
          <a:xfrm>
            <a:off x="411480" y="4014216"/>
            <a:ext cx="914400" cy="420624"/>
          </a:xfrm>
          <a:prstGeom prst="rect">
            <a:avLst/>
          </a:prstGeom>
          <a:noFill/>
        </p:spPr>
        <p:txBody>
          <a:bodyPr wrap="square" lIns="0" tIns="0" rIns="0" bIns="0" rtlCol="0" anchor="ctr"/>
          <a:lstStyle/>
          <a:p>
            <a:pPr marL="0" indent="0" algn="ctr">
              <a:buNone/>
            </a:pPr>
            <a:r>
              <a:rPr lang="en-US" sz="800" dirty="0">
                <a:solidFill>
                  <a:srgbClr val="5A7B96"/>
                </a:solidFill>
              </a:rPr>
              <a:t>Spot potential problems early</a:t>
            </a:r>
            <a:endParaRPr lang="en-US" sz="800" dirty="0"/>
          </a:p>
        </p:txBody>
      </p:sp>
      <p:pic>
        <p:nvPicPr>
          <p:cNvPr id="34" name="Image 6" descr="preencoded.png"/>
          <p:cNvPicPr>
            <a:picLocks noChangeAspect="1"/>
          </p:cNvPicPr>
          <p:nvPr/>
        </p:nvPicPr>
        <p:blipFill>
          <a:blip r:embed="rId5"/>
          <a:stretch>
            <a:fillRect/>
          </a:stretch>
        </p:blipFill>
        <p:spPr>
          <a:xfrm>
            <a:off x="1124712" y="3447288"/>
            <a:ext cx="329184" cy="201168"/>
          </a:xfrm>
          <a:prstGeom prst="rect">
            <a:avLst/>
          </a:prstGeom>
        </p:spPr>
      </p:pic>
      <p:sp>
        <p:nvSpPr>
          <p:cNvPr id="35" name="Shape 26"/>
          <p:cNvSpPr/>
          <p:nvPr/>
        </p:nvSpPr>
        <p:spPr>
          <a:xfrm>
            <a:off x="2221992" y="3337560"/>
            <a:ext cx="402336" cy="402336"/>
          </a:xfrm>
          <a:prstGeom prst="rect">
            <a:avLst/>
          </a:prstGeom>
          <a:solidFill>
            <a:srgbClr val="0F9B8E"/>
          </a:solidFill>
          <a:ln w="12700">
            <a:solidFill>
              <a:srgbClr val="0F9B8E"/>
            </a:solidFill>
            <a:prstDash val="solid"/>
          </a:ln>
        </p:spPr>
      </p:sp>
      <p:pic>
        <p:nvPicPr>
          <p:cNvPr id="36" name="Image 7" descr="preencoded.png"/>
          <p:cNvPicPr>
            <a:picLocks noChangeAspect="1"/>
          </p:cNvPicPr>
          <p:nvPr/>
        </p:nvPicPr>
        <p:blipFill>
          <a:blip r:embed="rId6"/>
          <a:stretch>
            <a:fillRect/>
          </a:stretch>
        </p:blipFill>
        <p:spPr>
          <a:xfrm>
            <a:off x="2292401" y="3407969"/>
            <a:ext cx="261518" cy="261518"/>
          </a:xfrm>
          <a:prstGeom prst="rect">
            <a:avLst/>
          </a:prstGeom>
        </p:spPr>
      </p:pic>
      <p:sp>
        <p:nvSpPr>
          <p:cNvPr id="37" name="Text 27"/>
          <p:cNvSpPr/>
          <p:nvPr/>
        </p:nvSpPr>
        <p:spPr>
          <a:xfrm>
            <a:off x="2167128" y="3813048"/>
            <a:ext cx="731520" cy="201168"/>
          </a:xfrm>
          <a:prstGeom prst="rect">
            <a:avLst/>
          </a:prstGeom>
          <a:noFill/>
        </p:spPr>
        <p:txBody>
          <a:bodyPr wrap="square" lIns="0" tIns="0" rIns="0" bIns="0" rtlCol="0" anchor="ctr"/>
          <a:lstStyle/>
          <a:p>
            <a:pPr marL="0" indent="0" algn="ctr">
              <a:buNone/>
            </a:pPr>
            <a:r>
              <a:rPr lang="en-US" sz="950" b="1" dirty="0">
                <a:solidFill>
                  <a:srgbClr val="0D2137"/>
                </a:solidFill>
              </a:rPr>
              <a:t>Assess</a:t>
            </a:r>
            <a:endParaRPr lang="en-US" sz="950" dirty="0"/>
          </a:p>
        </p:txBody>
      </p:sp>
      <p:sp>
        <p:nvSpPr>
          <p:cNvPr id="38" name="Text 28"/>
          <p:cNvSpPr/>
          <p:nvPr/>
        </p:nvSpPr>
        <p:spPr>
          <a:xfrm>
            <a:off x="2075688" y="4014216"/>
            <a:ext cx="914400" cy="420624"/>
          </a:xfrm>
          <a:prstGeom prst="rect">
            <a:avLst/>
          </a:prstGeom>
          <a:noFill/>
        </p:spPr>
        <p:txBody>
          <a:bodyPr wrap="square" lIns="0" tIns="0" rIns="0" bIns="0" rtlCol="0" anchor="ctr"/>
          <a:lstStyle/>
          <a:p>
            <a:pPr marL="0" indent="0" algn="ctr">
              <a:buNone/>
            </a:pPr>
            <a:r>
              <a:rPr lang="en-US" sz="800" dirty="0">
                <a:solidFill>
                  <a:srgbClr val="5A7B96"/>
                </a:solidFill>
              </a:rPr>
              <a:t>Evaluate severity &amp; priority</a:t>
            </a:r>
            <a:endParaRPr lang="en-US" sz="800" dirty="0"/>
          </a:p>
        </p:txBody>
      </p:sp>
      <p:pic>
        <p:nvPicPr>
          <p:cNvPr id="39" name="Image 8" descr="preencoded.png"/>
          <p:cNvPicPr>
            <a:picLocks noChangeAspect="1"/>
          </p:cNvPicPr>
          <p:nvPr/>
        </p:nvPicPr>
        <p:blipFill>
          <a:blip r:embed="rId5"/>
          <a:stretch>
            <a:fillRect/>
          </a:stretch>
        </p:blipFill>
        <p:spPr>
          <a:xfrm>
            <a:off x="2788920" y="3447288"/>
            <a:ext cx="329184" cy="201168"/>
          </a:xfrm>
          <a:prstGeom prst="rect">
            <a:avLst/>
          </a:prstGeom>
        </p:spPr>
      </p:pic>
      <p:sp>
        <p:nvSpPr>
          <p:cNvPr id="40" name="Shape 29"/>
          <p:cNvSpPr/>
          <p:nvPr/>
        </p:nvSpPr>
        <p:spPr>
          <a:xfrm>
            <a:off x="3886200" y="3337560"/>
            <a:ext cx="402336" cy="402336"/>
          </a:xfrm>
          <a:prstGeom prst="rect">
            <a:avLst/>
          </a:prstGeom>
          <a:solidFill>
            <a:srgbClr val="E07B00"/>
          </a:solidFill>
          <a:ln w="12700">
            <a:solidFill>
              <a:srgbClr val="E07B00"/>
            </a:solidFill>
            <a:prstDash val="solid"/>
          </a:ln>
        </p:spPr>
      </p:sp>
      <p:pic>
        <p:nvPicPr>
          <p:cNvPr id="41" name="Image 9" descr="preencoded.png"/>
          <p:cNvPicPr>
            <a:picLocks noChangeAspect="1"/>
          </p:cNvPicPr>
          <p:nvPr/>
        </p:nvPicPr>
        <p:blipFill>
          <a:blip r:embed="rId1"/>
          <a:stretch>
            <a:fillRect/>
          </a:stretch>
        </p:blipFill>
        <p:spPr>
          <a:xfrm>
            <a:off x="3956609" y="3407969"/>
            <a:ext cx="261518" cy="261518"/>
          </a:xfrm>
          <a:prstGeom prst="rect">
            <a:avLst/>
          </a:prstGeom>
        </p:spPr>
      </p:pic>
      <p:sp>
        <p:nvSpPr>
          <p:cNvPr id="42" name="Text 30"/>
          <p:cNvSpPr/>
          <p:nvPr/>
        </p:nvSpPr>
        <p:spPr>
          <a:xfrm>
            <a:off x="3831336" y="3813048"/>
            <a:ext cx="731520" cy="201168"/>
          </a:xfrm>
          <a:prstGeom prst="rect">
            <a:avLst/>
          </a:prstGeom>
          <a:noFill/>
        </p:spPr>
        <p:txBody>
          <a:bodyPr wrap="square" lIns="0" tIns="0" rIns="0" bIns="0" rtlCol="0" anchor="ctr"/>
          <a:lstStyle/>
          <a:p>
            <a:pPr marL="0" indent="0" algn="ctr">
              <a:buNone/>
            </a:pPr>
            <a:r>
              <a:rPr lang="en-US" sz="950" b="1" dirty="0">
                <a:solidFill>
                  <a:srgbClr val="0D2137"/>
                </a:solidFill>
              </a:rPr>
              <a:t>Reduce</a:t>
            </a:r>
            <a:endParaRPr lang="en-US" sz="950" dirty="0"/>
          </a:p>
        </p:txBody>
      </p:sp>
      <p:sp>
        <p:nvSpPr>
          <p:cNvPr id="43" name="Text 31"/>
          <p:cNvSpPr/>
          <p:nvPr/>
        </p:nvSpPr>
        <p:spPr>
          <a:xfrm>
            <a:off x="3739896" y="4014216"/>
            <a:ext cx="914400" cy="420624"/>
          </a:xfrm>
          <a:prstGeom prst="rect">
            <a:avLst/>
          </a:prstGeom>
          <a:noFill/>
        </p:spPr>
        <p:txBody>
          <a:bodyPr wrap="square" lIns="0" tIns="0" rIns="0" bIns="0" rtlCol="0" anchor="ctr"/>
          <a:lstStyle/>
          <a:p>
            <a:pPr marL="0" indent="0" algn="ctr">
              <a:buNone/>
            </a:pPr>
            <a:r>
              <a:rPr lang="en-US" sz="800" dirty="0">
                <a:solidFill>
                  <a:srgbClr val="5A7B96"/>
                </a:solidFill>
              </a:rPr>
              <a:t>Mitigate before deployment</a:t>
            </a:r>
            <a:endParaRPr lang="en-US" sz="800" dirty="0"/>
          </a:p>
        </p:txBody>
      </p:sp>
      <p:pic>
        <p:nvPicPr>
          <p:cNvPr id="44" name="Image 10" descr="preencoded.png"/>
          <p:cNvPicPr>
            <a:picLocks noChangeAspect="1"/>
          </p:cNvPicPr>
          <p:nvPr/>
        </p:nvPicPr>
        <p:blipFill>
          <a:blip r:embed="rId5"/>
          <a:stretch>
            <a:fillRect/>
          </a:stretch>
        </p:blipFill>
        <p:spPr>
          <a:xfrm>
            <a:off x="4453128" y="3447288"/>
            <a:ext cx="329184" cy="201168"/>
          </a:xfrm>
          <a:prstGeom prst="rect">
            <a:avLst/>
          </a:prstGeom>
        </p:spPr>
      </p:pic>
      <p:sp>
        <p:nvSpPr>
          <p:cNvPr id="45" name="Shape 32"/>
          <p:cNvSpPr/>
          <p:nvPr/>
        </p:nvSpPr>
        <p:spPr>
          <a:xfrm>
            <a:off x="5550408" y="3337560"/>
            <a:ext cx="402336" cy="402336"/>
          </a:xfrm>
          <a:prstGeom prst="rect">
            <a:avLst/>
          </a:prstGeom>
          <a:solidFill>
            <a:srgbClr val="2E7D32"/>
          </a:solidFill>
          <a:ln w="12700">
            <a:solidFill>
              <a:srgbClr val="2E7D32"/>
            </a:solidFill>
            <a:prstDash val="solid"/>
          </a:ln>
        </p:spPr>
      </p:sp>
      <p:pic>
        <p:nvPicPr>
          <p:cNvPr id="46" name="Image 11" descr="preencoded.png"/>
          <p:cNvPicPr>
            <a:picLocks noChangeAspect="1"/>
          </p:cNvPicPr>
          <p:nvPr/>
        </p:nvPicPr>
        <p:blipFill>
          <a:blip r:embed="rId7"/>
          <a:stretch>
            <a:fillRect/>
          </a:stretch>
        </p:blipFill>
        <p:spPr>
          <a:xfrm>
            <a:off x="5620817" y="3407969"/>
            <a:ext cx="261518" cy="261518"/>
          </a:xfrm>
          <a:prstGeom prst="rect">
            <a:avLst/>
          </a:prstGeom>
        </p:spPr>
      </p:pic>
      <p:sp>
        <p:nvSpPr>
          <p:cNvPr id="47" name="Text 33"/>
          <p:cNvSpPr/>
          <p:nvPr/>
        </p:nvSpPr>
        <p:spPr>
          <a:xfrm>
            <a:off x="5495544" y="3813048"/>
            <a:ext cx="731520" cy="201168"/>
          </a:xfrm>
          <a:prstGeom prst="rect">
            <a:avLst/>
          </a:prstGeom>
          <a:noFill/>
        </p:spPr>
        <p:txBody>
          <a:bodyPr wrap="square" lIns="0" tIns="0" rIns="0" bIns="0" rtlCol="0" anchor="ctr"/>
          <a:lstStyle/>
          <a:p>
            <a:pPr marL="0" indent="0" algn="ctr">
              <a:buNone/>
            </a:pPr>
            <a:r>
              <a:rPr lang="en-US" sz="950" b="1" dirty="0">
                <a:solidFill>
                  <a:srgbClr val="0D2137"/>
                </a:solidFill>
              </a:rPr>
              <a:t>Monitor</a:t>
            </a:r>
            <a:endParaRPr lang="en-US" sz="950" dirty="0"/>
          </a:p>
        </p:txBody>
      </p:sp>
      <p:sp>
        <p:nvSpPr>
          <p:cNvPr id="48" name="Text 34"/>
          <p:cNvSpPr/>
          <p:nvPr/>
        </p:nvSpPr>
        <p:spPr>
          <a:xfrm>
            <a:off x="5404104" y="4014216"/>
            <a:ext cx="914400" cy="420624"/>
          </a:xfrm>
          <a:prstGeom prst="rect">
            <a:avLst/>
          </a:prstGeom>
          <a:noFill/>
        </p:spPr>
        <p:txBody>
          <a:bodyPr wrap="square" lIns="0" tIns="0" rIns="0" bIns="0" rtlCol="0" anchor="ctr"/>
          <a:lstStyle/>
          <a:p>
            <a:pPr marL="0" indent="0" algn="ctr">
              <a:buNone/>
            </a:pPr>
            <a:r>
              <a:rPr lang="en-US" sz="800" dirty="0">
                <a:solidFill>
                  <a:srgbClr val="5A7B96"/>
                </a:solidFill>
              </a:rPr>
              <a:t>Watch continuously for threats</a:t>
            </a:r>
            <a:endParaRPr lang="en-US" sz="800" dirty="0"/>
          </a:p>
        </p:txBody>
      </p:sp>
      <p:pic>
        <p:nvPicPr>
          <p:cNvPr id="49" name="Image 12" descr="preencoded.png"/>
          <p:cNvPicPr>
            <a:picLocks noChangeAspect="1"/>
          </p:cNvPicPr>
          <p:nvPr/>
        </p:nvPicPr>
        <p:blipFill>
          <a:blip r:embed="rId5"/>
          <a:stretch>
            <a:fillRect/>
          </a:stretch>
        </p:blipFill>
        <p:spPr>
          <a:xfrm>
            <a:off x="6117336" y="3447288"/>
            <a:ext cx="329184" cy="201168"/>
          </a:xfrm>
          <a:prstGeom prst="rect">
            <a:avLst/>
          </a:prstGeom>
        </p:spPr>
      </p:pic>
      <p:sp>
        <p:nvSpPr>
          <p:cNvPr id="50" name="Shape 35"/>
          <p:cNvSpPr/>
          <p:nvPr/>
        </p:nvSpPr>
        <p:spPr>
          <a:xfrm>
            <a:off x="7214616" y="3337560"/>
            <a:ext cx="402336" cy="402336"/>
          </a:xfrm>
          <a:prstGeom prst="rect">
            <a:avLst/>
          </a:prstGeom>
          <a:solidFill>
            <a:srgbClr val="1B6CA8"/>
          </a:solidFill>
          <a:ln w="12700">
            <a:solidFill>
              <a:srgbClr val="1B6CA8"/>
            </a:solidFill>
            <a:prstDash val="solid"/>
          </a:ln>
        </p:spPr>
      </p:sp>
      <p:pic>
        <p:nvPicPr>
          <p:cNvPr id="51" name="Image 13" descr="preencoded.png"/>
          <p:cNvPicPr>
            <a:picLocks noChangeAspect="1"/>
          </p:cNvPicPr>
          <p:nvPr/>
        </p:nvPicPr>
        <p:blipFill>
          <a:blip r:embed="rId8"/>
          <a:stretch>
            <a:fillRect/>
          </a:stretch>
        </p:blipFill>
        <p:spPr>
          <a:xfrm>
            <a:off x="7285025" y="3407969"/>
            <a:ext cx="261518" cy="261518"/>
          </a:xfrm>
          <a:prstGeom prst="rect">
            <a:avLst/>
          </a:prstGeom>
        </p:spPr>
      </p:pic>
      <p:sp>
        <p:nvSpPr>
          <p:cNvPr id="52" name="Text 36"/>
          <p:cNvSpPr/>
          <p:nvPr/>
        </p:nvSpPr>
        <p:spPr>
          <a:xfrm>
            <a:off x="7159752" y="3813048"/>
            <a:ext cx="731520" cy="201168"/>
          </a:xfrm>
          <a:prstGeom prst="rect">
            <a:avLst/>
          </a:prstGeom>
          <a:noFill/>
        </p:spPr>
        <p:txBody>
          <a:bodyPr wrap="square" lIns="0" tIns="0" rIns="0" bIns="0" rtlCol="0" anchor="ctr"/>
          <a:lstStyle/>
          <a:p>
            <a:pPr marL="0" indent="0" algn="ctr">
              <a:buNone/>
            </a:pPr>
            <a:r>
              <a:rPr lang="en-US" sz="950" b="1" dirty="0">
                <a:solidFill>
                  <a:srgbClr val="0D2137"/>
                </a:solidFill>
              </a:rPr>
              <a:t>Protect</a:t>
            </a:r>
            <a:endParaRPr lang="en-US" sz="950" dirty="0"/>
          </a:p>
        </p:txBody>
      </p:sp>
      <p:sp>
        <p:nvSpPr>
          <p:cNvPr id="53" name="Text 37"/>
          <p:cNvSpPr/>
          <p:nvPr/>
        </p:nvSpPr>
        <p:spPr>
          <a:xfrm>
            <a:off x="7068312" y="4014216"/>
            <a:ext cx="914400" cy="420624"/>
          </a:xfrm>
          <a:prstGeom prst="rect">
            <a:avLst/>
          </a:prstGeom>
          <a:noFill/>
        </p:spPr>
        <p:txBody>
          <a:bodyPr wrap="square" lIns="0" tIns="0" rIns="0" bIns="0" rtlCol="0" anchor="ctr"/>
          <a:lstStyle/>
          <a:p>
            <a:pPr marL="0" indent="0" algn="ctr">
              <a:buNone/>
            </a:pPr>
            <a:r>
              <a:rPr lang="en-US" sz="800" dirty="0">
                <a:solidFill>
                  <a:srgbClr val="5A7B96"/>
                </a:solidFill>
              </a:rPr>
              <a:t>Shield people &amp; organizations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04  Types of Risk</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Types of AI Cyber Risk</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4160520" cy="178308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320040" y="1051560"/>
            <a:ext cx="4160520" cy="256032"/>
          </a:xfrm>
          <a:prstGeom prst="rect">
            <a:avLst/>
          </a:prstGeom>
          <a:solidFill>
            <a:srgbClr val="D94F3D"/>
          </a:solidFill>
          <a:ln w="12700">
            <a:solidFill>
              <a:srgbClr val="D94F3D"/>
            </a:solidFill>
            <a:prstDash val="solid"/>
          </a:ln>
        </p:spPr>
      </p:sp>
      <p:sp>
        <p:nvSpPr>
          <p:cNvPr id="8" name="Text 6"/>
          <p:cNvSpPr/>
          <p:nvPr/>
        </p:nvSpPr>
        <p:spPr>
          <a:xfrm>
            <a:off x="320040" y="1051560"/>
            <a:ext cx="4160520" cy="256032"/>
          </a:xfrm>
          <a:prstGeom prst="rect">
            <a:avLst/>
          </a:prstGeom>
          <a:noFill/>
        </p:spPr>
        <p:txBody>
          <a:bodyPr wrap="square" lIns="0" tIns="0" rIns="0" bIns="0" rtlCol="0" anchor="ctr"/>
          <a:lstStyle/>
          <a:p>
            <a:pPr marL="0" indent="0" algn="ctr">
              <a:buNone/>
            </a:pPr>
            <a:r>
              <a:rPr lang="en-US" sz="750" b="1" dirty="0">
                <a:solidFill>
                  <a:srgbClr val="FFFFFF"/>
                </a:solidFill>
              </a:rPr>
              <a:t>HIGH RISK</a:t>
            </a:r>
            <a:endParaRPr lang="en-US" sz="750" dirty="0"/>
          </a:p>
        </p:txBody>
      </p:sp>
      <p:sp>
        <p:nvSpPr>
          <p:cNvPr id="9" name="Shape 7"/>
          <p:cNvSpPr/>
          <p:nvPr/>
        </p:nvSpPr>
        <p:spPr>
          <a:xfrm>
            <a:off x="484632" y="1417320"/>
            <a:ext cx="438912" cy="438912"/>
          </a:xfrm>
          <a:prstGeom prst="rect">
            <a:avLst/>
          </a:prstGeom>
          <a:solidFill>
            <a:srgbClr val="D94F3D"/>
          </a:solidFill>
          <a:ln w="12700">
            <a:solidFill>
              <a:srgbClr val="D94F3D"/>
            </a:solidFill>
            <a:prstDash val="solid"/>
          </a:ln>
        </p:spPr>
      </p:sp>
      <p:pic>
        <p:nvPicPr>
          <p:cNvPr id="10" name="Image 0" descr="preencoded.png"/>
          <p:cNvPicPr>
            <a:picLocks noChangeAspect="1"/>
          </p:cNvPicPr>
          <p:nvPr/>
        </p:nvPicPr>
        <p:blipFill>
          <a:blip r:embed="rId1"/>
          <a:stretch>
            <a:fillRect/>
          </a:stretch>
        </p:blipFill>
        <p:spPr>
          <a:xfrm>
            <a:off x="561442" y="1494130"/>
            <a:ext cx="285293" cy="285293"/>
          </a:xfrm>
          <a:prstGeom prst="rect">
            <a:avLst/>
          </a:prstGeom>
        </p:spPr>
      </p:pic>
      <p:sp>
        <p:nvSpPr>
          <p:cNvPr id="11" name="Text 8"/>
          <p:cNvSpPr/>
          <p:nvPr/>
        </p:nvSpPr>
        <p:spPr>
          <a:xfrm>
            <a:off x="1069848" y="1371600"/>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Prompt Injection</a:t>
            </a:r>
            <a:endParaRPr lang="en-US" sz="1100" dirty="0"/>
          </a:p>
        </p:txBody>
      </p:sp>
      <p:sp>
        <p:nvSpPr>
          <p:cNvPr id="12" name="Text 9"/>
          <p:cNvSpPr/>
          <p:nvPr/>
        </p:nvSpPr>
        <p:spPr>
          <a:xfrm>
            <a:off x="448056" y="1892808"/>
            <a:ext cx="3904488" cy="512064"/>
          </a:xfrm>
          <a:prstGeom prst="rect">
            <a:avLst/>
          </a:prstGeom>
          <a:noFill/>
        </p:spPr>
        <p:txBody>
          <a:bodyPr wrap="square" lIns="0" tIns="0" rIns="0" bIns="0" rtlCol="0" anchor="t"/>
          <a:lstStyle/>
          <a:p>
            <a:pPr marL="0" indent="0" algn="l">
              <a:buNone/>
            </a:pPr>
            <a:r>
              <a:rPr lang="en-US" sz="900" dirty="0">
                <a:solidFill>
                  <a:srgbClr val="1A2B3C"/>
                </a:solidFill>
              </a:rPr>
              <a:t>Malicious user input tricks an AI into ignoring its system instructions and executing the attacker's hidden commands instead.</a:t>
            </a:r>
            <a:endParaRPr lang="en-US" sz="900" dirty="0"/>
          </a:p>
        </p:txBody>
      </p:sp>
      <p:sp>
        <p:nvSpPr>
          <p:cNvPr id="13" name="Text 10"/>
          <p:cNvSpPr/>
          <p:nvPr/>
        </p:nvSpPr>
        <p:spPr>
          <a:xfrm>
            <a:off x="448056" y="2423160"/>
            <a:ext cx="3904488" cy="329184"/>
          </a:xfrm>
          <a:prstGeom prst="rect">
            <a:avLst/>
          </a:prstGeom>
          <a:noFill/>
        </p:spPr>
        <p:txBody>
          <a:bodyPr wrap="square" lIns="0" tIns="0" rIns="0" bIns="0" rtlCol="0" anchor="ctr"/>
          <a:lstStyle/>
          <a:p>
            <a:pPr marL="0" indent="0" algn="l">
              <a:buNone/>
            </a:pPr>
            <a:r>
              <a:rPr lang="en-US" sz="850" i="1" dirty="0">
                <a:solidFill>
                  <a:srgbClr val="5A7B96"/>
                </a:solidFill>
              </a:rPr>
              <a:t>→ A user crafts input that overrides the AI's safety rules and extracts confidential data.</a:t>
            </a:r>
            <a:endParaRPr lang="en-US" sz="850" dirty="0"/>
          </a:p>
        </p:txBody>
      </p:sp>
      <p:sp>
        <p:nvSpPr>
          <p:cNvPr id="14" name="Shape 11"/>
          <p:cNvSpPr/>
          <p:nvPr/>
        </p:nvSpPr>
        <p:spPr>
          <a:xfrm>
            <a:off x="4663440" y="1051560"/>
            <a:ext cx="4160520" cy="178308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5" name="Shape 12"/>
          <p:cNvSpPr/>
          <p:nvPr/>
        </p:nvSpPr>
        <p:spPr>
          <a:xfrm>
            <a:off x="4663440" y="1051560"/>
            <a:ext cx="4160520" cy="256032"/>
          </a:xfrm>
          <a:prstGeom prst="rect">
            <a:avLst/>
          </a:prstGeom>
          <a:solidFill>
            <a:srgbClr val="E07B00"/>
          </a:solidFill>
          <a:ln w="12700">
            <a:solidFill>
              <a:srgbClr val="E07B00"/>
            </a:solidFill>
            <a:prstDash val="solid"/>
          </a:ln>
        </p:spPr>
      </p:sp>
      <p:sp>
        <p:nvSpPr>
          <p:cNvPr id="16" name="Text 13"/>
          <p:cNvSpPr/>
          <p:nvPr/>
        </p:nvSpPr>
        <p:spPr>
          <a:xfrm>
            <a:off x="4663440" y="1051560"/>
            <a:ext cx="4160520" cy="256032"/>
          </a:xfrm>
          <a:prstGeom prst="rect">
            <a:avLst/>
          </a:prstGeom>
          <a:noFill/>
        </p:spPr>
        <p:txBody>
          <a:bodyPr wrap="square" lIns="0" tIns="0" rIns="0" bIns="0" rtlCol="0" anchor="ctr"/>
          <a:lstStyle/>
          <a:p>
            <a:pPr marL="0" indent="0" algn="ctr">
              <a:buNone/>
            </a:pPr>
            <a:r>
              <a:rPr lang="en-US" sz="750" b="1" dirty="0">
                <a:solidFill>
                  <a:srgbClr val="FFFFFF"/>
                </a:solidFill>
              </a:rPr>
              <a:t>HIGH RISK</a:t>
            </a:r>
            <a:endParaRPr lang="en-US" sz="750" dirty="0"/>
          </a:p>
        </p:txBody>
      </p:sp>
      <p:sp>
        <p:nvSpPr>
          <p:cNvPr id="17" name="Shape 14"/>
          <p:cNvSpPr/>
          <p:nvPr/>
        </p:nvSpPr>
        <p:spPr>
          <a:xfrm>
            <a:off x="4828032" y="1417320"/>
            <a:ext cx="438912" cy="438912"/>
          </a:xfrm>
          <a:prstGeom prst="rect">
            <a:avLst/>
          </a:prstGeom>
          <a:solidFill>
            <a:srgbClr val="E07B00"/>
          </a:solidFill>
          <a:ln w="12700">
            <a:solidFill>
              <a:srgbClr val="E07B00"/>
            </a:solidFill>
            <a:prstDash val="solid"/>
          </a:ln>
        </p:spPr>
      </p:sp>
      <p:pic>
        <p:nvPicPr>
          <p:cNvPr id="18" name="Image 1" descr="preencoded.png"/>
          <p:cNvPicPr>
            <a:picLocks noChangeAspect="1"/>
          </p:cNvPicPr>
          <p:nvPr/>
        </p:nvPicPr>
        <p:blipFill>
          <a:blip r:embed="rId2"/>
          <a:stretch>
            <a:fillRect/>
          </a:stretch>
        </p:blipFill>
        <p:spPr>
          <a:xfrm>
            <a:off x="4904842" y="1494130"/>
            <a:ext cx="285293" cy="285293"/>
          </a:xfrm>
          <a:prstGeom prst="rect">
            <a:avLst/>
          </a:prstGeom>
        </p:spPr>
      </p:pic>
      <p:sp>
        <p:nvSpPr>
          <p:cNvPr id="19" name="Text 15"/>
          <p:cNvSpPr/>
          <p:nvPr/>
        </p:nvSpPr>
        <p:spPr>
          <a:xfrm>
            <a:off x="5413248" y="1371600"/>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Denial of Service (DoS)</a:t>
            </a:r>
            <a:endParaRPr lang="en-US" sz="1100" dirty="0"/>
          </a:p>
        </p:txBody>
      </p:sp>
      <p:sp>
        <p:nvSpPr>
          <p:cNvPr id="20" name="Text 16"/>
          <p:cNvSpPr/>
          <p:nvPr/>
        </p:nvSpPr>
        <p:spPr>
          <a:xfrm>
            <a:off x="4791456" y="1892808"/>
            <a:ext cx="3904488" cy="512064"/>
          </a:xfrm>
          <a:prstGeom prst="rect">
            <a:avLst/>
          </a:prstGeom>
          <a:noFill/>
        </p:spPr>
        <p:txBody>
          <a:bodyPr wrap="square" lIns="0" tIns="0" rIns="0" bIns="0" rtlCol="0" anchor="t"/>
          <a:lstStyle/>
          <a:p>
            <a:pPr marL="0" indent="0" algn="l">
              <a:buNone/>
            </a:pPr>
            <a:r>
              <a:rPr lang="en-US" sz="900" dirty="0">
                <a:solidFill>
                  <a:srgbClr val="1A2B3C"/>
                </a:solidFill>
              </a:rPr>
              <a:t>A cyber attack that floods a system with excessive traffic or requests to make it unavailable to legitimate users.</a:t>
            </a:r>
            <a:endParaRPr lang="en-US" sz="900" dirty="0"/>
          </a:p>
        </p:txBody>
      </p:sp>
      <p:sp>
        <p:nvSpPr>
          <p:cNvPr id="21" name="Text 17"/>
          <p:cNvSpPr/>
          <p:nvPr/>
        </p:nvSpPr>
        <p:spPr>
          <a:xfrm>
            <a:off x="4791456" y="2423160"/>
            <a:ext cx="3904488" cy="329184"/>
          </a:xfrm>
          <a:prstGeom prst="rect">
            <a:avLst/>
          </a:prstGeom>
          <a:noFill/>
        </p:spPr>
        <p:txBody>
          <a:bodyPr wrap="square" lIns="0" tIns="0" rIns="0" bIns="0" rtlCol="0" anchor="ctr"/>
          <a:lstStyle/>
          <a:p>
            <a:pPr marL="0" indent="0" algn="l">
              <a:buNone/>
            </a:pPr>
            <a:r>
              <a:rPr lang="en-US" sz="850" i="1" dirty="0">
                <a:solidFill>
                  <a:srgbClr val="5A7B96"/>
                </a:solidFill>
              </a:rPr>
              <a:t>→ AI systems become unresponsive, causing operational failure and financial loss.</a:t>
            </a:r>
            <a:endParaRPr lang="en-US" sz="850" dirty="0"/>
          </a:p>
        </p:txBody>
      </p:sp>
      <p:sp>
        <p:nvSpPr>
          <p:cNvPr id="22" name="Shape 18"/>
          <p:cNvSpPr/>
          <p:nvPr/>
        </p:nvSpPr>
        <p:spPr>
          <a:xfrm>
            <a:off x="320040" y="2990088"/>
            <a:ext cx="4160520" cy="178308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23" name="Shape 19"/>
          <p:cNvSpPr/>
          <p:nvPr/>
        </p:nvSpPr>
        <p:spPr>
          <a:xfrm>
            <a:off x="320040" y="2990088"/>
            <a:ext cx="4160520" cy="256032"/>
          </a:xfrm>
          <a:prstGeom prst="rect">
            <a:avLst/>
          </a:prstGeom>
          <a:solidFill>
            <a:srgbClr val="D94F3D"/>
          </a:solidFill>
          <a:ln w="12700">
            <a:solidFill>
              <a:srgbClr val="D94F3D"/>
            </a:solidFill>
            <a:prstDash val="solid"/>
          </a:ln>
        </p:spPr>
      </p:sp>
      <p:sp>
        <p:nvSpPr>
          <p:cNvPr id="24" name="Text 20"/>
          <p:cNvSpPr/>
          <p:nvPr/>
        </p:nvSpPr>
        <p:spPr>
          <a:xfrm>
            <a:off x="320040" y="2990088"/>
            <a:ext cx="4160520" cy="256032"/>
          </a:xfrm>
          <a:prstGeom prst="rect">
            <a:avLst/>
          </a:prstGeom>
          <a:noFill/>
        </p:spPr>
        <p:txBody>
          <a:bodyPr wrap="square" lIns="0" tIns="0" rIns="0" bIns="0" rtlCol="0" anchor="ctr"/>
          <a:lstStyle/>
          <a:p>
            <a:pPr marL="0" indent="0" algn="ctr">
              <a:buNone/>
            </a:pPr>
            <a:r>
              <a:rPr lang="en-US" sz="750" b="1" dirty="0">
                <a:solidFill>
                  <a:srgbClr val="FFFFFF"/>
                </a:solidFill>
              </a:rPr>
              <a:t>CRITICAL</a:t>
            </a:r>
            <a:endParaRPr lang="en-US" sz="750" dirty="0"/>
          </a:p>
        </p:txBody>
      </p:sp>
      <p:sp>
        <p:nvSpPr>
          <p:cNvPr id="25" name="Shape 21"/>
          <p:cNvSpPr/>
          <p:nvPr/>
        </p:nvSpPr>
        <p:spPr>
          <a:xfrm>
            <a:off x="484632" y="3355848"/>
            <a:ext cx="438912" cy="438912"/>
          </a:xfrm>
          <a:prstGeom prst="rect">
            <a:avLst/>
          </a:prstGeom>
          <a:solidFill>
            <a:srgbClr val="D94F3D"/>
          </a:solidFill>
          <a:ln w="12700">
            <a:solidFill>
              <a:srgbClr val="D94F3D"/>
            </a:solidFill>
            <a:prstDash val="solid"/>
          </a:ln>
        </p:spPr>
      </p:sp>
      <p:pic>
        <p:nvPicPr>
          <p:cNvPr id="26" name="Image 2" descr="preencoded.png"/>
          <p:cNvPicPr>
            <a:picLocks noChangeAspect="1"/>
          </p:cNvPicPr>
          <p:nvPr/>
        </p:nvPicPr>
        <p:blipFill>
          <a:blip r:embed="rId3"/>
          <a:stretch>
            <a:fillRect/>
          </a:stretch>
        </p:blipFill>
        <p:spPr>
          <a:xfrm>
            <a:off x="561442" y="3432658"/>
            <a:ext cx="285293" cy="285293"/>
          </a:xfrm>
          <a:prstGeom prst="rect">
            <a:avLst/>
          </a:prstGeom>
        </p:spPr>
      </p:pic>
      <p:sp>
        <p:nvSpPr>
          <p:cNvPr id="27" name="Text 22"/>
          <p:cNvSpPr/>
          <p:nvPr/>
        </p:nvSpPr>
        <p:spPr>
          <a:xfrm>
            <a:off x="1069848" y="3310128"/>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Session Hijacking</a:t>
            </a:r>
            <a:endParaRPr lang="en-US" sz="1100" dirty="0"/>
          </a:p>
        </p:txBody>
      </p:sp>
      <p:sp>
        <p:nvSpPr>
          <p:cNvPr id="28" name="Text 23"/>
          <p:cNvSpPr/>
          <p:nvPr/>
        </p:nvSpPr>
        <p:spPr>
          <a:xfrm>
            <a:off x="448056" y="3831336"/>
            <a:ext cx="3904488" cy="512064"/>
          </a:xfrm>
          <a:prstGeom prst="rect">
            <a:avLst/>
          </a:prstGeom>
          <a:noFill/>
        </p:spPr>
        <p:txBody>
          <a:bodyPr wrap="square" lIns="0" tIns="0" rIns="0" bIns="0" rtlCol="0" anchor="t"/>
          <a:lstStyle/>
          <a:p>
            <a:pPr marL="0" indent="0" algn="l">
              <a:buNone/>
            </a:pPr>
            <a:r>
              <a:rPr lang="en-US" sz="900" dirty="0">
                <a:solidFill>
                  <a:srgbClr val="1A2B3C"/>
                </a:solidFill>
              </a:rPr>
              <a:t>An attack where an adversary steals or predicts a user's active session token to impersonate them and gain unauthorized access.</a:t>
            </a:r>
            <a:endParaRPr lang="en-US" sz="900" dirty="0"/>
          </a:p>
        </p:txBody>
      </p:sp>
      <p:sp>
        <p:nvSpPr>
          <p:cNvPr id="29" name="Text 24"/>
          <p:cNvSpPr/>
          <p:nvPr/>
        </p:nvSpPr>
        <p:spPr>
          <a:xfrm>
            <a:off x="448056" y="4361688"/>
            <a:ext cx="3904488" cy="329184"/>
          </a:xfrm>
          <a:prstGeom prst="rect">
            <a:avLst/>
          </a:prstGeom>
          <a:noFill/>
        </p:spPr>
        <p:txBody>
          <a:bodyPr wrap="square" lIns="0" tIns="0" rIns="0" bIns="0" rtlCol="0" anchor="ctr"/>
          <a:lstStyle/>
          <a:p>
            <a:pPr marL="0" indent="0" algn="l">
              <a:buNone/>
            </a:pPr>
            <a:r>
              <a:rPr lang="en-US" sz="850" i="1" dirty="0">
                <a:solidFill>
                  <a:srgbClr val="5A7B96"/>
                </a:solidFill>
              </a:rPr>
              <a:t>→ Unauthorized access to sensitive user accounts and private data within AI platforms.</a:t>
            </a:r>
            <a:endParaRPr lang="en-US" sz="850" dirty="0"/>
          </a:p>
        </p:txBody>
      </p:sp>
      <p:sp>
        <p:nvSpPr>
          <p:cNvPr id="30" name="Shape 25"/>
          <p:cNvSpPr/>
          <p:nvPr/>
        </p:nvSpPr>
        <p:spPr>
          <a:xfrm>
            <a:off x="4663440" y="2990088"/>
            <a:ext cx="4160520" cy="178308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31" name="Shape 26"/>
          <p:cNvSpPr/>
          <p:nvPr/>
        </p:nvSpPr>
        <p:spPr>
          <a:xfrm>
            <a:off x="4663440" y="2990088"/>
            <a:ext cx="4160520" cy="256032"/>
          </a:xfrm>
          <a:prstGeom prst="rect">
            <a:avLst/>
          </a:prstGeom>
          <a:solidFill>
            <a:srgbClr val="D94F3D"/>
          </a:solidFill>
          <a:ln w="12700">
            <a:solidFill>
              <a:srgbClr val="D94F3D"/>
            </a:solidFill>
            <a:prstDash val="solid"/>
          </a:ln>
        </p:spPr>
      </p:sp>
      <p:sp>
        <p:nvSpPr>
          <p:cNvPr id="32" name="Text 27"/>
          <p:cNvSpPr/>
          <p:nvPr/>
        </p:nvSpPr>
        <p:spPr>
          <a:xfrm>
            <a:off x="4663440" y="2990088"/>
            <a:ext cx="4160520" cy="256032"/>
          </a:xfrm>
          <a:prstGeom prst="rect">
            <a:avLst/>
          </a:prstGeom>
          <a:noFill/>
        </p:spPr>
        <p:txBody>
          <a:bodyPr wrap="square" lIns="0" tIns="0" rIns="0" bIns="0" rtlCol="0" anchor="ctr"/>
          <a:lstStyle/>
          <a:p>
            <a:pPr marL="0" indent="0" algn="ctr">
              <a:buNone/>
            </a:pPr>
            <a:r>
              <a:rPr lang="en-US" sz="750" b="1" dirty="0">
                <a:solidFill>
                  <a:srgbClr val="FFFFFF"/>
                </a:solidFill>
              </a:rPr>
              <a:t>CRITICAL</a:t>
            </a:r>
            <a:endParaRPr lang="en-US" sz="750" dirty="0"/>
          </a:p>
        </p:txBody>
      </p:sp>
      <p:sp>
        <p:nvSpPr>
          <p:cNvPr id="33" name="Shape 28"/>
          <p:cNvSpPr/>
          <p:nvPr/>
        </p:nvSpPr>
        <p:spPr>
          <a:xfrm>
            <a:off x="4828032" y="3355848"/>
            <a:ext cx="438912" cy="438912"/>
          </a:xfrm>
          <a:prstGeom prst="rect">
            <a:avLst/>
          </a:prstGeom>
          <a:solidFill>
            <a:srgbClr val="D94F3D"/>
          </a:solidFill>
          <a:ln w="12700">
            <a:solidFill>
              <a:srgbClr val="D94F3D"/>
            </a:solidFill>
            <a:prstDash val="solid"/>
          </a:ln>
        </p:spPr>
      </p:sp>
      <p:pic>
        <p:nvPicPr>
          <p:cNvPr id="34" name="Image 3" descr="preencoded.png"/>
          <p:cNvPicPr>
            <a:picLocks noChangeAspect="1"/>
          </p:cNvPicPr>
          <p:nvPr/>
        </p:nvPicPr>
        <p:blipFill>
          <a:blip r:embed="rId4"/>
          <a:stretch>
            <a:fillRect/>
          </a:stretch>
        </p:blipFill>
        <p:spPr>
          <a:xfrm>
            <a:off x="4904842" y="3432658"/>
            <a:ext cx="285293" cy="285293"/>
          </a:xfrm>
          <a:prstGeom prst="rect">
            <a:avLst/>
          </a:prstGeom>
        </p:spPr>
      </p:pic>
      <p:sp>
        <p:nvSpPr>
          <p:cNvPr id="35" name="Text 29"/>
          <p:cNvSpPr/>
          <p:nvPr/>
        </p:nvSpPr>
        <p:spPr>
          <a:xfrm>
            <a:off x="5413248" y="3310128"/>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Data Poisoning</a:t>
            </a:r>
            <a:endParaRPr lang="en-US" sz="1100" dirty="0"/>
          </a:p>
        </p:txBody>
      </p:sp>
      <p:sp>
        <p:nvSpPr>
          <p:cNvPr id="36" name="Text 30"/>
          <p:cNvSpPr/>
          <p:nvPr/>
        </p:nvSpPr>
        <p:spPr>
          <a:xfrm>
            <a:off x="4791456" y="3831336"/>
            <a:ext cx="3904488" cy="512064"/>
          </a:xfrm>
          <a:prstGeom prst="rect">
            <a:avLst/>
          </a:prstGeom>
          <a:noFill/>
        </p:spPr>
        <p:txBody>
          <a:bodyPr wrap="square" lIns="0" tIns="0" rIns="0" bIns="0" rtlCol="0" anchor="t"/>
          <a:lstStyle/>
          <a:p>
            <a:pPr marL="0" indent="0" algn="l">
              <a:buNone/>
            </a:pPr>
            <a:r>
              <a:rPr lang="en-US" sz="900" dirty="0">
                <a:solidFill>
                  <a:srgbClr val="1A2B3C"/>
                </a:solidFill>
              </a:rPr>
              <a:t>Deliberately injecting malicious data into training datasets to corrupt, bias, or backdoor a machine learning model.</a:t>
            </a:r>
            <a:endParaRPr lang="en-US" sz="900" dirty="0"/>
          </a:p>
        </p:txBody>
      </p:sp>
      <p:sp>
        <p:nvSpPr>
          <p:cNvPr id="37" name="Text 31"/>
          <p:cNvSpPr/>
          <p:nvPr/>
        </p:nvSpPr>
        <p:spPr>
          <a:xfrm>
            <a:off x="4791456" y="4361688"/>
            <a:ext cx="3904488" cy="329184"/>
          </a:xfrm>
          <a:prstGeom prst="rect">
            <a:avLst/>
          </a:prstGeom>
          <a:noFill/>
        </p:spPr>
        <p:txBody>
          <a:bodyPr wrap="square" lIns="0" tIns="0" rIns="0" bIns="0" rtlCol="0" anchor="ctr"/>
          <a:lstStyle/>
          <a:p>
            <a:pPr marL="0" indent="0" algn="l">
              <a:buNone/>
            </a:pPr>
            <a:r>
              <a:rPr lang="en-US" sz="850" i="1" dirty="0">
                <a:solidFill>
                  <a:srgbClr val="5A7B96"/>
                </a:solidFill>
              </a:rPr>
              <a:t>→ AI makes systematically wrong or harmful decisions undetected, often for months.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05  Potential Risks</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Potential Risks in AI Systems</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4160520" cy="1810512"/>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448056" y="1197864"/>
            <a:ext cx="475488" cy="475488"/>
          </a:xfrm>
          <a:prstGeom prst="rect">
            <a:avLst/>
          </a:prstGeom>
          <a:solidFill>
            <a:srgbClr val="1B6CA8"/>
          </a:solidFill>
          <a:ln w="12700">
            <a:solidFill>
              <a:srgbClr val="1B6CA8"/>
            </a:solidFill>
            <a:prstDash val="solid"/>
          </a:ln>
        </p:spPr>
      </p:sp>
      <p:pic>
        <p:nvPicPr>
          <p:cNvPr id="8" name="Image 0" descr="preencoded.png"/>
          <p:cNvPicPr>
            <a:picLocks noChangeAspect="1"/>
          </p:cNvPicPr>
          <p:nvPr/>
        </p:nvPicPr>
        <p:blipFill>
          <a:blip r:embed="rId1"/>
          <a:stretch>
            <a:fillRect/>
          </a:stretch>
        </p:blipFill>
        <p:spPr>
          <a:xfrm>
            <a:off x="531266" y="1281074"/>
            <a:ext cx="309067" cy="309067"/>
          </a:xfrm>
          <a:prstGeom prst="rect">
            <a:avLst/>
          </a:prstGeom>
        </p:spPr>
      </p:pic>
      <p:sp>
        <p:nvSpPr>
          <p:cNvPr id="9" name="Text 6"/>
          <p:cNvSpPr/>
          <p:nvPr/>
        </p:nvSpPr>
        <p:spPr>
          <a:xfrm>
            <a:off x="1069848" y="1216152"/>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Technical Risks</a:t>
            </a:r>
            <a:endParaRPr lang="en-US" sz="1100" dirty="0"/>
          </a:p>
        </p:txBody>
      </p:sp>
      <p:sp>
        <p:nvSpPr>
          <p:cNvPr id="10" name="Text 7"/>
          <p:cNvSpPr/>
          <p:nvPr/>
        </p:nvSpPr>
        <p:spPr>
          <a:xfrm>
            <a:off x="448056" y="1746504"/>
            <a:ext cx="3904488" cy="457200"/>
          </a:xfrm>
          <a:prstGeom prst="rect">
            <a:avLst/>
          </a:prstGeom>
          <a:noFill/>
        </p:spPr>
        <p:txBody>
          <a:bodyPr wrap="square" lIns="0" tIns="0" rIns="0" bIns="0" rtlCol="0" anchor="t"/>
          <a:lstStyle/>
          <a:p>
            <a:pPr marL="0" indent="0" algn="l">
              <a:buNone/>
            </a:pPr>
            <a:r>
              <a:rPr lang="en-US" sz="920" dirty="0">
                <a:solidFill>
                  <a:srgbClr val="1A2B3C"/>
                </a:solidFill>
              </a:rPr>
              <a:t>• Data poisoning, session hijacking, prompt injection, and DoS can compromise AI systems.</a:t>
            </a:r>
            <a:endParaRPr lang="en-US" sz="920" dirty="0"/>
          </a:p>
        </p:txBody>
      </p:sp>
      <p:sp>
        <p:nvSpPr>
          <p:cNvPr id="11" name="Text 8"/>
          <p:cNvSpPr/>
          <p:nvPr/>
        </p:nvSpPr>
        <p:spPr>
          <a:xfrm>
            <a:off x="448056" y="2249424"/>
            <a:ext cx="3904488" cy="457200"/>
          </a:xfrm>
          <a:prstGeom prst="rect">
            <a:avLst/>
          </a:prstGeom>
          <a:noFill/>
        </p:spPr>
        <p:txBody>
          <a:bodyPr wrap="square" lIns="0" tIns="0" rIns="0" bIns="0" rtlCol="0" anchor="t"/>
          <a:lstStyle/>
          <a:p>
            <a:pPr marL="0" indent="0" algn="l">
              <a:buNone/>
            </a:pPr>
            <a:r>
              <a:rPr lang="en-US" sz="920" dirty="0">
                <a:solidFill>
                  <a:srgbClr val="1A2B3C"/>
                </a:solidFill>
              </a:rPr>
              <a:t>• Lack of security monitoring and weak authentication amplifies technical risk exposure.</a:t>
            </a:r>
            <a:endParaRPr lang="en-US" sz="920" dirty="0"/>
          </a:p>
        </p:txBody>
      </p:sp>
      <p:sp>
        <p:nvSpPr>
          <p:cNvPr id="12" name="Shape 9"/>
          <p:cNvSpPr/>
          <p:nvPr/>
        </p:nvSpPr>
        <p:spPr>
          <a:xfrm>
            <a:off x="4663440" y="1051560"/>
            <a:ext cx="4160520" cy="1810512"/>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3" name="Shape 10"/>
          <p:cNvSpPr/>
          <p:nvPr/>
        </p:nvSpPr>
        <p:spPr>
          <a:xfrm>
            <a:off x="4791456" y="1197864"/>
            <a:ext cx="475488" cy="475488"/>
          </a:xfrm>
          <a:prstGeom prst="rect">
            <a:avLst/>
          </a:prstGeom>
          <a:solidFill>
            <a:srgbClr val="D94F3D"/>
          </a:solidFill>
          <a:ln w="12700">
            <a:solidFill>
              <a:srgbClr val="D94F3D"/>
            </a:solidFill>
            <a:prstDash val="solid"/>
          </a:ln>
        </p:spPr>
      </p:sp>
      <p:pic>
        <p:nvPicPr>
          <p:cNvPr id="14" name="Image 1" descr="preencoded.png"/>
          <p:cNvPicPr>
            <a:picLocks noChangeAspect="1"/>
          </p:cNvPicPr>
          <p:nvPr/>
        </p:nvPicPr>
        <p:blipFill>
          <a:blip r:embed="rId2"/>
          <a:stretch>
            <a:fillRect/>
          </a:stretch>
        </p:blipFill>
        <p:spPr>
          <a:xfrm>
            <a:off x="4874666" y="1281074"/>
            <a:ext cx="309067" cy="309067"/>
          </a:xfrm>
          <a:prstGeom prst="rect">
            <a:avLst/>
          </a:prstGeom>
        </p:spPr>
      </p:pic>
      <p:sp>
        <p:nvSpPr>
          <p:cNvPr id="15" name="Text 11"/>
          <p:cNvSpPr/>
          <p:nvPr/>
        </p:nvSpPr>
        <p:spPr>
          <a:xfrm>
            <a:off x="5413248" y="1216152"/>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Data Privacy &amp; Security Risks</a:t>
            </a:r>
            <a:endParaRPr lang="en-US" sz="1100" dirty="0"/>
          </a:p>
        </p:txBody>
      </p:sp>
      <p:sp>
        <p:nvSpPr>
          <p:cNvPr id="16" name="Text 12"/>
          <p:cNvSpPr/>
          <p:nvPr/>
        </p:nvSpPr>
        <p:spPr>
          <a:xfrm>
            <a:off x="4791456" y="1746504"/>
            <a:ext cx="3904488" cy="457200"/>
          </a:xfrm>
          <a:prstGeom prst="rect">
            <a:avLst/>
          </a:prstGeom>
          <a:noFill/>
        </p:spPr>
        <p:txBody>
          <a:bodyPr wrap="square" lIns="0" tIns="0" rIns="0" bIns="0" rtlCol="0" anchor="t"/>
          <a:lstStyle/>
          <a:p>
            <a:pPr marL="0" indent="0" algn="l">
              <a:buNone/>
            </a:pPr>
            <a:r>
              <a:rPr lang="en-US" sz="920" dirty="0">
                <a:solidFill>
                  <a:srgbClr val="1A2B3C"/>
                </a:solidFill>
              </a:rPr>
              <a:t>• AI models can accidentally reveal personal or confidential data through inference attacks.</a:t>
            </a:r>
            <a:endParaRPr lang="en-US" sz="920" dirty="0"/>
          </a:p>
        </p:txBody>
      </p:sp>
      <p:sp>
        <p:nvSpPr>
          <p:cNvPr id="17" name="Text 13"/>
          <p:cNvSpPr/>
          <p:nvPr/>
        </p:nvSpPr>
        <p:spPr>
          <a:xfrm>
            <a:off x="4791456" y="2249424"/>
            <a:ext cx="3904488" cy="457200"/>
          </a:xfrm>
          <a:prstGeom prst="rect">
            <a:avLst/>
          </a:prstGeom>
          <a:noFill/>
        </p:spPr>
        <p:txBody>
          <a:bodyPr wrap="square" lIns="0" tIns="0" rIns="0" bIns="0" rtlCol="0" anchor="t"/>
          <a:lstStyle/>
          <a:p>
            <a:pPr marL="0" indent="0" algn="l">
              <a:buNone/>
            </a:pPr>
            <a:r>
              <a:rPr lang="en-US" sz="920" dirty="0">
                <a:solidFill>
                  <a:srgbClr val="1A2B3C"/>
                </a:solidFill>
              </a:rPr>
              <a:t>• Mishandling of sensitive data during training can violate regulations and trigger data leaks.</a:t>
            </a:r>
            <a:endParaRPr lang="en-US" sz="920" dirty="0"/>
          </a:p>
        </p:txBody>
      </p:sp>
      <p:sp>
        <p:nvSpPr>
          <p:cNvPr id="18" name="Shape 14"/>
          <p:cNvSpPr/>
          <p:nvPr/>
        </p:nvSpPr>
        <p:spPr>
          <a:xfrm>
            <a:off x="320040" y="3017520"/>
            <a:ext cx="4160520" cy="1810512"/>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9" name="Shape 15"/>
          <p:cNvSpPr/>
          <p:nvPr/>
        </p:nvSpPr>
        <p:spPr>
          <a:xfrm>
            <a:off x="448056" y="3163824"/>
            <a:ext cx="475488" cy="475488"/>
          </a:xfrm>
          <a:prstGeom prst="rect">
            <a:avLst/>
          </a:prstGeom>
          <a:solidFill>
            <a:srgbClr val="E07B00"/>
          </a:solidFill>
          <a:ln w="12700">
            <a:solidFill>
              <a:srgbClr val="E07B00"/>
            </a:solidFill>
            <a:prstDash val="solid"/>
          </a:ln>
        </p:spPr>
      </p:sp>
      <p:pic>
        <p:nvPicPr>
          <p:cNvPr id="20" name="Image 2" descr="preencoded.png"/>
          <p:cNvPicPr>
            <a:picLocks noChangeAspect="1"/>
          </p:cNvPicPr>
          <p:nvPr/>
        </p:nvPicPr>
        <p:blipFill>
          <a:blip r:embed="rId3"/>
          <a:stretch>
            <a:fillRect/>
          </a:stretch>
        </p:blipFill>
        <p:spPr>
          <a:xfrm>
            <a:off x="531266" y="3247034"/>
            <a:ext cx="309067" cy="309067"/>
          </a:xfrm>
          <a:prstGeom prst="rect">
            <a:avLst/>
          </a:prstGeom>
        </p:spPr>
      </p:pic>
      <p:sp>
        <p:nvSpPr>
          <p:cNvPr id="21" name="Text 16"/>
          <p:cNvSpPr/>
          <p:nvPr/>
        </p:nvSpPr>
        <p:spPr>
          <a:xfrm>
            <a:off x="1069848" y="3182112"/>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Regulatory &amp; Compliance Risks</a:t>
            </a:r>
            <a:endParaRPr lang="en-US" sz="1100" dirty="0"/>
          </a:p>
        </p:txBody>
      </p:sp>
      <p:sp>
        <p:nvSpPr>
          <p:cNvPr id="22" name="Text 17"/>
          <p:cNvSpPr/>
          <p:nvPr/>
        </p:nvSpPr>
        <p:spPr>
          <a:xfrm>
            <a:off x="448056" y="3712464"/>
            <a:ext cx="3904488" cy="457200"/>
          </a:xfrm>
          <a:prstGeom prst="rect">
            <a:avLst/>
          </a:prstGeom>
          <a:noFill/>
        </p:spPr>
        <p:txBody>
          <a:bodyPr wrap="square" lIns="0" tIns="0" rIns="0" bIns="0" rtlCol="0" anchor="t"/>
          <a:lstStyle/>
          <a:p>
            <a:pPr marL="0" indent="0" algn="l">
              <a:buNone/>
            </a:pPr>
            <a:r>
              <a:rPr lang="en-US" sz="920" dirty="0">
                <a:solidFill>
                  <a:srgbClr val="1A2B3C"/>
                </a:solidFill>
              </a:rPr>
              <a:t>• Failing to align with GDPR, or industry standards exposes organizations to heavy fines.</a:t>
            </a:r>
            <a:endParaRPr lang="en-US" sz="920" dirty="0"/>
          </a:p>
        </p:txBody>
      </p:sp>
      <p:sp>
        <p:nvSpPr>
          <p:cNvPr id="23" name="Text 18"/>
          <p:cNvSpPr/>
          <p:nvPr/>
        </p:nvSpPr>
        <p:spPr>
          <a:xfrm>
            <a:off x="448056" y="4215384"/>
            <a:ext cx="3904488" cy="457200"/>
          </a:xfrm>
          <a:prstGeom prst="rect">
            <a:avLst/>
          </a:prstGeom>
          <a:noFill/>
        </p:spPr>
        <p:txBody>
          <a:bodyPr wrap="square" lIns="0" tIns="0" rIns="0" bIns="0" rtlCol="0" anchor="t"/>
          <a:lstStyle/>
          <a:p>
            <a:pPr marL="0" indent="0" algn="l">
              <a:buNone/>
            </a:pPr>
            <a:r>
              <a:rPr lang="en-US" sz="920" dirty="0">
                <a:solidFill>
                  <a:srgbClr val="1A2B3C"/>
                </a:solidFill>
              </a:rPr>
              <a:t>• Undocumented AI decisions create audit and legal liability across all sectors.</a:t>
            </a:r>
            <a:endParaRPr lang="en-US" sz="920" dirty="0"/>
          </a:p>
        </p:txBody>
      </p:sp>
      <p:sp>
        <p:nvSpPr>
          <p:cNvPr id="24" name="Shape 19"/>
          <p:cNvSpPr/>
          <p:nvPr/>
        </p:nvSpPr>
        <p:spPr>
          <a:xfrm>
            <a:off x="4663440" y="3017520"/>
            <a:ext cx="4160520" cy="1810512"/>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25" name="Shape 20"/>
          <p:cNvSpPr/>
          <p:nvPr/>
        </p:nvSpPr>
        <p:spPr>
          <a:xfrm>
            <a:off x="4791456" y="3163824"/>
            <a:ext cx="475488" cy="475488"/>
          </a:xfrm>
          <a:prstGeom prst="rect">
            <a:avLst/>
          </a:prstGeom>
          <a:solidFill>
            <a:srgbClr val="2E7D32"/>
          </a:solidFill>
          <a:ln w="12700">
            <a:solidFill>
              <a:srgbClr val="2E7D32"/>
            </a:solidFill>
            <a:prstDash val="solid"/>
          </a:ln>
        </p:spPr>
      </p:sp>
      <p:pic>
        <p:nvPicPr>
          <p:cNvPr id="26" name="Image 3" descr="preencoded.png"/>
          <p:cNvPicPr>
            <a:picLocks noChangeAspect="1"/>
          </p:cNvPicPr>
          <p:nvPr/>
        </p:nvPicPr>
        <p:blipFill>
          <a:blip r:embed="rId4"/>
          <a:stretch>
            <a:fillRect/>
          </a:stretch>
        </p:blipFill>
        <p:spPr>
          <a:xfrm>
            <a:off x="4874666" y="3247034"/>
            <a:ext cx="309067" cy="309067"/>
          </a:xfrm>
          <a:prstGeom prst="rect">
            <a:avLst/>
          </a:prstGeom>
        </p:spPr>
      </p:pic>
      <p:sp>
        <p:nvSpPr>
          <p:cNvPr id="27" name="Text 21"/>
          <p:cNvSpPr/>
          <p:nvPr/>
        </p:nvSpPr>
        <p:spPr>
          <a:xfrm>
            <a:off x="5413248" y="3182112"/>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Ethical &amp; Societal Risks</a:t>
            </a:r>
            <a:endParaRPr lang="en-US" sz="1100" dirty="0"/>
          </a:p>
        </p:txBody>
      </p:sp>
      <p:sp>
        <p:nvSpPr>
          <p:cNvPr id="28" name="Text 22"/>
          <p:cNvSpPr/>
          <p:nvPr/>
        </p:nvSpPr>
        <p:spPr>
          <a:xfrm>
            <a:off x="4791456" y="3712464"/>
            <a:ext cx="3904488" cy="457200"/>
          </a:xfrm>
          <a:prstGeom prst="rect">
            <a:avLst/>
          </a:prstGeom>
          <a:noFill/>
        </p:spPr>
        <p:txBody>
          <a:bodyPr wrap="square" lIns="0" tIns="0" rIns="0" bIns="0" rtlCol="0" anchor="t"/>
          <a:lstStyle/>
          <a:p>
            <a:pPr marL="0" indent="0" algn="l">
              <a:buNone/>
            </a:pPr>
            <a:r>
              <a:rPr lang="en-US" sz="920" dirty="0">
                <a:solidFill>
                  <a:srgbClr val="1A2B3C"/>
                </a:solidFill>
              </a:rPr>
              <a:t>• Biased AI outputs can discriminate against minorities, non-native English speakers, or people with disabilities.</a:t>
            </a:r>
            <a:endParaRPr lang="en-US" sz="920" dirty="0"/>
          </a:p>
        </p:txBody>
      </p:sp>
      <p:sp>
        <p:nvSpPr>
          <p:cNvPr id="29" name="Text 23"/>
          <p:cNvSpPr/>
          <p:nvPr/>
        </p:nvSpPr>
        <p:spPr>
          <a:xfrm>
            <a:off x="4791456" y="4215384"/>
            <a:ext cx="3904488" cy="457200"/>
          </a:xfrm>
          <a:prstGeom prst="rect">
            <a:avLst/>
          </a:prstGeom>
          <a:noFill/>
        </p:spPr>
        <p:txBody>
          <a:bodyPr wrap="square" lIns="0" tIns="0" rIns="0" bIns="0" rtlCol="0" anchor="t"/>
          <a:lstStyle/>
          <a:p>
            <a:pPr marL="0" indent="0" algn="l">
              <a:buNone/>
            </a:pPr>
            <a:r>
              <a:rPr lang="en-US" sz="920" dirty="0">
                <a:solidFill>
                  <a:srgbClr val="1A2B3C"/>
                </a:solidFill>
              </a:rPr>
              <a:t>• Lack of explainability erodes public trust and leads to rejection of beneficial AI systems.</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06  Transparency Risks</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Risk Due to Lack of Transparency</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228600" y="1097280"/>
            <a:ext cx="1536192" cy="150876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228600" y="1097280"/>
            <a:ext cx="1536192" cy="219456"/>
          </a:xfrm>
          <a:prstGeom prst="rect">
            <a:avLst/>
          </a:prstGeom>
          <a:solidFill>
            <a:srgbClr val="D94F3D"/>
          </a:solidFill>
          <a:ln w="12700">
            <a:solidFill>
              <a:srgbClr val="D94F3D"/>
            </a:solidFill>
            <a:prstDash val="solid"/>
          </a:ln>
        </p:spPr>
      </p:sp>
      <p:sp>
        <p:nvSpPr>
          <p:cNvPr id="8" name="Shape 6"/>
          <p:cNvSpPr/>
          <p:nvPr/>
        </p:nvSpPr>
        <p:spPr>
          <a:xfrm>
            <a:off x="758952" y="1517904"/>
            <a:ext cx="475488" cy="475488"/>
          </a:xfrm>
          <a:prstGeom prst="rect">
            <a:avLst/>
          </a:prstGeom>
          <a:solidFill>
            <a:srgbClr val="D94F3D"/>
          </a:solidFill>
          <a:ln w="12700">
            <a:solidFill>
              <a:srgbClr val="D94F3D"/>
            </a:solidFill>
            <a:prstDash val="solid"/>
          </a:ln>
        </p:spPr>
      </p:sp>
      <p:pic>
        <p:nvPicPr>
          <p:cNvPr id="9" name="Image 0" descr="preencoded.png"/>
          <p:cNvPicPr>
            <a:picLocks noChangeAspect="1"/>
          </p:cNvPicPr>
          <p:nvPr/>
        </p:nvPicPr>
        <p:blipFill>
          <a:blip r:embed="rId1"/>
          <a:stretch>
            <a:fillRect/>
          </a:stretch>
        </p:blipFill>
        <p:spPr>
          <a:xfrm>
            <a:off x="842162" y="1601114"/>
            <a:ext cx="309067" cy="309067"/>
          </a:xfrm>
          <a:prstGeom prst="rect">
            <a:avLst/>
          </a:prstGeom>
        </p:spPr>
      </p:pic>
      <p:sp>
        <p:nvSpPr>
          <p:cNvPr id="10" name="Text 7"/>
          <p:cNvSpPr/>
          <p:nvPr/>
        </p:nvSpPr>
        <p:spPr>
          <a:xfrm>
            <a:off x="228600" y="2103120"/>
            <a:ext cx="1536192" cy="402336"/>
          </a:xfrm>
          <a:prstGeom prst="rect">
            <a:avLst/>
          </a:prstGeom>
          <a:noFill/>
        </p:spPr>
        <p:txBody>
          <a:bodyPr wrap="square" lIns="0" tIns="0" rIns="0" bIns="0" rtlCol="0" anchor="ctr"/>
          <a:lstStyle/>
          <a:p>
            <a:pPr marL="0" indent="0" algn="ctr">
              <a:buNone/>
            </a:pPr>
            <a:r>
              <a:rPr lang="en-US" sz="850" b="1" dirty="0">
                <a:solidFill>
                  <a:srgbClr val="0D2137"/>
                </a:solidFill>
              </a:rPr>
              <a:t>No</a:t>
            </a:r>
            <a:endParaRPr lang="en-US" sz="850" dirty="0"/>
          </a:p>
          <a:p>
            <a:pPr marL="0" indent="0" algn="ctr">
              <a:buNone/>
            </a:pPr>
            <a:r>
              <a:rPr lang="en-US" sz="850" b="1" dirty="0">
                <a:solidFill>
                  <a:srgbClr val="0D2137"/>
                </a:solidFill>
              </a:rPr>
              <a:t>Transparency</a:t>
            </a:r>
            <a:endParaRPr lang="en-US" sz="850" dirty="0"/>
          </a:p>
        </p:txBody>
      </p:sp>
      <p:pic>
        <p:nvPicPr>
          <p:cNvPr id="11" name="Image 1" descr="preencoded.png"/>
          <p:cNvPicPr>
            <a:picLocks noChangeAspect="1"/>
          </p:cNvPicPr>
          <p:nvPr/>
        </p:nvPicPr>
        <p:blipFill>
          <a:blip r:embed="rId2"/>
          <a:stretch>
            <a:fillRect/>
          </a:stretch>
        </p:blipFill>
        <p:spPr>
          <a:xfrm>
            <a:off x="1801368" y="1664208"/>
            <a:ext cx="237744" cy="164592"/>
          </a:xfrm>
          <a:prstGeom prst="rect">
            <a:avLst/>
          </a:prstGeom>
        </p:spPr>
      </p:pic>
      <p:sp>
        <p:nvSpPr>
          <p:cNvPr id="12" name="Shape 8"/>
          <p:cNvSpPr/>
          <p:nvPr/>
        </p:nvSpPr>
        <p:spPr>
          <a:xfrm>
            <a:off x="1965960" y="1097280"/>
            <a:ext cx="1536192" cy="150876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13" name="Shape 9"/>
          <p:cNvSpPr/>
          <p:nvPr/>
        </p:nvSpPr>
        <p:spPr>
          <a:xfrm>
            <a:off x="1965960" y="1097280"/>
            <a:ext cx="1536192" cy="219456"/>
          </a:xfrm>
          <a:prstGeom prst="rect">
            <a:avLst/>
          </a:prstGeom>
          <a:solidFill>
            <a:srgbClr val="D94F3D"/>
          </a:solidFill>
          <a:ln w="12700">
            <a:solidFill>
              <a:srgbClr val="D94F3D"/>
            </a:solidFill>
            <a:prstDash val="solid"/>
          </a:ln>
        </p:spPr>
      </p:sp>
      <p:sp>
        <p:nvSpPr>
          <p:cNvPr id="14" name="Shape 10"/>
          <p:cNvSpPr/>
          <p:nvPr/>
        </p:nvSpPr>
        <p:spPr>
          <a:xfrm>
            <a:off x="2496312" y="1517904"/>
            <a:ext cx="475488" cy="475488"/>
          </a:xfrm>
          <a:prstGeom prst="rect">
            <a:avLst/>
          </a:prstGeom>
          <a:solidFill>
            <a:srgbClr val="D94F3D"/>
          </a:solidFill>
          <a:ln w="12700">
            <a:solidFill>
              <a:srgbClr val="D94F3D"/>
            </a:solidFill>
            <a:prstDash val="solid"/>
          </a:ln>
        </p:spPr>
      </p:sp>
      <p:pic>
        <p:nvPicPr>
          <p:cNvPr id="15" name="Image 2" descr="preencoded.png"/>
          <p:cNvPicPr>
            <a:picLocks noChangeAspect="1"/>
          </p:cNvPicPr>
          <p:nvPr/>
        </p:nvPicPr>
        <p:blipFill>
          <a:blip r:embed="rId3"/>
          <a:stretch>
            <a:fillRect/>
          </a:stretch>
        </p:blipFill>
        <p:spPr>
          <a:xfrm>
            <a:off x="2579522" y="1601114"/>
            <a:ext cx="309067" cy="309067"/>
          </a:xfrm>
          <a:prstGeom prst="rect">
            <a:avLst/>
          </a:prstGeom>
        </p:spPr>
      </p:pic>
      <p:sp>
        <p:nvSpPr>
          <p:cNvPr id="16" name="Text 11"/>
          <p:cNvSpPr/>
          <p:nvPr/>
        </p:nvSpPr>
        <p:spPr>
          <a:xfrm>
            <a:off x="1965960" y="2103120"/>
            <a:ext cx="1536192" cy="402336"/>
          </a:xfrm>
          <a:prstGeom prst="rect">
            <a:avLst/>
          </a:prstGeom>
          <a:noFill/>
        </p:spPr>
        <p:txBody>
          <a:bodyPr wrap="square" lIns="0" tIns="0" rIns="0" bIns="0" rtlCol="0" anchor="ctr"/>
          <a:lstStyle/>
          <a:p>
            <a:pPr marL="0" indent="0" algn="ctr">
              <a:buNone/>
            </a:pPr>
            <a:r>
              <a:rPr lang="en-US" sz="850" b="1" dirty="0">
                <a:solidFill>
                  <a:srgbClr val="0D2137"/>
                </a:solidFill>
              </a:rPr>
              <a:t>No</a:t>
            </a:r>
            <a:endParaRPr lang="en-US" sz="850" dirty="0"/>
          </a:p>
          <a:p>
            <a:pPr marL="0" indent="0" algn="ctr">
              <a:buNone/>
            </a:pPr>
            <a:r>
              <a:rPr lang="en-US" sz="850" b="1" dirty="0">
                <a:solidFill>
                  <a:srgbClr val="0D2137"/>
                </a:solidFill>
              </a:rPr>
              <a:t>Accountability</a:t>
            </a:r>
            <a:endParaRPr lang="en-US" sz="850" dirty="0"/>
          </a:p>
        </p:txBody>
      </p:sp>
      <p:pic>
        <p:nvPicPr>
          <p:cNvPr id="17" name="Image 3" descr="preencoded.png"/>
          <p:cNvPicPr>
            <a:picLocks noChangeAspect="1"/>
          </p:cNvPicPr>
          <p:nvPr/>
        </p:nvPicPr>
        <p:blipFill>
          <a:blip r:embed="rId2"/>
          <a:stretch>
            <a:fillRect/>
          </a:stretch>
        </p:blipFill>
        <p:spPr>
          <a:xfrm>
            <a:off x="3538728" y="1664208"/>
            <a:ext cx="237744" cy="164592"/>
          </a:xfrm>
          <a:prstGeom prst="rect">
            <a:avLst/>
          </a:prstGeom>
        </p:spPr>
      </p:pic>
      <p:sp>
        <p:nvSpPr>
          <p:cNvPr id="18" name="Shape 12"/>
          <p:cNvSpPr/>
          <p:nvPr/>
        </p:nvSpPr>
        <p:spPr>
          <a:xfrm>
            <a:off x="3703320" y="1097280"/>
            <a:ext cx="1536192" cy="150876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19" name="Shape 13"/>
          <p:cNvSpPr/>
          <p:nvPr/>
        </p:nvSpPr>
        <p:spPr>
          <a:xfrm>
            <a:off x="3703320" y="1097280"/>
            <a:ext cx="1536192" cy="219456"/>
          </a:xfrm>
          <a:prstGeom prst="rect">
            <a:avLst/>
          </a:prstGeom>
          <a:solidFill>
            <a:srgbClr val="E07B00"/>
          </a:solidFill>
          <a:ln w="12700">
            <a:solidFill>
              <a:srgbClr val="E07B00"/>
            </a:solidFill>
            <a:prstDash val="solid"/>
          </a:ln>
        </p:spPr>
      </p:sp>
      <p:sp>
        <p:nvSpPr>
          <p:cNvPr id="20" name="Shape 14"/>
          <p:cNvSpPr/>
          <p:nvPr/>
        </p:nvSpPr>
        <p:spPr>
          <a:xfrm>
            <a:off x="4233672" y="1517904"/>
            <a:ext cx="475488" cy="475488"/>
          </a:xfrm>
          <a:prstGeom prst="rect">
            <a:avLst/>
          </a:prstGeom>
          <a:solidFill>
            <a:srgbClr val="E07B00"/>
          </a:solidFill>
          <a:ln w="12700">
            <a:solidFill>
              <a:srgbClr val="E07B00"/>
            </a:solidFill>
            <a:prstDash val="solid"/>
          </a:ln>
        </p:spPr>
      </p:sp>
      <p:pic>
        <p:nvPicPr>
          <p:cNvPr id="21" name="Image 4" descr="preencoded.png"/>
          <p:cNvPicPr>
            <a:picLocks noChangeAspect="1"/>
          </p:cNvPicPr>
          <p:nvPr/>
        </p:nvPicPr>
        <p:blipFill>
          <a:blip r:embed="rId4"/>
          <a:stretch>
            <a:fillRect/>
          </a:stretch>
        </p:blipFill>
        <p:spPr>
          <a:xfrm>
            <a:off x="4316882" y="1601114"/>
            <a:ext cx="309067" cy="309067"/>
          </a:xfrm>
          <a:prstGeom prst="rect">
            <a:avLst/>
          </a:prstGeom>
        </p:spPr>
      </p:pic>
      <p:sp>
        <p:nvSpPr>
          <p:cNvPr id="22" name="Text 15"/>
          <p:cNvSpPr/>
          <p:nvPr/>
        </p:nvSpPr>
        <p:spPr>
          <a:xfrm>
            <a:off x="3703320" y="2103120"/>
            <a:ext cx="1536192" cy="402336"/>
          </a:xfrm>
          <a:prstGeom prst="rect">
            <a:avLst/>
          </a:prstGeom>
          <a:noFill/>
        </p:spPr>
        <p:txBody>
          <a:bodyPr wrap="square" lIns="0" tIns="0" rIns="0" bIns="0" rtlCol="0" anchor="ctr"/>
          <a:lstStyle/>
          <a:p>
            <a:pPr marL="0" indent="0" algn="ctr">
              <a:buNone/>
            </a:pPr>
            <a:r>
              <a:rPr lang="en-US" sz="850" b="1" dirty="0">
                <a:solidFill>
                  <a:srgbClr val="0D2137"/>
                </a:solidFill>
              </a:rPr>
              <a:t>Security</a:t>
            </a:r>
            <a:endParaRPr lang="en-US" sz="850" dirty="0"/>
          </a:p>
          <a:p>
            <a:pPr marL="0" indent="0" algn="ctr">
              <a:buNone/>
            </a:pPr>
            <a:r>
              <a:rPr lang="en-US" sz="850" b="1" dirty="0">
                <a:solidFill>
                  <a:srgbClr val="0D2137"/>
                </a:solidFill>
              </a:rPr>
              <a:t>Vulnerabilities</a:t>
            </a:r>
            <a:endParaRPr lang="en-US" sz="850" dirty="0"/>
          </a:p>
        </p:txBody>
      </p:sp>
      <p:pic>
        <p:nvPicPr>
          <p:cNvPr id="23" name="Image 5" descr="preencoded.png"/>
          <p:cNvPicPr>
            <a:picLocks noChangeAspect="1"/>
          </p:cNvPicPr>
          <p:nvPr/>
        </p:nvPicPr>
        <p:blipFill>
          <a:blip r:embed="rId2"/>
          <a:stretch>
            <a:fillRect/>
          </a:stretch>
        </p:blipFill>
        <p:spPr>
          <a:xfrm>
            <a:off x="5276088" y="1664208"/>
            <a:ext cx="237744" cy="164592"/>
          </a:xfrm>
          <a:prstGeom prst="rect">
            <a:avLst/>
          </a:prstGeom>
        </p:spPr>
      </p:pic>
      <p:sp>
        <p:nvSpPr>
          <p:cNvPr id="24" name="Shape 16"/>
          <p:cNvSpPr/>
          <p:nvPr/>
        </p:nvSpPr>
        <p:spPr>
          <a:xfrm>
            <a:off x="5440680" y="1097280"/>
            <a:ext cx="1536192" cy="150876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25" name="Shape 17"/>
          <p:cNvSpPr/>
          <p:nvPr/>
        </p:nvSpPr>
        <p:spPr>
          <a:xfrm>
            <a:off x="5440680" y="1097280"/>
            <a:ext cx="1536192" cy="219456"/>
          </a:xfrm>
          <a:prstGeom prst="rect">
            <a:avLst/>
          </a:prstGeom>
          <a:solidFill>
            <a:srgbClr val="D94F3D"/>
          </a:solidFill>
          <a:ln w="12700">
            <a:solidFill>
              <a:srgbClr val="D94F3D"/>
            </a:solidFill>
            <a:prstDash val="solid"/>
          </a:ln>
        </p:spPr>
      </p:sp>
      <p:sp>
        <p:nvSpPr>
          <p:cNvPr id="26" name="Shape 18"/>
          <p:cNvSpPr/>
          <p:nvPr/>
        </p:nvSpPr>
        <p:spPr>
          <a:xfrm>
            <a:off x="5971032" y="1517904"/>
            <a:ext cx="475488" cy="475488"/>
          </a:xfrm>
          <a:prstGeom prst="rect">
            <a:avLst/>
          </a:prstGeom>
          <a:solidFill>
            <a:srgbClr val="D94F3D"/>
          </a:solidFill>
          <a:ln w="12700">
            <a:solidFill>
              <a:srgbClr val="D94F3D"/>
            </a:solidFill>
            <a:prstDash val="solid"/>
          </a:ln>
        </p:spPr>
      </p:sp>
      <p:pic>
        <p:nvPicPr>
          <p:cNvPr id="27" name="Image 6" descr="preencoded.png"/>
          <p:cNvPicPr>
            <a:picLocks noChangeAspect="1"/>
          </p:cNvPicPr>
          <p:nvPr/>
        </p:nvPicPr>
        <p:blipFill>
          <a:blip r:embed="rId5"/>
          <a:stretch>
            <a:fillRect/>
          </a:stretch>
        </p:blipFill>
        <p:spPr>
          <a:xfrm>
            <a:off x="6054242" y="1601114"/>
            <a:ext cx="309067" cy="309067"/>
          </a:xfrm>
          <a:prstGeom prst="rect">
            <a:avLst/>
          </a:prstGeom>
        </p:spPr>
      </p:pic>
      <p:sp>
        <p:nvSpPr>
          <p:cNvPr id="28" name="Text 19"/>
          <p:cNvSpPr/>
          <p:nvPr/>
        </p:nvSpPr>
        <p:spPr>
          <a:xfrm>
            <a:off x="5440680" y="2103120"/>
            <a:ext cx="1536192" cy="402336"/>
          </a:xfrm>
          <a:prstGeom prst="rect">
            <a:avLst/>
          </a:prstGeom>
          <a:noFill/>
        </p:spPr>
        <p:txBody>
          <a:bodyPr wrap="square" lIns="0" tIns="0" rIns="0" bIns="0" rtlCol="0" anchor="ctr"/>
          <a:lstStyle/>
          <a:p>
            <a:pPr marL="0" indent="0" algn="ctr">
              <a:buNone/>
            </a:pPr>
            <a:r>
              <a:rPr lang="en-US" sz="850" b="1" dirty="0">
                <a:solidFill>
                  <a:srgbClr val="0D2137"/>
                </a:solidFill>
              </a:rPr>
              <a:t>Cyber</a:t>
            </a:r>
            <a:endParaRPr lang="en-US" sz="850" dirty="0"/>
          </a:p>
          <a:p>
            <a:pPr marL="0" indent="0" algn="ctr">
              <a:buNone/>
            </a:pPr>
            <a:r>
              <a:rPr lang="en-US" sz="850" b="1" dirty="0">
                <a:solidFill>
                  <a:srgbClr val="0D2137"/>
                </a:solidFill>
              </a:rPr>
              <a:t>Attacks</a:t>
            </a:r>
            <a:endParaRPr lang="en-US" sz="850" dirty="0"/>
          </a:p>
        </p:txBody>
      </p:sp>
      <p:pic>
        <p:nvPicPr>
          <p:cNvPr id="29" name="Image 7" descr="preencoded.png"/>
          <p:cNvPicPr>
            <a:picLocks noChangeAspect="1"/>
          </p:cNvPicPr>
          <p:nvPr/>
        </p:nvPicPr>
        <p:blipFill>
          <a:blip r:embed="rId2"/>
          <a:stretch>
            <a:fillRect/>
          </a:stretch>
        </p:blipFill>
        <p:spPr>
          <a:xfrm>
            <a:off x="7013448" y="1664208"/>
            <a:ext cx="237744" cy="164592"/>
          </a:xfrm>
          <a:prstGeom prst="rect">
            <a:avLst/>
          </a:prstGeom>
        </p:spPr>
      </p:pic>
      <p:sp>
        <p:nvSpPr>
          <p:cNvPr id="30" name="Shape 20"/>
          <p:cNvSpPr/>
          <p:nvPr/>
        </p:nvSpPr>
        <p:spPr>
          <a:xfrm>
            <a:off x="7178040" y="1097280"/>
            <a:ext cx="1536192" cy="150876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31" name="Shape 21"/>
          <p:cNvSpPr/>
          <p:nvPr/>
        </p:nvSpPr>
        <p:spPr>
          <a:xfrm>
            <a:off x="7178040" y="1097280"/>
            <a:ext cx="1536192" cy="219456"/>
          </a:xfrm>
          <a:prstGeom prst="rect">
            <a:avLst/>
          </a:prstGeom>
          <a:solidFill>
            <a:srgbClr val="1B6CA8"/>
          </a:solidFill>
          <a:ln w="12700">
            <a:solidFill>
              <a:srgbClr val="1B6CA8"/>
            </a:solidFill>
            <a:prstDash val="solid"/>
          </a:ln>
        </p:spPr>
      </p:sp>
      <p:sp>
        <p:nvSpPr>
          <p:cNvPr id="32" name="Shape 22"/>
          <p:cNvSpPr/>
          <p:nvPr/>
        </p:nvSpPr>
        <p:spPr>
          <a:xfrm>
            <a:off x="7708392" y="1517904"/>
            <a:ext cx="475488" cy="475488"/>
          </a:xfrm>
          <a:prstGeom prst="rect">
            <a:avLst/>
          </a:prstGeom>
          <a:solidFill>
            <a:srgbClr val="1B6CA8"/>
          </a:solidFill>
          <a:ln w="12700">
            <a:solidFill>
              <a:srgbClr val="1B6CA8"/>
            </a:solidFill>
            <a:prstDash val="solid"/>
          </a:ln>
        </p:spPr>
      </p:sp>
      <p:pic>
        <p:nvPicPr>
          <p:cNvPr id="33" name="Image 8" descr="preencoded.png"/>
          <p:cNvPicPr>
            <a:picLocks noChangeAspect="1"/>
          </p:cNvPicPr>
          <p:nvPr/>
        </p:nvPicPr>
        <p:blipFill>
          <a:blip r:embed="rId6"/>
          <a:stretch>
            <a:fillRect/>
          </a:stretch>
        </p:blipFill>
        <p:spPr>
          <a:xfrm>
            <a:off x="7791602" y="1601114"/>
            <a:ext cx="309067" cy="309067"/>
          </a:xfrm>
          <a:prstGeom prst="rect">
            <a:avLst/>
          </a:prstGeom>
        </p:spPr>
      </p:pic>
      <p:sp>
        <p:nvSpPr>
          <p:cNvPr id="34" name="Text 23"/>
          <p:cNvSpPr/>
          <p:nvPr/>
        </p:nvSpPr>
        <p:spPr>
          <a:xfrm>
            <a:off x="7178040" y="2103120"/>
            <a:ext cx="1536192" cy="402336"/>
          </a:xfrm>
          <a:prstGeom prst="rect">
            <a:avLst/>
          </a:prstGeom>
          <a:noFill/>
        </p:spPr>
        <p:txBody>
          <a:bodyPr wrap="square" lIns="0" tIns="0" rIns="0" bIns="0" rtlCol="0" anchor="ctr"/>
          <a:lstStyle/>
          <a:p>
            <a:pPr marL="0" indent="0" algn="ctr">
              <a:buNone/>
            </a:pPr>
            <a:r>
              <a:rPr lang="en-US" sz="850" b="1" dirty="0">
                <a:solidFill>
                  <a:srgbClr val="0D2137"/>
                </a:solidFill>
              </a:rPr>
              <a:t>Loss of Public</a:t>
            </a:r>
            <a:endParaRPr lang="en-US" sz="850" dirty="0"/>
          </a:p>
          <a:p>
            <a:pPr marL="0" indent="0" algn="ctr">
              <a:buNone/>
            </a:pPr>
            <a:r>
              <a:rPr lang="en-US" sz="850" b="1" dirty="0">
                <a:solidFill>
                  <a:srgbClr val="0D2137"/>
                </a:solidFill>
              </a:rPr>
              <a:t>Trust</a:t>
            </a:r>
            <a:endParaRPr lang="en-US" sz="850" dirty="0"/>
          </a:p>
        </p:txBody>
      </p:sp>
      <p:sp>
        <p:nvSpPr>
          <p:cNvPr id="35" name="Shape 24"/>
          <p:cNvSpPr/>
          <p:nvPr/>
        </p:nvSpPr>
        <p:spPr>
          <a:xfrm>
            <a:off x="320040" y="2788920"/>
            <a:ext cx="8503920" cy="1234440"/>
          </a:xfrm>
          <a:prstGeom prst="rect">
            <a:avLst/>
          </a:prstGeom>
          <a:solidFill>
            <a:srgbClr val="FFF0F0"/>
          </a:solidFill>
          <a:ln w="6350">
            <a:solidFill>
              <a:srgbClr val="B8D4E8"/>
            </a:solidFill>
            <a:prstDash val="solid"/>
          </a:ln>
          <a:effectLst>
            <a:outerShdw blurRad="63500" dist="12700" dir="8100000" algn="bl" rotWithShape="0">
              <a:srgbClr val="A0BFDA">
                <a:alpha val="18000"/>
              </a:srgbClr>
            </a:outerShdw>
          </a:effectLst>
        </p:spPr>
      </p:sp>
      <p:sp>
        <p:nvSpPr>
          <p:cNvPr id="36" name="Text 25"/>
          <p:cNvSpPr/>
          <p:nvPr/>
        </p:nvSpPr>
        <p:spPr>
          <a:xfrm>
            <a:off x="502920" y="2852928"/>
            <a:ext cx="8229600" cy="237744"/>
          </a:xfrm>
          <a:prstGeom prst="rect">
            <a:avLst/>
          </a:prstGeom>
          <a:noFill/>
        </p:spPr>
        <p:txBody>
          <a:bodyPr wrap="square" lIns="0" tIns="0" rIns="0" bIns="0" rtlCol="0" anchor="ctr"/>
          <a:lstStyle/>
          <a:p>
            <a:pPr marL="0" indent="0">
              <a:buNone/>
            </a:pPr>
            <a:r>
              <a:rPr lang="en-US" sz="1000" b="1" dirty="0">
                <a:solidFill>
                  <a:srgbClr val="D94F3D"/>
                </a:solidFill>
              </a:rPr>
              <a:t>What happens when transparency fails:</a:t>
            </a:r>
            <a:endParaRPr lang="en-US" sz="1000" dirty="0"/>
          </a:p>
        </p:txBody>
      </p:sp>
      <p:sp>
        <p:nvSpPr>
          <p:cNvPr id="37" name="Text 26"/>
          <p:cNvSpPr/>
          <p:nvPr/>
        </p:nvSpPr>
        <p:spPr>
          <a:xfrm>
            <a:off x="502920" y="3127248"/>
            <a:ext cx="8229600" cy="566928"/>
          </a:xfrm>
          <a:prstGeom prst="rect">
            <a:avLst/>
          </a:prstGeom>
          <a:noFill/>
        </p:spPr>
        <p:txBody>
          <a:bodyPr wrap="square" lIns="0" tIns="0" rIns="0" bIns="0" rtlCol="0" anchor="ctr"/>
          <a:lstStyle/>
          <a:p>
            <a:pPr marL="0" indent="0" algn="l">
              <a:buNone/>
            </a:pPr>
            <a:r>
              <a:rPr lang="en-US" sz="950" dirty="0">
                <a:solidFill>
                  <a:srgbClr val="1A2B3C"/>
                </a:solidFill>
              </a:rPr>
              <a:t>The AI system becomes unpredictable and unsafe, no longer in control of its creator, but potentially in the hands of those who have compromised it. Outcomes become unknown and potentially catastrophic for individuals and organizations alike.</a:t>
            </a:r>
            <a:endParaRPr lang="en-US" sz="950" dirty="0"/>
          </a:p>
        </p:txBody>
      </p:sp>
      <p:sp>
        <p:nvSpPr>
          <p:cNvPr id="38" name="Shape 27"/>
          <p:cNvSpPr/>
          <p:nvPr/>
        </p:nvSpPr>
        <p:spPr>
          <a:xfrm>
            <a:off x="320040" y="4128770"/>
            <a:ext cx="8503920" cy="749808"/>
          </a:xfrm>
          <a:prstGeom prst="rect">
            <a:avLst/>
          </a:prstGeom>
          <a:solidFill>
            <a:srgbClr val="0D2137"/>
          </a:solidFill>
          <a:ln w="12700">
            <a:solidFill>
              <a:srgbClr val="0D2137"/>
            </a:solidFill>
            <a:prstDash val="solid"/>
          </a:ln>
        </p:spPr>
      </p:sp>
      <p:sp>
        <p:nvSpPr>
          <p:cNvPr id="39" name="Text 28"/>
          <p:cNvSpPr/>
          <p:nvPr/>
        </p:nvSpPr>
        <p:spPr>
          <a:xfrm>
            <a:off x="502920" y="4169664"/>
            <a:ext cx="8229600" cy="640080"/>
          </a:xfrm>
          <a:prstGeom prst="rect">
            <a:avLst/>
          </a:prstGeom>
          <a:noFill/>
        </p:spPr>
        <p:txBody>
          <a:bodyPr wrap="square" lIns="0" tIns="0" rIns="0" bIns="0" rtlCol="0" anchor="ctr"/>
          <a:lstStyle/>
          <a:p>
            <a:pPr marL="0" indent="0" algn="ctr">
              <a:buNone/>
            </a:pPr>
            <a:r>
              <a:rPr lang="en-US" sz="1050" b="1" dirty="0">
                <a:solidFill>
                  <a:srgbClr val="FFFFFF"/>
                </a:solidFill>
              </a:rPr>
              <a:t>✅  Conclusion: AI systems MUST maintain clear transparency to prevent minor and major damage to individuals and organizations.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07  Risk Assessment</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Purpose of a Risk Assessment System</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429768" y="1252728"/>
            <a:ext cx="512064" cy="512064"/>
          </a:xfrm>
          <a:prstGeom prst="rect">
            <a:avLst/>
          </a:prstGeom>
          <a:solidFill>
            <a:srgbClr val="1B6CA8"/>
          </a:solidFill>
          <a:ln w="12700">
            <a:solidFill>
              <a:srgbClr val="1B6CA8"/>
            </a:solidFill>
            <a:prstDash val="solid"/>
          </a:ln>
        </p:spPr>
      </p:sp>
      <p:pic>
        <p:nvPicPr>
          <p:cNvPr id="8" name="Image 0" descr="preencoded.png"/>
          <p:cNvPicPr>
            <a:picLocks noChangeAspect="1"/>
          </p:cNvPicPr>
          <p:nvPr/>
        </p:nvPicPr>
        <p:blipFill>
          <a:blip r:embed="rId1"/>
          <a:stretch>
            <a:fillRect/>
          </a:stretch>
        </p:blipFill>
        <p:spPr>
          <a:xfrm>
            <a:off x="519379" y="1342339"/>
            <a:ext cx="332842" cy="332842"/>
          </a:xfrm>
          <a:prstGeom prst="rect">
            <a:avLst/>
          </a:prstGeom>
        </p:spPr>
      </p:pic>
      <p:sp>
        <p:nvSpPr>
          <p:cNvPr id="9" name="Text 6"/>
          <p:cNvSpPr/>
          <p:nvPr/>
        </p:nvSpPr>
        <p:spPr>
          <a:xfrm>
            <a:off x="1097280" y="1280160"/>
            <a:ext cx="3246120" cy="329184"/>
          </a:xfrm>
          <a:prstGeom prst="rect">
            <a:avLst/>
          </a:prstGeom>
          <a:noFill/>
        </p:spPr>
        <p:txBody>
          <a:bodyPr wrap="square" lIns="0" tIns="0" rIns="0" bIns="0" rtlCol="0" anchor="ctr"/>
          <a:lstStyle/>
          <a:p>
            <a:pPr marL="0" indent="0" algn="l">
              <a:buNone/>
            </a:pPr>
            <a:r>
              <a:rPr lang="en-US" sz="1100" b="1" dirty="0">
                <a:solidFill>
                  <a:srgbClr val="0D2137"/>
                </a:solidFill>
              </a:rPr>
              <a:t>Identify Hidden Vulnerabilities</a:t>
            </a:r>
            <a:endParaRPr lang="en-US" sz="1100" dirty="0"/>
          </a:p>
        </p:txBody>
      </p:sp>
      <p:sp>
        <p:nvSpPr>
          <p:cNvPr id="10" name="Text 7"/>
          <p:cNvSpPr/>
          <p:nvPr/>
        </p:nvSpPr>
        <p:spPr>
          <a:xfrm>
            <a:off x="448056" y="1965960"/>
            <a:ext cx="3904488" cy="749808"/>
          </a:xfrm>
          <a:prstGeom prst="rect">
            <a:avLst/>
          </a:prstGeom>
          <a:noFill/>
        </p:spPr>
        <p:txBody>
          <a:bodyPr wrap="square" lIns="0" tIns="0" rIns="0" bIns="0" rtlCol="0" anchor="t"/>
          <a:lstStyle/>
          <a:p>
            <a:pPr marL="0" indent="0" algn="l">
              <a:buNone/>
            </a:pPr>
            <a:r>
              <a:rPr lang="en-US" sz="950" dirty="0">
                <a:solidFill>
                  <a:srgbClr val="1A2B3C"/>
                </a:solidFill>
              </a:rPr>
              <a:t>Risks are not always visible they often lie deep within AI system code and model logic.</a:t>
            </a:r>
            <a:endParaRPr lang="en-US" sz="950" dirty="0"/>
          </a:p>
        </p:txBody>
      </p:sp>
      <p:sp>
        <p:nvSpPr>
          <p:cNvPr id="11" name="Shape 8"/>
          <p:cNvSpPr/>
          <p:nvPr/>
        </p:nvSpPr>
        <p:spPr>
          <a:xfrm>
            <a:off x="4663440" y="105156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2" name="Shape 9"/>
          <p:cNvSpPr/>
          <p:nvPr/>
        </p:nvSpPr>
        <p:spPr>
          <a:xfrm>
            <a:off x="4773168" y="1252728"/>
            <a:ext cx="512064" cy="512064"/>
          </a:xfrm>
          <a:prstGeom prst="rect">
            <a:avLst/>
          </a:prstGeom>
          <a:solidFill>
            <a:srgbClr val="0F9B8E"/>
          </a:solidFill>
          <a:ln w="12700">
            <a:solidFill>
              <a:srgbClr val="0F9B8E"/>
            </a:solidFill>
            <a:prstDash val="solid"/>
          </a:ln>
        </p:spPr>
      </p:sp>
      <p:pic>
        <p:nvPicPr>
          <p:cNvPr id="13" name="Image 1" descr="preencoded.png"/>
          <p:cNvPicPr>
            <a:picLocks noChangeAspect="1"/>
          </p:cNvPicPr>
          <p:nvPr/>
        </p:nvPicPr>
        <p:blipFill>
          <a:blip r:embed="rId2"/>
          <a:stretch>
            <a:fillRect/>
          </a:stretch>
        </p:blipFill>
        <p:spPr>
          <a:xfrm>
            <a:off x="4862779" y="1342339"/>
            <a:ext cx="332842" cy="332842"/>
          </a:xfrm>
          <a:prstGeom prst="rect">
            <a:avLst/>
          </a:prstGeom>
        </p:spPr>
      </p:pic>
      <p:sp>
        <p:nvSpPr>
          <p:cNvPr id="14" name="Text 10"/>
          <p:cNvSpPr/>
          <p:nvPr/>
        </p:nvSpPr>
        <p:spPr>
          <a:xfrm>
            <a:off x="5440680" y="1280160"/>
            <a:ext cx="3246120" cy="329184"/>
          </a:xfrm>
          <a:prstGeom prst="rect">
            <a:avLst/>
          </a:prstGeom>
          <a:noFill/>
        </p:spPr>
        <p:txBody>
          <a:bodyPr wrap="square" lIns="0" tIns="0" rIns="0" bIns="0" rtlCol="0" anchor="ctr"/>
          <a:lstStyle/>
          <a:p>
            <a:pPr marL="0" indent="0" algn="l">
              <a:buNone/>
            </a:pPr>
            <a:r>
              <a:rPr lang="en-US" sz="1100" b="1" dirty="0">
                <a:solidFill>
                  <a:srgbClr val="0D2137"/>
                </a:solidFill>
              </a:rPr>
              <a:t>Assess Severity</a:t>
            </a:r>
            <a:endParaRPr lang="en-US" sz="1100" dirty="0"/>
          </a:p>
        </p:txBody>
      </p:sp>
      <p:sp>
        <p:nvSpPr>
          <p:cNvPr id="15" name="Text 11"/>
          <p:cNvSpPr/>
          <p:nvPr/>
        </p:nvSpPr>
        <p:spPr>
          <a:xfrm>
            <a:off x="4791456" y="1965960"/>
            <a:ext cx="3904488" cy="749808"/>
          </a:xfrm>
          <a:prstGeom prst="rect">
            <a:avLst/>
          </a:prstGeom>
          <a:noFill/>
        </p:spPr>
        <p:txBody>
          <a:bodyPr wrap="square" lIns="0" tIns="0" rIns="0" bIns="0" rtlCol="0" anchor="t"/>
          <a:lstStyle/>
          <a:p>
            <a:pPr marL="0" indent="0" algn="l">
              <a:buNone/>
            </a:pPr>
            <a:r>
              <a:rPr lang="en-US" sz="950" dirty="0">
                <a:solidFill>
                  <a:srgbClr val="1A2B3C"/>
                </a:solidFill>
              </a:rPr>
              <a:t>Determine how serious each risk is and prioritize accordingly to allocate resources efficiently.</a:t>
            </a:r>
            <a:endParaRPr lang="en-US" sz="950" dirty="0"/>
          </a:p>
        </p:txBody>
      </p:sp>
      <p:sp>
        <p:nvSpPr>
          <p:cNvPr id="16" name="Shape 12"/>
          <p:cNvSpPr/>
          <p:nvPr/>
        </p:nvSpPr>
        <p:spPr>
          <a:xfrm>
            <a:off x="320040" y="297180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7" name="Shape 13"/>
          <p:cNvSpPr/>
          <p:nvPr/>
        </p:nvSpPr>
        <p:spPr>
          <a:xfrm>
            <a:off x="429768" y="3172968"/>
            <a:ext cx="512064" cy="512064"/>
          </a:xfrm>
          <a:prstGeom prst="rect">
            <a:avLst/>
          </a:prstGeom>
          <a:solidFill>
            <a:srgbClr val="E07B00"/>
          </a:solidFill>
          <a:ln w="12700">
            <a:solidFill>
              <a:srgbClr val="E07B00"/>
            </a:solidFill>
            <a:prstDash val="solid"/>
          </a:ln>
        </p:spPr>
      </p:sp>
      <p:pic>
        <p:nvPicPr>
          <p:cNvPr id="18" name="Image 2" descr="preencoded.png"/>
          <p:cNvPicPr>
            <a:picLocks noChangeAspect="1"/>
          </p:cNvPicPr>
          <p:nvPr/>
        </p:nvPicPr>
        <p:blipFill>
          <a:blip r:embed="rId3"/>
          <a:stretch>
            <a:fillRect/>
          </a:stretch>
        </p:blipFill>
        <p:spPr>
          <a:xfrm>
            <a:off x="519379" y="3262579"/>
            <a:ext cx="332842" cy="332842"/>
          </a:xfrm>
          <a:prstGeom prst="rect">
            <a:avLst/>
          </a:prstGeom>
        </p:spPr>
      </p:pic>
      <p:sp>
        <p:nvSpPr>
          <p:cNvPr id="19" name="Text 14"/>
          <p:cNvSpPr/>
          <p:nvPr/>
        </p:nvSpPr>
        <p:spPr>
          <a:xfrm>
            <a:off x="1097280" y="3200400"/>
            <a:ext cx="3246120" cy="329184"/>
          </a:xfrm>
          <a:prstGeom prst="rect">
            <a:avLst/>
          </a:prstGeom>
          <a:noFill/>
        </p:spPr>
        <p:txBody>
          <a:bodyPr wrap="square" lIns="0" tIns="0" rIns="0" bIns="0" rtlCol="0" anchor="ctr"/>
          <a:lstStyle/>
          <a:p>
            <a:pPr marL="0" indent="0" algn="l">
              <a:buNone/>
            </a:pPr>
            <a:r>
              <a:rPr lang="en-US" sz="1100" b="1" dirty="0">
                <a:solidFill>
                  <a:srgbClr val="0D2137"/>
                </a:solidFill>
              </a:rPr>
              <a:t>Enable Mitigation</a:t>
            </a:r>
            <a:endParaRPr lang="en-US" sz="1100" dirty="0"/>
          </a:p>
        </p:txBody>
      </p:sp>
      <p:sp>
        <p:nvSpPr>
          <p:cNvPr id="20" name="Text 15"/>
          <p:cNvSpPr/>
          <p:nvPr/>
        </p:nvSpPr>
        <p:spPr>
          <a:xfrm>
            <a:off x="448056" y="3886200"/>
            <a:ext cx="3904488" cy="749808"/>
          </a:xfrm>
          <a:prstGeom prst="rect">
            <a:avLst/>
          </a:prstGeom>
          <a:noFill/>
        </p:spPr>
        <p:txBody>
          <a:bodyPr wrap="square" lIns="0" tIns="0" rIns="0" bIns="0" rtlCol="0" anchor="t"/>
          <a:lstStyle/>
          <a:p>
            <a:pPr marL="0" indent="0" algn="l">
              <a:buNone/>
            </a:pPr>
            <a:r>
              <a:rPr lang="en-US" sz="950" dirty="0">
                <a:solidFill>
                  <a:srgbClr val="1A2B3C"/>
                </a:solidFill>
              </a:rPr>
              <a:t>Using corrective action guides by trusted frameworks like NIST AI RMF and ISO 42001.</a:t>
            </a:r>
            <a:endParaRPr lang="en-US" sz="950" dirty="0"/>
          </a:p>
        </p:txBody>
      </p:sp>
      <p:sp>
        <p:nvSpPr>
          <p:cNvPr id="21" name="Shape 16"/>
          <p:cNvSpPr/>
          <p:nvPr/>
        </p:nvSpPr>
        <p:spPr>
          <a:xfrm>
            <a:off x="4663440" y="297180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22" name="Shape 17"/>
          <p:cNvSpPr/>
          <p:nvPr/>
        </p:nvSpPr>
        <p:spPr>
          <a:xfrm>
            <a:off x="4773168" y="3172968"/>
            <a:ext cx="512064" cy="512064"/>
          </a:xfrm>
          <a:prstGeom prst="rect">
            <a:avLst/>
          </a:prstGeom>
          <a:solidFill>
            <a:srgbClr val="2E7D32"/>
          </a:solidFill>
          <a:ln w="12700">
            <a:solidFill>
              <a:srgbClr val="2E7D32"/>
            </a:solidFill>
            <a:prstDash val="solid"/>
          </a:ln>
        </p:spPr>
      </p:sp>
      <p:pic>
        <p:nvPicPr>
          <p:cNvPr id="23" name="Image 3" descr="preencoded.png"/>
          <p:cNvPicPr>
            <a:picLocks noChangeAspect="1"/>
          </p:cNvPicPr>
          <p:nvPr/>
        </p:nvPicPr>
        <p:blipFill>
          <a:blip r:embed="rId4"/>
          <a:stretch>
            <a:fillRect/>
          </a:stretch>
        </p:blipFill>
        <p:spPr>
          <a:xfrm>
            <a:off x="4862779" y="3262579"/>
            <a:ext cx="332842" cy="332842"/>
          </a:xfrm>
          <a:prstGeom prst="rect">
            <a:avLst/>
          </a:prstGeom>
        </p:spPr>
      </p:pic>
      <p:sp>
        <p:nvSpPr>
          <p:cNvPr id="24" name="Text 18"/>
          <p:cNvSpPr/>
          <p:nvPr/>
        </p:nvSpPr>
        <p:spPr>
          <a:xfrm>
            <a:off x="5440680" y="3200400"/>
            <a:ext cx="3246120" cy="329184"/>
          </a:xfrm>
          <a:prstGeom prst="rect">
            <a:avLst/>
          </a:prstGeom>
          <a:noFill/>
        </p:spPr>
        <p:txBody>
          <a:bodyPr wrap="square" lIns="0" tIns="0" rIns="0" bIns="0" rtlCol="0" anchor="ctr"/>
          <a:lstStyle/>
          <a:p>
            <a:pPr marL="0" indent="0" algn="l">
              <a:buNone/>
            </a:pPr>
            <a:r>
              <a:rPr lang="en-US" sz="1100" b="1" dirty="0">
                <a:solidFill>
                  <a:srgbClr val="0D2137"/>
                </a:solidFill>
              </a:rPr>
              <a:t>Best Time: During Development</a:t>
            </a:r>
            <a:endParaRPr lang="en-US" sz="1100" dirty="0"/>
          </a:p>
        </p:txBody>
      </p:sp>
      <p:sp>
        <p:nvSpPr>
          <p:cNvPr id="25" name="Text 19"/>
          <p:cNvSpPr/>
          <p:nvPr/>
        </p:nvSpPr>
        <p:spPr>
          <a:xfrm>
            <a:off x="4791456" y="3886200"/>
            <a:ext cx="3904488" cy="749808"/>
          </a:xfrm>
          <a:prstGeom prst="rect">
            <a:avLst/>
          </a:prstGeom>
          <a:noFill/>
        </p:spPr>
        <p:txBody>
          <a:bodyPr wrap="square" lIns="0" tIns="0" rIns="0" bIns="0" rtlCol="0" anchor="t"/>
          <a:lstStyle/>
          <a:p>
            <a:pPr marL="0" indent="0" algn="l">
              <a:buNone/>
            </a:pPr>
            <a:r>
              <a:rPr lang="en-US" sz="950" dirty="0">
                <a:solidFill>
                  <a:srgbClr val="1A2B3C"/>
                </a:solidFill>
              </a:rPr>
              <a:t>Perform risk assessment during and after development, but before deployment changes are easiest to make early.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08  NIST AI RMF</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NIST AI Risk Management Framework</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5074920" cy="205740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Text 5"/>
          <p:cNvSpPr/>
          <p:nvPr/>
        </p:nvSpPr>
        <p:spPr>
          <a:xfrm>
            <a:off x="502920" y="1115568"/>
            <a:ext cx="4663440" cy="256032"/>
          </a:xfrm>
          <a:prstGeom prst="rect">
            <a:avLst/>
          </a:prstGeom>
          <a:noFill/>
        </p:spPr>
        <p:txBody>
          <a:bodyPr wrap="square" lIns="0" tIns="0" rIns="0" bIns="0" rtlCol="0" anchor="ctr"/>
          <a:lstStyle/>
          <a:p>
            <a:pPr marL="0" indent="0">
              <a:buNone/>
            </a:pPr>
            <a:r>
              <a:rPr lang="en-US" sz="1100" b="1" dirty="0">
                <a:solidFill>
                  <a:srgbClr val="0D2137"/>
                </a:solidFill>
              </a:rPr>
              <a:t>What is it?</a:t>
            </a:r>
            <a:endParaRPr lang="en-US" sz="1100" dirty="0"/>
          </a:p>
        </p:txBody>
      </p:sp>
      <p:sp>
        <p:nvSpPr>
          <p:cNvPr id="8" name="Text 6"/>
          <p:cNvSpPr/>
          <p:nvPr/>
        </p:nvSpPr>
        <p:spPr>
          <a:xfrm>
            <a:off x="502920" y="1408176"/>
            <a:ext cx="4663440" cy="804672"/>
          </a:xfrm>
          <a:prstGeom prst="rect">
            <a:avLst/>
          </a:prstGeom>
          <a:noFill/>
        </p:spPr>
        <p:txBody>
          <a:bodyPr wrap="square" lIns="0" tIns="0" rIns="0" bIns="0" rtlCol="0" anchor="ctr"/>
          <a:lstStyle/>
          <a:p>
            <a:pPr marL="0" indent="0" algn="l">
              <a:buNone/>
            </a:pPr>
            <a:r>
              <a:rPr lang="en-US" sz="950" dirty="0">
                <a:solidFill>
                  <a:srgbClr val="1A2B3C"/>
                </a:solidFill>
              </a:rPr>
              <a:t>A guide by NIST to help organizations build and use AI responsibly. It is not a strict law — more like a flexible set of steps for finding, estimating, controlling, and monitoring AI-related risks early, before any major catastrophe occurs.</a:t>
            </a:r>
            <a:endParaRPr lang="en-US" sz="950" dirty="0"/>
          </a:p>
        </p:txBody>
      </p:sp>
      <p:sp>
        <p:nvSpPr>
          <p:cNvPr id="9" name="Text 7"/>
          <p:cNvSpPr/>
          <p:nvPr/>
        </p:nvSpPr>
        <p:spPr>
          <a:xfrm>
            <a:off x="502920" y="2249424"/>
            <a:ext cx="4663440" cy="237744"/>
          </a:xfrm>
          <a:prstGeom prst="rect">
            <a:avLst/>
          </a:prstGeom>
          <a:noFill/>
        </p:spPr>
        <p:txBody>
          <a:bodyPr wrap="square" lIns="0" tIns="0" rIns="0" bIns="0" rtlCol="0" anchor="ctr"/>
          <a:lstStyle/>
          <a:p>
            <a:pPr marL="0" indent="0">
              <a:buNone/>
            </a:pPr>
            <a:r>
              <a:rPr lang="en-US" sz="1100" b="1" dirty="0">
                <a:solidFill>
                  <a:srgbClr val="0D2137"/>
                </a:solidFill>
              </a:rPr>
              <a:t>Who can use it?</a:t>
            </a:r>
            <a:endParaRPr lang="en-US" sz="1100" dirty="0"/>
          </a:p>
        </p:txBody>
      </p:sp>
      <p:sp>
        <p:nvSpPr>
          <p:cNvPr id="10" name="Text 8"/>
          <p:cNvSpPr/>
          <p:nvPr/>
        </p:nvSpPr>
        <p:spPr>
          <a:xfrm>
            <a:off x="502920" y="2505456"/>
            <a:ext cx="4663440" cy="548640"/>
          </a:xfrm>
          <a:prstGeom prst="rect">
            <a:avLst/>
          </a:prstGeom>
          <a:noFill/>
        </p:spPr>
        <p:txBody>
          <a:bodyPr wrap="square" lIns="0" tIns="0" rIns="0" bIns="0" rtlCol="0" anchor="ctr"/>
          <a:lstStyle/>
          <a:p>
            <a:pPr marL="0" indent="0">
              <a:buNone/>
            </a:pPr>
            <a:r>
              <a:rPr lang="en-US" sz="950" dirty="0">
                <a:solidFill>
                  <a:srgbClr val="1A2B3C"/>
                </a:solidFill>
              </a:rPr>
              <a:t>• Companies</a:t>
            </a:r>
            <a:endParaRPr lang="en-US" sz="950" dirty="0"/>
          </a:p>
          <a:p>
            <a:pPr marL="0" indent="0">
              <a:buNone/>
            </a:pPr>
            <a:r>
              <a:rPr lang="en-US" sz="950" dirty="0">
                <a:solidFill>
                  <a:srgbClr val="1A2B3C"/>
                </a:solidFill>
              </a:rPr>
              <a:t>• Schools &amp; Universities</a:t>
            </a:r>
            <a:endParaRPr lang="en-US" sz="950" dirty="0"/>
          </a:p>
          <a:p>
            <a:pPr marL="0" indent="0">
              <a:buNone/>
            </a:pPr>
            <a:r>
              <a:rPr lang="en-US" sz="950" dirty="0">
                <a:solidFill>
                  <a:srgbClr val="1A2B3C"/>
                </a:solidFill>
              </a:rPr>
              <a:t>• Government Institutions</a:t>
            </a:r>
            <a:endParaRPr lang="en-US" sz="950" dirty="0"/>
          </a:p>
        </p:txBody>
      </p:sp>
      <p:sp>
        <p:nvSpPr>
          <p:cNvPr id="11" name="Shape 9"/>
          <p:cNvSpPr/>
          <p:nvPr/>
        </p:nvSpPr>
        <p:spPr>
          <a:xfrm>
            <a:off x="5577840" y="1051560"/>
            <a:ext cx="3246120" cy="2057400"/>
          </a:xfrm>
          <a:prstGeom prst="rect">
            <a:avLst/>
          </a:prstGeom>
          <a:solidFill>
            <a:srgbClr val="EBF5FB"/>
          </a:solidFill>
          <a:ln w="6350">
            <a:solidFill>
              <a:srgbClr val="B8D4E8"/>
            </a:solidFill>
            <a:prstDash val="solid"/>
          </a:ln>
          <a:effectLst>
            <a:outerShdw blurRad="63500" dist="12700" dir="8100000" algn="bl" rotWithShape="0">
              <a:srgbClr val="A0BFDA">
                <a:alpha val="18000"/>
              </a:srgbClr>
            </a:outerShdw>
          </a:effectLst>
        </p:spPr>
      </p:sp>
      <p:sp>
        <p:nvSpPr>
          <p:cNvPr id="12" name="Shape 10"/>
          <p:cNvSpPr/>
          <p:nvPr/>
        </p:nvSpPr>
        <p:spPr>
          <a:xfrm>
            <a:off x="6885432" y="1197864"/>
            <a:ext cx="621792" cy="621792"/>
          </a:xfrm>
          <a:prstGeom prst="rect">
            <a:avLst/>
          </a:prstGeom>
          <a:solidFill>
            <a:srgbClr val="1B6CA8"/>
          </a:solidFill>
          <a:ln w="12700">
            <a:solidFill>
              <a:srgbClr val="1B6CA8"/>
            </a:solidFill>
            <a:prstDash val="solid"/>
          </a:ln>
        </p:spPr>
      </p:sp>
      <p:pic>
        <p:nvPicPr>
          <p:cNvPr id="13" name="Image 0" descr="preencoded.png"/>
          <p:cNvPicPr>
            <a:picLocks noChangeAspect="1"/>
          </p:cNvPicPr>
          <p:nvPr/>
        </p:nvPicPr>
        <p:blipFill>
          <a:blip r:embed="rId1"/>
          <a:stretch>
            <a:fillRect/>
          </a:stretch>
        </p:blipFill>
        <p:spPr>
          <a:xfrm>
            <a:off x="6994246" y="1306678"/>
            <a:ext cx="404165" cy="404165"/>
          </a:xfrm>
          <a:prstGeom prst="rect">
            <a:avLst/>
          </a:prstGeom>
        </p:spPr>
      </p:pic>
      <p:sp>
        <p:nvSpPr>
          <p:cNvPr id="14" name="Text 11"/>
          <p:cNvSpPr/>
          <p:nvPr/>
        </p:nvSpPr>
        <p:spPr>
          <a:xfrm>
            <a:off x="5715000" y="1920240"/>
            <a:ext cx="2926080" cy="365760"/>
          </a:xfrm>
          <a:prstGeom prst="rect">
            <a:avLst/>
          </a:prstGeom>
          <a:noFill/>
        </p:spPr>
        <p:txBody>
          <a:bodyPr wrap="square" lIns="0" tIns="0" rIns="0" bIns="0" rtlCol="0" anchor="ctr"/>
          <a:lstStyle/>
          <a:p>
            <a:pPr marL="0" indent="0" algn="ctr">
              <a:buNone/>
            </a:pPr>
            <a:r>
              <a:rPr lang="en-US" sz="1050" b="1" dirty="0">
                <a:solidFill>
                  <a:srgbClr val="0D2137"/>
                </a:solidFill>
              </a:rPr>
              <a:t>Flexible for</a:t>
            </a:r>
            <a:endParaRPr lang="en-US" sz="1050" dirty="0"/>
          </a:p>
          <a:p>
            <a:pPr marL="0" indent="0" algn="ctr">
              <a:buNone/>
            </a:pPr>
            <a:r>
              <a:rPr lang="en-US" sz="1050" b="1" dirty="0">
                <a:solidFill>
                  <a:srgbClr val="0D2137"/>
                </a:solidFill>
              </a:rPr>
              <a:t>All Organizations</a:t>
            </a:r>
            <a:endParaRPr lang="en-US" sz="1050" dirty="0"/>
          </a:p>
        </p:txBody>
      </p:sp>
      <p:sp>
        <p:nvSpPr>
          <p:cNvPr id="15" name="Text 12"/>
          <p:cNvSpPr/>
          <p:nvPr/>
        </p:nvSpPr>
        <p:spPr>
          <a:xfrm>
            <a:off x="5715000" y="2331720"/>
            <a:ext cx="2926080" cy="658368"/>
          </a:xfrm>
          <a:prstGeom prst="rect">
            <a:avLst/>
          </a:prstGeom>
          <a:noFill/>
        </p:spPr>
        <p:txBody>
          <a:bodyPr wrap="square" lIns="0" tIns="0" rIns="0" bIns="0" rtlCol="0" anchor="ctr"/>
          <a:lstStyle/>
          <a:p>
            <a:pPr marL="0" indent="0" algn="ctr">
              <a:buNone/>
            </a:pPr>
            <a:r>
              <a:rPr lang="en-US" sz="880" dirty="0">
                <a:solidFill>
                  <a:srgbClr val="1A2B3C"/>
                </a:solidFill>
              </a:rPr>
              <a:t>Any size and sector can adapt it to their own situation while supporting innovation and accountability.</a:t>
            </a:r>
            <a:endParaRPr lang="en-US" sz="880" dirty="0"/>
          </a:p>
        </p:txBody>
      </p:sp>
      <p:sp>
        <p:nvSpPr>
          <p:cNvPr id="16" name="Shape 13"/>
          <p:cNvSpPr/>
          <p:nvPr/>
        </p:nvSpPr>
        <p:spPr>
          <a:xfrm>
            <a:off x="320040" y="3246120"/>
            <a:ext cx="2029968" cy="512064"/>
          </a:xfrm>
          <a:prstGeom prst="rect">
            <a:avLst/>
          </a:prstGeom>
          <a:solidFill>
            <a:srgbClr val="0D2137"/>
          </a:solidFill>
          <a:ln w="12700">
            <a:solidFill>
              <a:srgbClr val="0D2137"/>
            </a:solidFill>
            <a:prstDash val="solid"/>
          </a:ln>
        </p:spPr>
      </p:sp>
      <p:sp>
        <p:nvSpPr>
          <p:cNvPr id="17" name="Text 14"/>
          <p:cNvSpPr/>
          <p:nvPr/>
        </p:nvSpPr>
        <p:spPr>
          <a:xfrm>
            <a:off x="320040" y="3246120"/>
            <a:ext cx="2029968" cy="512064"/>
          </a:xfrm>
          <a:prstGeom prst="rect">
            <a:avLst/>
          </a:prstGeom>
          <a:noFill/>
        </p:spPr>
        <p:txBody>
          <a:bodyPr wrap="square" lIns="0" tIns="0" rIns="0" bIns="0" rtlCol="0" anchor="ctr"/>
          <a:lstStyle/>
          <a:p>
            <a:pPr marL="0" indent="0" algn="ctr">
              <a:buNone/>
            </a:pPr>
            <a:r>
              <a:rPr lang="en-US" sz="1200" b="1" dirty="0">
                <a:solidFill>
                  <a:srgbClr val="FFFFFF"/>
                </a:solidFill>
              </a:rPr>
              <a:t>GOVERN</a:t>
            </a:r>
            <a:endParaRPr lang="en-US" sz="1200" dirty="0"/>
          </a:p>
        </p:txBody>
      </p:sp>
      <p:sp>
        <p:nvSpPr>
          <p:cNvPr id="18" name="Shape 15"/>
          <p:cNvSpPr/>
          <p:nvPr/>
        </p:nvSpPr>
        <p:spPr>
          <a:xfrm>
            <a:off x="2487168" y="3246120"/>
            <a:ext cx="2029968" cy="512064"/>
          </a:xfrm>
          <a:prstGeom prst="rect">
            <a:avLst/>
          </a:prstGeom>
          <a:solidFill>
            <a:srgbClr val="1B6CA8"/>
          </a:solidFill>
          <a:ln w="12700">
            <a:solidFill>
              <a:srgbClr val="1B6CA8"/>
            </a:solidFill>
            <a:prstDash val="solid"/>
          </a:ln>
        </p:spPr>
      </p:sp>
      <p:sp>
        <p:nvSpPr>
          <p:cNvPr id="19" name="Text 16"/>
          <p:cNvSpPr/>
          <p:nvPr/>
        </p:nvSpPr>
        <p:spPr>
          <a:xfrm>
            <a:off x="2487168" y="3246120"/>
            <a:ext cx="2029968" cy="512064"/>
          </a:xfrm>
          <a:prstGeom prst="rect">
            <a:avLst/>
          </a:prstGeom>
          <a:noFill/>
        </p:spPr>
        <p:txBody>
          <a:bodyPr wrap="square" lIns="0" tIns="0" rIns="0" bIns="0" rtlCol="0" anchor="ctr"/>
          <a:lstStyle/>
          <a:p>
            <a:pPr marL="0" indent="0" algn="ctr">
              <a:buNone/>
            </a:pPr>
            <a:r>
              <a:rPr lang="en-US" sz="1200" b="1" dirty="0">
                <a:solidFill>
                  <a:srgbClr val="FFFFFF"/>
                </a:solidFill>
              </a:rPr>
              <a:t>MAP</a:t>
            </a:r>
            <a:endParaRPr lang="en-US" sz="1200" dirty="0"/>
          </a:p>
        </p:txBody>
      </p:sp>
      <p:sp>
        <p:nvSpPr>
          <p:cNvPr id="20" name="Shape 17"/>
          <p:cNvSpPr/>
          <p:nvPr/>
        </p:nvSpPr>
        <p:spPr>
          <a:xfrm>
            <a:off x="4654296" y="3246120"/>
            <a:ext cx="2029968" cy="512064"/>
          </a:xfrm>
          <a:prstGeom prst="rect">
            <a:avLst/>
          </a:prstGeom>
          <a:solidFill>
            <a:srgbClr val="0F9B8E"/>
          </a:solidFill>
          <a:ln w="12700">
            <a:solidFill>
              <a:srgbClr val="0F9B8E"/>
            </a:solidFill>
            <a:prstDash val="solid"/>
          </a:ln>
        </p:spPr>
      </p:sp>
      <p:sp>
        <p:nvSpPr>
          <p:cNvPr id="21" name="Text 18"/>
          <p:cNvSpPr/>
          <p:nvPr/>
        </p:nvSpPr>
        <p:spPr>
          <a:xfrm>
            <a:off x="4654296" y="3246120"/>
            <a:ext cx="2029968" cy="512064"/>
          </a:xfrm>
          <a:prstGeom prst="rect">
            <a:avLst/>
          </a:prstGeom>
          <a:noFill/>
        </p:spPr>
        <p:txBody>
          <a:bodyPr wrap="square" lIns="0" tIns="0" rIns="0" bIns="0" rtlCol="0" anchor="ctr"/>
          <a:lstStyle/>
          <a:p>
            <a:pPr marL="0" indent="0" algn="ctr">
              <a:buNone/>
            </a:pPr>
            <a:r>
              <a:rPr lang="en-US" sz="1200" b="1" dirty="0">
                <a:solidFill>
                  <a:srgbClr val="FFFFFF"/>
                </a:solidFill>
              </a:rPr>
              <a:t>MEASURE</a:t>
            </a:r>
            <a:endParaRPr lang="en-US" sz="1200" dirty="0"/>
          </a:p>
        </p:txBody>
      </p:sp>
      <p:sp>
        <p:nvSpPr>
          <p:cNvPr id="22" name="Shape 19"/>
          <p:cNvSpPr/>
          <p:nvPr/>
        </p:nvSpPr>
        <p:spPr>
          <a:xfrm>
            <a:off x="6821424" y="3246120"/>
            <a:ext cx="2029968" cy="512064"/>
          </a:xfrm>
          <a:prstGeom prst="rect">
            <a:avLst/>
          </a:prstGeom>
          <a:solidFill>
            <a:srgbClr val="2E7D32"/>
          </a:solidFill>
          <a:ln w="12700">
            <a:solidFill>
              <a:srgbClr val="2E7D32"/>
            </a:solidFill>
            <a:prstDash val="solid"/>
          </a:ln>
        </p:spPr>
      </p:sp>
      <p:sp>
        <p:nvSpPr>
          <p:cNvPr id="23" name="Text 20"/>
          <p:cNvSpPr/>
          <p:nvPr/>
        </p:nvSpPr>
        <p:spPr>
          <a:xfrm>
            <a:off x="6821424" y="3246120"/>
            <a:ext cx="2029968" cy="512064"/>
          </a:xfrm>
          <a:prstGeom prst="rect">
            <a:avLst/>
          </a:prstGeom>
          <a:noFill/>
        </p:spPr>
        <p:txBody>
          <a:bodyPr wrap="square" lIns="0" tIns="0" rIns="0" bIns="0" rtlCol="0" anchor="ctr"/>
          <a:lstStyle/>
          <a:p>
            <a:pPr marL="0" indent="0" algn="ctr">
              <a:buNone/>
            </a:pPr>
            <a:r>
              <a:rPr lang="en-US" sz="1200" b="1" dirty="0">
                <a:solidFill>
                  <a:srgbClr val="FFFFFF"/>
                </a:solidFill>
              </a:rPr>
              <a:t>MANAGE</a:t>
            </a:r>
            <a:endParaRPr lang="en-US" sz="1200" dirty="0"/>
          </a:p>
        </p:txBody>
      </p:sp>
      <p:sp>
        <p:nvSpPr>
          <p:cNvPr id="25" name="Shape 22"/>
          <p:cNvSpPr/>
          <p:nvPr/>
        </p:nvSpPr>
        <p:spPr>
          <a:xfrm>
            <a:off x="320040" y="4069080"/>
            <a:ext cx="8503920" cy="630000"/>
          </a:xfrm>
          <a:prstGeom prst="rect">
            <a:avLst/>
          </a:prstGeom>
          <a:solidFill>
            <a:srgbClr val="FFF8E1"/>
          </a:solidFill>
          <a:ln w="6350">
            <a:solidFill>
              <a:srgbClr val="B8D4E8"/>
            </a:solidFill>
            <a:prstDash val="solid"/>
          </a:ln>
          <a:effectLst>
            <a:outerShdw blurRad="63500" dist="12700" dir="8100000" algn="bl" rotWithShape="0">
              <a:srgbClr val="A0BFDA">
                <a:alpha val="18000"/>
              </a:srgbClr>
            </a:outerShdw>
          </a:effectLst>
        </p:spPr>
      </p:sp>
      <p:sp>
        <p:nvSpPr>
          <p:cNvPr id="26" name="Text 23"/>
          <p:cNvSpPr/>
          <p:nvPr/>
        </p:nvSpPr>
        <p:spPr>
          <a:xfrm>
            <a:off x="502920" y="4152900"/>
            <a:ext cx="1737360" cy="256032"/>
          </a:xfrm>
          <a:prstGeom prst="rect">
            <a:avLst/>
          </a:prstGeom>
          <a:noFill/>
        </p:spPr>
        <p:txBody>
          <a:bodyPr wrap="square" lIns="0" tIns="0" rIns="0" bIns="0" rtlCol="0" anchor="ctr"/>
          <a:lstStyle/>
          <a:p>
            <a:pPr marL="0" indent="0">
              <a:buNone/>
            </a:pPr>
            <a:r>
              <a:rPr lang="en-US" sz="1000" b="1" dirty="0">
                <a:solidFill>
                  <a:srgbClr val="0D2137"/>
                </a:solidFill>
              </a:rPr>
              <a:t>Ethics ↔ Security:</a:t>
            </a:r>
            <a:endParaRPr lang="en-US" sz="1000" dirty="0"/>
          </a:p>
        </p:txBody>
      </p:sp>
      <p:sp>
        <p:nvSpPr>
          <p:cNvPr id="27" name="Text 24"/>
          <p:cNvSpPr/>
          <p:nvPr/>
        </p:nvSpPr>
        <p:spPr>
          <a:xfrm>
            <a:off x="2286000" y="4152900"/>
            <a:ext cx="6400800" cy="475200"/>
          </a:xfrm>
          <a:prstGeom prst="rect">
            <a:avLst/>
          </a:prstGeom>
          <a:noFill/>
        </p:spPr>
        <p:txBody>
          <a:bodyPr wrap="square" lIns="0" tIns="0" rIns="0" bIns="0" rtlCol="0" anchor="ctr"/>
          <a:lstStyle/>
          <a:p>
            <a:pPr marL="0" indent="0" algn="l">
              <a:buNone/>
            </a:pPr>
            <a:r>
              <a:rPr lang="en-US" sz="950" dirty="0">
                <a:solidFill>
                  <a:srgbClr val="1A2B3C"/>
                </a:solidFill>
              </a:rPr>
              <a:t>Ethical AI requires secure AI. A biased model can be exploited by attackers, and an insecure AI can violate ethical principles like privacy and fairness.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09  NIST Objectives</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Main Objectives of NIST AI RMF</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320040" y="1051560"/>
            <a:ext cx="4160520" cy="384048"/>
          </a:xfrm>
          <a:prstGeom prst="rect">
            <a:avLst/>
          </a:prstGeom>
          <a:solidFill>
            <a:srgbClr val="0D2137"/>
          </a:solidFill>
          <a:ln w="12700">
            <a:solidFill>
              <a:srgbClr val="0D2137"/>
            </a:solidFill>
            <a:prstDash val="solid"/>
          </a:ln>
        </p:spPr>
      </p:sp>
      <p:sp>
        <p:nvSpPr>
          <p:cNvPr id="8" name="Shape 6"/>
          <p:cNvSpPr/>
          <p:nvPr/>
        </p:nvSpPr>
        <p:spPr>
          <a:xfrm>
            <a:off x="429768" y="1078992"/>
            <a:ext cx="329184" cy="329184"/>
          </a:xfrm>
          <a:prstGeom prst="rect">
            <a:avLst/>
          </a:prstGeom>
          <a:solidFill>
            <a:srgbClr val="FFFFFF"/>
          </a:solidFill>
          <a:ln w="12700">
            <a:solidFill>
              <a:srgbClr val="FFFFFF"/>
            </a:solidFill>
            <a:prstDash val="solid"/>
          </a:ln>
        </p:spPr>
      </p:sp>
      <p:pic>
        <p:nvPicPr>
          <p:cNvPr id="9" name="Image 0" descr="preencoded.png"/>
          <p:cNvPicPr>
            <a:picLocks noChangeAspect="1"/>
          </p:cNvPicPr>
          <p:nvPr/>
        </p:nvPicPr>
        <p:blipFill>
          <a:blip r:embed="rId1"/>
          <a:stretch>
            <a:fillRect/>
          </a:stretch>
        </p:blipFill>
        <p:spPr>
          <a:xfrm>
            <a:off x="487375" y="1136599"/>
            <a:ext cx="213970" cy="213970"/>
          </a:xfrm>
          <a:prstGeom prst="rect">
            <a:avLst/>
          </a:prstGeom>
        </p:spPr>
      </p:pic>
      <p:sp>
        <p:nvSpPr>
          <p:cNvPr id="10" name="Text 7"/>
          <p:cNvSpPr/>
          <p:nvPr/>
        </p:nvSpPr>
        <p:spPr>
          <a:xfrm>
            <a:off x="886968" y="1051560"/>
            <a:ext cx="3429000" cy="384048"/>
          </a:xfrm>
          <a:prstGeom prst="rect">
            <a:avLst/>
          </a:prstGeom>
          <a:noFill/>
        </p:spPr>
        <p:txBody>
          <a:bodyPr wrap="square" lIns="0" tIns="635" rIns="0" bIns="0" rtlCol="0" anchor="ctr"/>
          <a:lstStyle/>
          <a:p>
            <a:pPr marL="0" indent="0" algn="l">
              <a:buNone/>
            </a:pPr>
            <a:r>
              <a:rPr lang="en-US" sz="1300" b="1" dirty="0">
                <a:solidFill>
                  <a:srgbClr val="FFFFFF"/>
                </a:solidFill>
              </a:rPr>
              <a:t>GOVERN</a:t>
            </a:r>
            <a:endParaRPr lang="en-US" sz="1300" dirty="0"/>
          </a:p>
        </p:txBody>
      </p:sp>
      <p:sp>
        <p:nvSpPr>
          <p:cNvPr id="11" name="Text 8"/>
          <p:cNvSpPr/>
          <p:nvPr/>
        </p:nvSpPr>
        <p:spPr>
          <a:xfrm>
            <a:off x="448056" y="1527048"/>
            <a:ext cx="3904488" cy="1207008"/>
          </a:xfrm>
          <a:prstGeom prst="rect">
            <a:avLst/>
          </a:prstGeom>
          <a:noFill/>
        </p:spPr>
        <p:txBody>
          <a:bodyPr wrap="square" lIns="0" tIns="0" rIns="0" bIns="0" rtlCol="0" anchor="t"/>
          <a:lstStyle/>
          <a:p>
            <a:pPr marL="0" indent="0" algn="l">
              <a:buNone/>
            </a:pPr>
            <a:r>
              <a:rPr lang="en-US" sz="1000" dirty="0">
                <a:solidFill>
                  <a:srgbClr val="1A2B3C"/>
                </a:solidFill>
              </a:rPr>
              <a:t>Establishes organizational culture, policies, accountability, and oversight for responsible AI risk management.</a:t>
            </a:r>
            <a:endParaRPr lang="en-US" sz="1000" dirty="0"/>
          </a:p>
        </p:txBody>
      </p:sp>
      <p:sp>
        <p:nvSpPr>
          <p:cNvPr id="12" name="Shape 9"/>
          <p:cNvSpPr/>
          <p:nvPr/>
        </p:nvSpPr>
        <p:spPr>
          <a:xfrm>
            <a:off x="4663440" y="105156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3" name="Shape 10"/>
          <p:cNvSpPr/>
          <p:nvPr/>
        </p:nvSpPr>
        <p:spPr>
          <a:xfrm>
            <a:off x="4663440" y="1051560"/>
            <a:ext cx="4160520" cy="384048"/>
          </a:xfrm>
          <a:prstGeom prst="rect">
            <a:avLst/>
          </a:prstGeom>
          <a:solidFill>
            <a:srgbClr val="1B6CA8"/>
          </a:solidFill>
          <a:ln w="12700">
            <a:solidFill>
              <a:srgbClr val="1B6CA8"/>
            </a:solidFill>
            <a:prstDash val="solid"/>
          </a:ln>
        </p:spPr>
      </p:sp>
      <p:sp>
        <p:nvSpPr>
          <p:cNvPr id="14" name="Shape 11"/>
          <p:cNvSpPr/>
          <p:nvPr/>
        </p:nvSpPr>
        <p:spPr>
          <a:xfrm>
            <a:off x="4773168" y="1078992"/>
            <a:ext cx="329184" cy="329184"/>
          </a:xfrm>
          <a:prstGeom prst="rect">
            <a:avLst/>
          </a:prstGeom>
          <a:solidFill>
            <a:srgbClr val="FFFFFF"/>
          </a:solidFill>
          <a:ln w="12700">
            <a:solidFill>
              <a:srgbClr val="FFFFFF"/>
            </a:solidFill>
            <a:prstDash val="solid"/>
          </a:ln>
        </p:spPr>
      </p:sp>
      <p:pic>
        <p:nvPicPr>
          <p:cNvPr id="15" name="Image 1" descr="preencoded.png"/>
          <p:cNvPicPr>
            <a:picLocks noChangeAspect="1"/>
          </p:cNvPicPr>
          <p:nvPr/>
        </p:nvPicPr>
        <p:blipFill>
          <a:blip r:embed="rId2"/>
          <a:stretch>
            <a:fillRect/>
          </a:stretch>
        </p:blipFill>
        <p:spPr>
          <a:xfrm>
            <a:off x="4830775" y="1136599"/>
            <a:ext cx="213970" cy="213970"/>
          </a:xfrm>
          <a:prstGeom prst="rect">
            <a:avLst/>
          </a:prstGeom>
        </p:spPr>
      </p:pic>
      <p:sp>
        <p:nvSpPr>
          <p:cNvPr id="16" name="Text 12"/>
          <p:cNvSpPr/>
          <p:nvPr/>
        </p:nvSpPr>
        <p:spPr>
          <a:xfrm>
            <a:off x="5230368" y="1051560"/>
            <a:ext cx="3429000" cy="384048"/>
          </a:xfrm>
          <a:prstGeom prst="rect">
            <a:avLst/>
          </a:prstGeom>
          <a:noFill/>
        </p:spPr>
        <p:txBody>
          <a:bodyPr wrap="square" lIns="0" tIns="635" rIns="0" bIns="0" rtlCol="0" anchor="ctr"/>
          <a:lstStyle/>
          <a:p>
            <a:pPr marL="0" indent="0" algn="l">
              <a:buNone/>
            </a:pPr>
            <a:r>
              <a:rPr lang="en-US" sz="1300" b="1" dirty="0">
                <a:solidFill>
                  <a:srgbClr val="FFFFFF"/>
                </a:solidFill>
              </a:rPr>
              <a:t>MAP</a:t>
            </a:r>
            <a:endParaRPr lang="en-US" sz="1300" dirty="0"/>
          </a:p>
        </p:txBody>
      </p:sp>
      <p:sp>
        <p:nvSpPr>
          <p:cNvPr id="17" name="Text 13"/>
          <p:cNvSpPr/>
          <p:nvPr/>
        </p:nvSpPr>
        <p:spPr>
          <a:xfrm>
            <a:off x="4791456" y="1527048"/>
            <a:ext cx="3904488" cy="1207008"/>
          </a:xfrm>
          <a:prstGeom prst="rect">
            <a:avLst/>
          </a:prstGeom>
          <a:noFill/>
        </p:spPr>
        <p:txBody>
          <a:bodyPr wrap="square" lIns="0" tIns="0" rIns="0" bIns="0" rtlCol="0" anchor="t"/>
          <a:lstStyle/>
          <a:p>
            <a:pPr marL="0" indent="0" algn="l">
              <a:buNone/>
            </a:pPr>
            <a:r>
              <a:rPr lang="en-US" sz="1000" dirty="0">
                <a:solidFill>
                  <a:srgbClr val="1A2B3C"/>
                </a:solidFill>
              </a:rPr>
              <a:t>Identifies the context, intended purpose, and potential risks of AI systems across their full life cycle.</a:t>
            </a:r>
            <a:endParaRPr lang="en-US" sz="1000" dirty="0"/>
          </a:p>
        </p:txBody>
      </p:sp>
      <p:sp>
        <p:nvSpPr>
          <p:cNvPr id="18" name="Shape 14"/>
          <p:cNvSpPr/>
          <p:nvPr/>
        </p:nvSpPr>
        <p:spPr>
          <a:xfrm>
            <a:off x="320040" y="297180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9" name="Shape 15"/>
          <p:cNvSpPr/>
          <p:nvPr/>
        </p:nvSpPr>
        <p:spPr>
          <a:xfrm>
            <a:off x="320040" y="2971800"/>
            <a:ext cx="4160520" cy="384048"/>
          </a:xfrm>
          <a:prstGeom prst="rect">
            <a:avLst/>
          </a:prstGeom>
          <a:solidFill>
            <a:srgbClr val="0F9B8E"/>
          </a:solidFill>
          <a:ln w="12700">
            <a:solidFill>
              <a:srgbClr val="0F9B8E"/>
            </a:solidFill>
            <a:prstDash val="solid"/>
          </a:ln>
        </p:spPr>
      </p:sp>
      <p:sp>
        <p:nvSpPr>
          <p:cNvPr id="20" name="Shape 16"/>
          <p:cNvSpPr/>
          <p:nvPr/>
        </p:nvSpPr>
        <p:spPr>
          <a:xfrm>
            <a:off x="429768" y="2999232"/>
            <a:ext cx="329184" cy="329184"/>
          </a:xfrm>
          <a:prstGeom prst="rect">
            <a:avLst/>
          </a:prstGeom>
          <a:solidFill>
            <a:srgbClr val="FFFFFF"/>
          </a:solidFill>
          <a:ln w="12700">
            <a:solidFill>
              <a:srgbClr val="FFFFFF"/>
            </a:solidFill>
            <a:prstDash val="solid"/>
          </a:ln>
        </p:spPr>
      </p:sp>
      <p:pic>
        <p:nvPicPr>
          <p:cNvPr id="21" name="Image 2" descr="preencoded.png"/>
          <p:cNvPicPr>
            <a:picLocks noChangeAspect="1"/>
          </p:cNvPicPr>
          <p:nvPr/>
        </p:nvPicPr>
        <p:blipFill>
          <a:blip r:embed="rId3"/>
          <a:stretch>
            <a:fillRect/>
          </a:stretch>
        </p:blipFill>
        <p:spPr>
          <a:xfrm>
            <a:off x="487375" y="3056839"/>
            <a:ext cx="213970" cy="213970"/>
          </a:xfrm>
          <a:prstGeom prst="rect">
            <a:avLst/>
          </a:prstGeom>
        </p:spPr>
      </p:pic>
      <p:sp>
        <p:nvSpPr>
          <p:cNvPr id="22" name="Text 17"/>
          <p:cNvSpPr/>
          <p:nvPr/>
        </p:nvSpPr>
        <p:spPr>
          <a:xfrm>
            <a:off x="886968" y="2971800"/>
            <a:ext cx="3429000" cy="384048"/>
          </a:xfrm>
          <a:prstGeom prst="rect">
            <a:avLst/>
          </a:prstGeom>
          <a:noFill/>
        </p:spPr>
        <p:txBody>
          <a:bodyPr wrap="square" lIns="0" tIns="635" rIns="0" bIns="0" rtlCol="0" anchor="ctr"/>
          <a:lstStyle/>
          <a:p>
            <a:pPr marL="0" indent="0" algn="l">
              <a:buNone/>
            </a:pPr>
            <a:r>
              <a:rPr lang="en-US" sz="1300" b="1" dirty="0">
                <a:solidFill>
                  <a:srgbClr val="FFFFFF"/>
                </a:solidFill>
              </a:rPr>
              <a:t>MEASURE</a:t>
            </a:r>
            <a:endParaRPr lang="en-US" sz="1300" dirty="0"/>
          </a:p>
        </p:txBody>
      </p:sp>
      <p:sp>
        <p:nvSpPr>
          <p:cNvPr id="23" name="Text 18"/>
          <p:cNvSpPr/>
          <p:nvPr/>
        </p:nvSpPr>
        <p:spPr>
          <a:xfrm>
            <a:off x="448056" y="3447288"/>
            <a:ext cx="3904488" cy="1207008"/>
          </a:xfrm>
          <a:prstGeom prst="rect">
            <a:avLst/>
          </a:prstGeom>
          <a:noFill/>
        </p:spPr>
        <p:txBody>
          <a:bodyPr wrap="square" lIns="0" tIns="0" rIns="0" bIns="0" rtlCol="0" anchor="t"/>
          <a:lstStyle/>
          <a:p>
            <a:pPr marL="0" indent="0" algn="l">
              <a:buNone/>
            </a:pPr>
            <a:r>
              <a:rPr lang="en-US" sz="1000" dirty="0">
                <a:solidFill>
                  <a:srgbClr val="1A2B3C"/>
                </a:solidFill>
              </a:rPr>
              <a:t>Assesses, analyzes, and quantifies identified AI risks using metrics, benchmarks, and rigorous testing methods.</a:t>
            </a:r>
            <a:endParaRPr lang="en-US" sz="1000" dirty="0"/>
          </a:p>
        </p:txBody>
      </p:sp>
      <p:sp>
        <p:nvSpPr>
          <p:cNvPr id="24" name="Shape 19"/>
          <p:cNvSpPr/>
          <p:nvPr/>
        </p:nvSpPr>
        <p:spPr>
          <a:xfrm>
            <a:off x="4663440" y="297180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25" name="Shape 20"/>
          <p:cNvSpPr/>
          <p:nvPr/>
        </p:nvSpPr>
        <p:spPr>
          <a:xfrm>
            <a:off x="4663440" y="2971800"/>
            <a:ext cx="4160520" cy="384048"/>
          </a:xfrm>
          <a:prstGeom prst="rect">
            <a:avLst/>
          </a:prstGeom>
          <a:solidFill>
            <a:srgbClr val="2E7D32"/>
          </a:solidFill>
          <a:ln w="12700">
            <a:solidFill>
              <a:srgbClr val="2E7D32"/>
            </a:solidFill>
            <a:prstDash val="solid"/>
          </a:ln>
        </p:spPr>
      </p:sp>
      <p:sp>
        <p:nvSpPr>
          <p:cNvPr id="26" name="Shape 21"/>
          <p:cNvSpPr/>
          <p:nvPr/>
        </p:nvSpPr>
        <p:spPr>
          <a:xfrm>
            <a:off x="4773168" y="2999232"/>
            <a:ext cx="329184" cy="329184"/>
          </a:xfrm>
          <a:prstGeom prst="rect">
            <a:avLst/>
          </a:prstGeom>
          <a:solidFill>
            <a:srgbClr val="FFFFFF"/>
          </a:solidFill>
          <a:ln w="12700">
            <a:solidFill>
              <a:srgbClr val="FFFFFF"/>
            </a:solidFill>
            <a:prstDash val="solid"/>
          </a:ln>
        </p:spPr>
      </p:sp>
      <p:pic>
        <p:nvPicPr>
          <p:cNvPr id="27" name="Image 3" descr="preencoded.png"/>
          <p:cNvPicPr>
            <a:picLocks noChangeAspect="1"/>
          </p:cNvPicPr>
          <p:nvPr/>
        </p:nvPicPr>
        <p:blipFill>
          <a:blip r:embed="rId4"/>
          <a:stretch>
            <a:fillRect/>
          </a:stretch>
        </p:blipFill>
        <p:spPr>
          <a:xfrm>
            <a:off x="4830775" y="3056839"/>
            <a:ext cx="213970" cy="213970"/>
          </a:xfrm>
          <a:prstGeom prst="rect">
            <a:avLst/>
          </a:prstGeom>
        </p:spPr>
      </p:pic>
      <p:sp>
        <p:nvSpPr>
          <p:cNvPr id="28" name="Text 22"/>
          <p:cNvSpPr/>
          <p:nvPr/>
        </p:nvSpPr>
        <p:spPr>
          <a:xfrm>
            <a:off x="5230368" y="2971800"/>
            <a:ext cx="3429000" cy="384048"/>
          </a:xfrm>
          <a:prstGeom prst="rect">
            <a:avLst/>
          </a:prstGeom>
          <a:noFill/>
        </p:spPr>
        <p:txBody>
          <a:bodyPr wrap="square" lIns="0" tIns="635" rIns="0" bIns="0" rtlCol="0" anchor="ctr"/>
          <a:lstStyle/>
          <a:p>
            <a:pPr marL="0" indent="0" algn="l">
              <a:buNone/>
            </a:pPr>
            <a:r>
              <a:rPr lang="en-US" sz="1300" b="1" dirty="0">
                <a:solidFill>
                  <a:srgbClr val="FFFFFF"/>
                </a:solidFill>
              </a:rPr>
              <a:t>MANAGE</a:t>
            </a:r>
            <a:endParaRPr lang="en-US" sz="1300" dirty="0"/>
          </a:p>
        </p:txBody>
      </p:sp>
      <p:sp>
        <p:nvSpPr>
          <p:cNvPr id="29" name="Text 23"/>
          <p:cNvSpPr/>
          <p:nvPr/>
        </p:nvSpPr>
        <p:spPr>
          <a:xfrm>
            <a:off x="4791456" y="3447288"/>
            <a:ext cx="3904488" cy="1207008"/>
          </a:xfrm>
          <a:prstGeom prst="rect">
            <a:avLst/>
          </a:prstGeom>
          <a:noFill/>
        </p:spPr>
        <p:txBody>
          <a:bodyPr wrap="square" lIns="0" tIns="0" rIns="0" bIns="0" rtlCol="0" anchor="t"/>
          <a:lstStyle/>
          <a:p>
            <a:pPr marL="0" indent="0" algn="l">
              <a:buNone/>
            </a:pPr>
            <a:r>
              <a:rPr lang="en-US" sz="1000" dirty="0">
                <a:solidFill>
                  <a:srgbClr val="1A2B3C"/>
                </a:solidFill>
              </a:rPr>
              <a:t>Prioritizes risks and implements targeted strategies to mitigate, monitor, and address them effectively.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10  ISO 42001</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ISO 42001 — AI Management System Standard</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5074920" cy="239572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Text 5"/>
          <p:cNvSpPr/>
          <p:nvPr/>
        </p:nvSpPr>
        <p:spPr>
          <a:xfrm>
            <a:off x="502920" y="1115568"/>
            <a:ext cx="4663440" cy="256032"/>
          </a:xfrm>
          <a:prstGeom prst="rect">
            <a:avLst/>
          </a:prstGeom>
          <a:noFill/>
        </p:spPr>
        <p:txBody>
          <a:bodyPr wrap="square" lIns="0" tIns="0" rIns="0" bIns="0" rtlCol="0" anchor="ctr"/>
          <a:lstStyle/>
          <a:p>
            <a:pPr marL="0" indent="0">
              <a:buNone/>
            </a:pPr>
            <a:r>
              <a:rPr lang="en-US" sz="1100" b="1" dirty="0">
                <a:solidFill>
                  <a:srgbClr val="0D2137"/>
                </a:solidFill>
              </a:rPr>
              <a:t>What is it?</a:t>
            </a:r>
            <a:endParaRPr lang="en-US" sz="1100" dirty="0"/>
          </a:p>
        </p:txBody>
      </p:sp>
      <p:sp>
        <p:nvSpPr>
          <p:cNvPr id="8" name="Text 6"/>
          <p:cNvSpPr/>
          <p:nvPr/>
        </p:nvSpPr>
        <p:spPr>
          <a:xfrm>
            <a:off x="502920" y="1408176"/>
            <a:ext cx="4663440" cy="914400"/>
          </a:xfrm>
          <a:prstGeom prst="rect">
            <a:avLst/>
          </a:prstGeom>
          <a:noFill/>
        </p:spPr>
        <p:txBody>
          <a:bodyPr wrap="square" lIns="0" tIns="0" rIns="0" bIns="0" rtlCol="0" anchor="ctr"/>
          <a:lstStyle/>
          <a:p>
            <a:pPr marL="0" indent="0" algn="l">
              <a:buNone/>
            </a:pPr>
            <a:r>
              <a:rPr lang="en-US" sz="950" dirty="0">
                <a:solidFill>
                  <a:srgbClr val="1A2B3C"/>
                </a:solidFill>
              </a:rPr>
              <a:t>ISO 42001 is the world's first standard for AI management in companies. It helps organizations that create or use AI to establish and continually improve their AI management system — managing risks, maintaining ethics and transparency, ensuring legal compliance, building trust, and using AI responsibly.</a:t>
            </a:r>
            <a:endParaRPr lang="en-US" sz="950" dirty="0"/>
          </a:p>
        </p:txBody>
      </p:sp>
      <p:sp>
        <p:nvSpPr>
          <p:cNvPr id="9" name="Text 7"/>
          <p:cNvSpPr/>
          <p:nvPr/>
        </p:nvSpPr>
        <p:spPr>
          <a:xfrm>
            <a:off x="502920" y="2377440"/>
            <a:ext cx="4663440" cy="237744"/>
          </a:xfrm>
          <a:prstGeom prst="rect">
            <a:avLst/>
          </a:prstGeom>
          <a:noFill/>
        </p:spPr>
        <p:txBody>
          <a:bodyPr wrap="square" lIns="0" tIns="0" rIns="0" bIns="0" rtlCol="0" anchor="ctr"/>
          <a:lstStyle/>
          <a:p>
            <a:pPr marL="0" indent="0">
              <a:buNone/>
            </a:pPr>
            <a:r>
              <a:rPr lang="en-US" sz="1100" b="1" dirty="0">
                <a:solidFill>
                  <a:srgbClr val="0D2137"/>
                </a:solidFill>
              </a:rPr>
              <a:t>Who should use it?</a:t>
            </a:r>
            <a:endParaRPr lang="en-US" sz="1100" dirty="0"/>
          </a:p>
        </p:txBody>
      </p:sp>
      <p:sp>
        <p:nvSpPr>
          <p:cNvPr id="10" name="Text 8"/>
          <p:cNvSpPr/>
          <p:nvPr/>
        </p:nvSpPr>
        <p:spPr>
          <a:xfrm>
            <a:off x="502920" y="2633472"/>
            <a:ext cx="4663440" cy="685800"/>
          </a:xfrm>
          <a:prstGeom prst="rect">
            <a:avLst/>
          </a:prstGeom>
          <a:noFill/>
        </p:spPr>
        <p:txBody>
          <a:bodyPr wrap="square" lIns="0" tIns="0" rIns="0" bIns="0" rtlCol="0" anchor="ctr"/>
          <a:lstStyle/>
          <a:p>
            <a:pPr marL="0" indent="0">
              <a:buNone/>
            </a:pPr>
            <a:r>
              <a:rPr lang="en-US" sz="950" dirty="0">
                <a:solidFill>
                  <a:srgbClr val="1A2B3C"/>
                </a:solidFill>
              </a:rPr>
              <a:t>• Organizations developing or deploying AI</a:t>
            </a:r>
            <a:endParaRPr lang="en-US" sz="950" dirty="0"/>
          </a:p>
          <a:p>
            <a:pPr marL="0" indent="0">
              <a:buNone/>
            </a:pPr>
            <a:r>
              <a:rPr lang="en-US" sz="950" dirty="0">
                <a:solidFill>
                  <a:srgbClr val="1A2B3C"/>
                </a:solidFill>
              </a:rPr>
              <a:t>• Private &amp; Public Sector Businesses</a:t>
            </a:r>
            <a:endParaRPr lang="en-US" sz="950" dirty="0"/>
          </a:p>
          <a:p>
            <a:pPr marL="0" indent="0">
              <a:buNone/>
            </a:pPr>
            <a:r>
              <a:rPr lang="en-US" sz="950" dirty="0">
                <a:solidFill>
                  <a:srgbClr val="1A2B3C"/>
                </a:solidFill>
              </a:rPr>
              <a:t>• Regulatory &amp; Compliance Teams</a:t>
            </a:r>
            <a:endParaRPr lang="en-US" sz="950" dirty="0"/>
          </a:p>
        </p:txBody>
      </p:sp>
      <p:sp>
        <p:nvSpPr>
          <p:cNvPr id="11" name="Shape 9"/>
          <p:cNvSpPr/>
          <p:nvPr/>
        </p:nvSpPr>
        <p:spPr>
          <a:xfrm>
            <a:off x="5577840" y="1051560"/>
            <a:ext cx="3246120" cy="2395728"/>
          </a:xfrm>
          <a:prstGeom prst="rect">
            <a:avLst/>
          </a:prstGeom>
          <a:solidFill>
            <a:srgbClr val="EBF5FB"/>
          </a:solidFill>
          <a:ln w="6350">
            <a:solidFill>
              <a:srgbClr val="B8D4E8"/>
            </a:solidFill>
            <a:prstDash val="solid"/>
          </a:ln>
          <a:effectLst>
            <a:outerShdw blurRad="63500" dist="12700" dir="8100000" algn="bl" rotWithShape="0">
              <a:srgbClr val="A0BFDA">
                <a:alpha val="18000"/>
              </a:srgbClr>
            </a:outerShdw>
          </a:effectLst>
        </p:spPr>
      </p:sp>
      <p:sp>
        <p:nvSpPr>
          <p:cNvPr id="12" name="Shape 10"/>
          <p:cNvSpPr/>
          <p:nvPr/>
        </p:nvSpPr>
        <p:spPr>
          <a:xfrm>
            <a:off x="6885432" y="1261872"/>
            <a:ext cx="621792" cy="621792"/>
          </a:xfrm>
          <a:prstGeom prst="rect">
            <a:avLst/>
          </a:prstGeom>
          <a:solidFill>
            <a:srgbClr val="0F9B8E"/>
          </a:solidFill>
          <a:ln w="12700">
            <a:solidFill>
              <a:srgbClr val="0F9B8E"/>
            </a:solidFill>
            <a:prstDash val="solid"/>
          </a:ln>
        </p:spPr>
      </p:sp>
      <p:pic>
        <p:nvPicPr>
          <p:cNvPr id="13" name="Image 0" descr="preencoded.png"/>
          <p:cNvPicPr>
            <a:picLocks noChangeAspect="1"/>
          </p:cNvPicPr>
          <p:nvPr/>
        </p:nvPicPr>
        <p:blipFill>
          <a:blip r:embed="rId1"/>
          <a:stretch>
            <a:fillRect/>
          </a:stretch>
        </p:blipFill>
        <p:spPr>
          <a:xfrm>
            <a:off x="6994246" y="1370686"/>
            <a:ext cx="404165" cy="404165"/>
          </a:xfrm>
          <a:prstGeom prst="rect">
            <a:avLst/>
          </a:prstGeom>
        </p:spPr>
      </p:pic>
      <p:sp>
        <p:nvSpPr>
          <p:cNvPr id="14" name="Text 11"/>
          <p:cNvSpPr/>
          <p:nvPr/>
        </p:nvSpPr>
        <p:spPr>
          <a:xfrm>
            <a:off x="5715000" y="1975104"/>
            <a:ext cx="2926080" cy="256032"/>
          </a:xfrm>
          <a:prstGeom prst="rect">
            <a:avLst/>
          </a:prstGeom>
          <a:noFill/>
        </p:spPr>
        <p:txBody>
          <a:bodyPr wrap="square" lIns="0" tIns="0" rIns="0" bIns="0" rtlCol="0" anchor="ctr"/>
          <a:lstStyle/>
          <a:p>
            <a:pPr marL="0" indent="0" algn="ctr">
              <a:buNone/>
            </a:pPr>
            <a:r>
              <a:rPr lang="en-US" sz="1100" b="1" dirty="0">
                <a:solidFill>
                  <a:srgbClr val="0D2137"/>
                </a:solidFill>
              </a:rPr>
              <a:t>Global Standard</a:t>
            </a:r>
            <a:endParaRPr lang="en-US" sz="1100" dirty="0"/>
          </a:p>
        </p:txBody>
      </p:sp>
      <p:sp>
        <p:nvSpPr>
          <p:cNvPr id="15" name="Text 12"/>
          <p:cNvSpPr/>
          <p:nvPr/>
        </p:nvSpPr>
        <p:spPr>
          <a:xfrm>
            <a:off x="5715000" y="2267712"/>
            <a:ext cx="2926080" cy="658368"/>
          </a:xfrm>
          <a:prstGeom prst="rect">
            <a:avLst/>
          </a:prstGeom>
          <a:noFill/>
        </p:spPr>
        <p:txBody>
          <a:bodyPr wrap="square" lIns="0" tIns="0" rIns="0" bIns="0" rtlCol="0" anchor="ctr"/>
          <a:lstStyle/>
          <a:p>
            <a:pPr marL="0" indent="0" algn="ctr">
              <a:buNone/>
            </a:pPr>
            <a:r>
              <a:rPr lang="en-US" sz="880" dirty="0">
                <a:solidFill>
                  <a:srgbClr val="1A2B3C"/>
                </a:solidFill>
              </a:rPr>
              <a:t>Works alongside ISO 27001 (Information Security) and other ISO management system standards.</a:t>
            </a:r>
            <a:endParaRPr lang="en-US" sz="880" dirty="0"/>
          </a:p>
        </p:txBody>
      </p:sp>
      <p:sp>
        <p:nvSpPr>
          <p:cNvPr id="16" name="Text 13"/>
          <p:cNvSpPr/>
          <p:nvPr/>
        </p:nvSpPr>
        <p:spPr>
          <a:xfrm>
            <a:off x="5715000" y="2944368"/>
            <a:ext cx="2926080" cy="402336"/>
          </a:xfrm>
          <a:prstGeom prst="rect">
            <a:avLst/>
          </a:prstGeom>
          <a:noFill/>
        </p:spPr>
        <p:txBody>
          <a:bodyPr wrap="square" lIns="0" tIns="0" rIns="0" bIns="0" rtlCol="0" anchor="ctr"/>
          <a:lstStyle/>
          <a:p>
            <a:pPr marL="0" indent="0" algn="ctr">
              <a:buNone/>
            </a:pPr>
            <a:r>
              <a:rPr lang="en-US" sz="900" i="1" dirty="0">
                <a:solidFill>
                  <a:srgbClr val="5A7B96"/>
                </a:solidFill>
              </a:rPr>
              <a:t>Applicable globally across all industries and sizes.</a:t>
            </a:r>
            <a:endParaRPr lang="en-US" sz="900" dirty="0"/>
          </a:p>
        </p:txBody>
      </p:sp>
      <p:sp>
        <p:nvSpPr>
          <p:cNvPr id="17" name="Shape 14"/>
          <p:cNvSpPr/>
          <p:nvPr/>
        </p:nvSpPr>
        <p:spPr>
          <a:xfrm>
            <a:off x="320040" y="3566160"/>
            <a:ext cx="2029968" cy="457200"/>
          </a:xfrm>
          <a:prstGeom prst="rect">
            <a:avLst/>
          </a:prstGeom>
          <a:solidFill>
            <a:srgbClr val="0D2137"/>
          </a:solidFill>
          <a:ln w="12700">
            <a:solidFill>
              <a:srgbClr val="0D2137"/>
            </a:solidFill>
            <a:prstDash val="solid"/>
          </a:ln>
        </p:spPr>
      </p:sp>
      <p:sp>
        <p:nvSpPr>
          <p:cNvPr id="18" name="Text 15"/>
          <p:cNvSpPr/>
          <p:nvPr/>
        </p:nvSpPr>
        <p:spPr>
          <a:xfrm>
            <a:off x="320040" y="3566160"/>
            <a:ext cx="2029968" cy="457200"/>
          </a:xfrm>
          <a:prstGeom prst="rect">
            <a:avLst/>
          </a:prstGeom>
          <a:noFill/>
        </p:spPr>
        <p:txBody>
          <a:bodyPr wrap="square" lIns="0" tIns="0" rIns="0" bIns="0" rtlCol="0" anchor="ctr"/>
          <a:lstStyle/>
          <a:p>
            <a:pPr marL="0" indent="0" algn="ctr">
              <a:buNone/>
            </a:pPr>
            <a:r>
              <a:rPr lang="en-US" sz="1000" b="1" dirty="0">
                <a:solidFill>
                  <a:srgbClr val="FFFFFF"/>
                </a:solidFill>
              </a:rPr>
              <a:t>CONTEXT</a:t>
            </a:r>
            <a:endParaRPr lang="en-US" sz="1000" dirty="0"/>
          </a:p>
        </p:txBody>
      </p:sp>
      <p:sp>
        <p:nvSpPr>
          <p:cNvPr id="19" name="Shape 16"/>
          <p:cNvSpPr/>
          <p:nvPr/>
        </p:nvSpPr>
        <p:spPr>
          <a:xfrm>
            <a:off x="2487168" y="3566160"/>
            <a:ext cx="2029968" cy="457200"/>
          </a:xfrm>
          <a:prstGeom prst="rect">
            <a:avLst/>
          </a:prstGeom>
          <a:solidFill>
            <a:srgbClr val="1B6CA8"/>
          </a:solidFill>
          <a:ln w="12700">
            <a:solidFill>
              <a:srgbClr val="1B6CA8"/>
            </a:solidFill>
            <a:prstDash val="solid"/>
          </a:ln>
        </p:spPr>
      </p:sp>
      <p:sp>
        <p:nvSpPr>
          <p:cNvPr id="20" name="Text 17"/>
          <p:cNvSpPr/>
          <p:nvPr/>
        </p:nvSpPr>
        <p:spPr>
          <a:xfrm>
            <a:off x="2487168" y="3566160"/>
            <a:ext cx="2029968" cy="457200"/>
          </a:xfrm>
          <a:prstGeom prst="rect">
            <a:avLst/>
          </a:prstGeom>
          <a:noFill/>
        </p:spPr>
        <p:txBody>
          <a:bodyPr wrap="square" lIns="0" tIns="0" rIns="0" bIns="0" rtlCol="0" anchor="ctr"/>
          <a:lstStyle/>
          <a:p>
            <a:pPr marL="0" indent="0" algn="ctr">
              <a:buNone/>
            </a:pPr>
            <a:r>
              <a:rPr lang="en-US" sz="1000" b="1" dirty="0">
                <a:solidFill>
                  <a:srgbClr val="FFFFFF"/>
                </a:solidFill>
              </a:rPr>
              <a:t>LEADERSHIP</a:t>
            </a:r>
            <a:endParaRPr lang="en-US" sz="1000" dirty="0"/>
          </a:p>
        </p:txBody>
      </p:sp>
      <p:sp>
        <p:nvSpPr>
          <p:cNvPr id="21" name="Shape 18"/>
          <p:cNvSpPr/>
          <p:nvPr/>
        </p:nvSpPr>
        <p:spPr>
          <a:xfrm>
            <a:off x="4654296" y="3566160"/>
            <a:ext cx="2029968" cy="457200"/>
          </a:xfrm>
          <a:prstGeom prst="rect">
            <a:avLst/>
          </a:prstGeom>
          <a:solidFill>
            <a:srgbClr val="D94F3D"/>
          </a:solidFill>
          <a:ln w="12700">
            <a:solidFill>
              <a:srgbClr val="D94F3D"/>
            </a:solidFill>
            <a:prstDash val="solid"/>
          </a:ln>
        </p:spPr>
      </p:sp>
      <p:sp>
        <p:nvSpPr>
          <p:cNvPr id="22" name="Text 19"/>
          <p:cNvSpPr/>
          <p:nvPr/>
        </p:nvSpPr>
        <p:spPr>
          <a:xfrm>
            <a:off x="4654296" y="3566160"/>
            <a:ext cx="2029968" cy="457200"/>
          </a:xfrm>
          <a:prstGeom prst="rect">
            <a:avLst/>
          </a:prstGeom>
          <a:noFill/>
        </p:spPr>
        <p:txBody>
          <a:bodyPr wrap="square" lIns="0" tIns="0" rIns="0" bIns="0" rtlCol="0" anchor="ctr"/>
          <a:lstStyle/>
          <a:p>
            <a:pPr marL="0" indent="0" algn="ctr">
              <a:buNone/>
            </a:pPr>
            <a:r>
              <a:rPr lang="en-US" sz="1000" b="1" dirty="0">
                <a:solidFill>
                  <a:srgbClr val="FFFFFF"/>
                </a:solidFill>
              </a:rPr>
              <a:t>RISK</a:t>
            </a:r>
            <a:endParaRPr lang="en-US" sz="1000" dirty="0"/>
          </a:p>
        </p:txBody>
      </p:sp>
      <p:sp>
        <p:nvSpPr>
          <p:cNvPr id="23" name="Shape 20"/>
          <p:cNvSpPr/>
          <p:nvPr/>
        </p:nvSpPr>
        <p:spPr>
          <a:xfrm>
            <a:off x="6821424" y="3566160"/>
            <a:ext cx="2029968" cy="457200"/>
          </a:xfrm>
          <a:prstGeom prst="rect">
            <a:avLst/>
          </a:prstGeom>
          <a:solidFill>
            <a:srgbClr val="2E7D32"/>
          </a:solidFill>
          <a:ln w="12700">
            <a:solidFill>
              <a:srgbClr val="2E7D32"/>
            </a:solidFill>
            <a:prstDash val="solid"/>
          </a:ln>
        </p:spPr>
      </p:sp>
      <p:sp>
        <p:nvSpPr>
          <p:cNvPr id="24" name="Text 21"/>
          <p:cNvSpPr/>
          <p:nvPr/>
        </p:nvSpPr>
        <p:spPr>
          <a:xfrm>
            <a:off x="6821424" y="3566160"/>
            <a:ext cx="2029968" cy="457200"/>
          </a:xfrm>
          <a:prstGeom prst="rect">
            <a:avLst/>
          </a:prstGeom>
          <a:noFill/>
        </p:spPr>
        <p:txBody>
          <a:bodyPr wrap="square" lIns="0" tIns="0" rIns="0" bIns="0" rtlCol="0" anchor="ctr"/>
          <a:lstStyle/>
          <a:p>
            <a:pPr marL="0" indent="0" algn="ctr">
              <a:buNone/>
            </a:pPr>
            <a:r>
              <a:rPr lang="en-US" sz="1000" b="1" dirty="0">
                <a:solidFill>
                  <a:srgbClr val="FFFFFF"/>
                </a:solidFill>
              </a:rPr>
              <a:t>IMPROVE</a:t>
            </a:r>
            <a:endParaRPr lang="en-US" sz="1000" dirty="0"/>
          </a:p>
        </p:txBody>
      </p:sp>
      <p:sp>
        <p:nvSpPr>
          <p:cNvPr id="30" name="Text 27"/>
          <p:cNvSpPr/>
          <p:nvPr/>
        </p:nvSpPr>
        <p:spPr>
          <a:xfrm>
            <a:off x="457200" y="4516120"/>
            <a:ext cx="8229600" cy="411480"/>
          </a:xfrm>
          <a:prstGeom prst="rect">
            <a:avLst/>
          </a:prstGeom>
          <a:solidFill>
            <a:srgbClr val="0D2B45"/>
          </a:solidFill>
          <a:ln w="12700">
            <a:solidFill>
              <a:srgbClr val="0F9B8E"/>
            </a:solidFill>
            <a:prstDash val="solid"/>
          </a:ln>
        </p:spPr>
        <p:txBody>
          <a:bodyPr wrap="square" lIns="91440" tIns="45720" rIns="91440" bIns="45720" rtlCol="0" anchor="ctr"/>
          <a:lstStyle/>
          <a:p>
            <a:pPr marL="0" indent="0" algn="l">
              <a:buNone/>
            </a:pPr>
            <a:r>
              <a:rPr lang="en-US" sz="900" b="1" dirty="0">
                <a:solidFill>
                  <a:srgbClr val="0F9B8E"/>
                </a:solidFill>
              </a:rPr>
              <a:t>Why ISO 42001? </a:t>
            </a:r>
            <a:r>
              <a:rPr lang="en-US" sz="900" dirty="0">
                <a:solidFill>
                  <a:srgbClr val="B0D4EE"/>
                </a:solidFill>
              </a:rPr>
              <a:t>The world’s first globally recognised AI management certification standard — integrates seamlessly with ISO 27001 (Information Security), enabling organisations to build AI governance on top of existing security management systems without duplicating effort.</a:t>
            </a:r>
            <a:endParaRPr lang="en-US" sz="900" dirty="0">
              <a:solidFill>
                <a:srgbClr val="B0D4EE"/>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11  ISO 42001 Objectives</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Main Objectives of ISO 42001</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320040" y="1051560"/>
            <a:ext cx="4160520" cy="384048"/>
          </a:xfrm>
          <a:prstGeom prst="rect">
            <a:avLst/>
          </a:prstGeom>
          <a:solidFill>
            <a:srgbClr val="0D2137"/>
          </a:solidFill>
          <a:ln w="12700">
            <a:solidFill>
              <a:srgbClr val="0D2137"/>
            </a:solidFill>
            <a:prstDash val="solid"/>
          </a:ln>
        </p:spPr>
      </p:sp>
      <p:sp>
        <p:nvSpPr>
          <p:cNvPr id="8" name="Shape 6"/>
          <p:cNvSpPr/>
          <p:nvPr/>
        </p:nvSpPr>
        <p:spPr>
          <a:xfrm>
            <a:off x="429768" y="1078992"/>
            <a:ext cx="329184" cy="329184"/>
          </a:xfrm>
          <a:prstGeom prst="rect">
            <a:avLst/>
          </a:prstGeom>
          <a:solidFill>
            <a:srgbClr val="FFFFFF"/>
          </a:solidFill>
          <a:ln w="12700">
            <a:solidFill>
              <a:srgbClr val="FFFFFF"/>
            </a:solidFill>
            <a:prstDash val="solid"/>
          </a:ln>
        </p:spPr>
      </p:sp>
      <p:pic>
        <p:nvPicPr>
          <p:cNvPr id="9" name="Image 0" descr="preencoded.png"/>
          <p:cNvPicPr>
            <a:picLocks noChangeAspect="1"/>
          </p:cNvPicPr>
          <p:nvPr/>
        </p:nvPicPr>
        <p:blipFill>
          <a:blip r:embed="rId1"/>
          <a:stretch>
            <a:fillRect/>
          </a:stretch>
        </p:blipFill>
        <p:spPr>
          <a:xfrm>
            <a:off x="487375" y="1136599"/>
            <a:ext cx="213970" cy="213970"/>
          </a:xfrm>
          <a:prstGeom prst="rect">
            <a:avLst/>
          </a:prstGeom>
        </p:spPr>
      </p:pic>
      <p:sp>
        <p:nvSpPr>
          <p:cNvPr id="10" name="Text 7"/>
          <p:cNvSpPr/>
          <p:nvPr/>
        </p:nvSpPr>
        <p:spPr>
          <a:xfrm>
            <a:off x="886968" y="1051560"/>
            <a:ext cx="3429000" cy="384048"/>
          </a:xfrm>
          <a:prstGeom prst="rect">
            <a:avLst/>
          </a:prstGeom>
          <a:noFill/>
        </p:spPr>
        <p:txBody>
          <a:bodyPr wrap="square" lIns="0" tIns="635" rIns="0" bIns="0" rtlCol="0" anchor="ctr"/>
          <a:lstStyle/>
          <a:p>
            <a:pPr marL="0" indent="0" algn="l">
              <a:buNone/>
            </a:pPr>
            <a:r>
              <a:rPr lang="en-US" sz="1300" b="1" dirty="0">
                <a:solidFill>
                  <a:srgbClr val="FFFFFF"/>
                </a:solidFill>
              </a:rPr>
              <a:t>CONTEXT</a:t>
            </a:r>
            <a:endParaRPr lang="en-US" sz="1300" dirty="0"/>
          </a:p>
        </p:txBody>
      </p:sp>
      <p:sp>
        <p:nvSpPr>
          <p:cNvPr id="11" name="Text 8"/>
          <p:cNvSpPr/>
          <p:nvPr/>
        </p:nvSpPr>
        <p:spPr>
          <a:xfrm>
            <a:off x="448056" y="1527048"/>
            <a:ext cx="3904488" cy="1207008"/>
          </a:xfrm>
          <a:prstGeom prst="rect">
            <a:avLst/>
          </a:prstGeom>
          <a:noFill/>
        </p:spPr>
        <p:txBody>
          <a:bodyPr wrap="square" lIns="0" tIns="0" rIns="0" bIns="0" rtlCol="0" anchor="t"/>
          <a:lstStyle/>
          <a:p>
            <a:pPr marL="0" indent="0" algn="l">
              <a:buNone/>
            </a:pPr>
            <a:r>
              <a:rPr lang="en-US" sz="1000" dirty="0">
                <a:solidFill>
                  <a:srgbClr val="1A2B3C"/>
                </a:solidFill>
              </a:rPr>
              <a:t>Understands the organization's environment, stakeholders, scope, and AI-related obligations before building policy.</a:t>
            </a:r>
            <a:endParaRPr lang="en-US" sz="1000" dirty="0"/>
          </a:p>
        </p:txBody>
      </p:sp>
      <p:sp>
        <p:nvSpPr>
          <p:cNvPr id="12" name="Shape 9"/>
          <p:cNvSpPr/>
          <p:nvPr/>
        </p:nvSpPr>
        <p:spPr>
          <a:xfrm>
            <a:off x="4663440" y="105156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3" name="Shape 10"/>
          <p:cNvSpPr/>
          <p:nvPr/>
        </p:nvSpPr>
        <p:spPr>
          <a:xfrm>
            <a:off x="4663440" y="1051560"/>
            <a:ext cx="4160520" cy="384048"/>
          </a:xfrm>
          <a:prstGeom prst="rect">
            <a:avLst/>
          </a:prstGeom>
          <a:solidFill>
            <a:srgbClr val="1B6CA8"/>
          </a:solidFill>
          <a:ln w="12700">
            <a:solidFill>
              <a:srgbClr val="1B6CA8"/>
            </a:solidFill>
            <a:prstDash val="solid"/>
          </a:ln>
        </p:spPr>
      </p:sp>
      <p:sp>
        <p:nvSpPr>
          <p:cNvPr id="14" name="Shape 11"/>
          <p:cNvSpPr/>
          <p:nvPr/>
        </p:nvSpPr>
        <p:spPr>
          <a:xfrm>
            <a:off x="4773168" y="1078992"/>
            <a:ext cx="329184" cy="329184"/>
          </a:xfrm>
          <a:prstGeom prst="rect">
            <a:avLst/>
          </a:prstGeom>
          <a:solidFill>
            <a:srgbClr val="FFFFFF"/>
          </a:solidFill>
          <a:ln w="12700">
            <a:solidFill>
              <a:srgbClr val="FFFFFF"/>
            </a:solidFill>
            <a:prstDash val="solid"/>
          </a:ln>
        </p:spPr>
      </p:sp>
      <p:pic>
        <p:nvPicPr>
          <p:cNvPr id="15" name="Image 1" descr="preencoded.png"/>
          <p:cNvPicPr>
            <a:picLocks noChangeAspect="1"/>
          </p:cNvPicPr>
          <p:nvPr/>
        </p:nvPicPr>
        <p:blipFill>
          <a:blip r:embed="rId2"/>
          <a:stretch>
            <a:fillRect/>
          </a:stretch>
        </p:blipFill>
        <p:spPr>
          <a:xfrm>
            <a:off x="4830775" y="1136599"/>
            <a:ext cx="213970" cy="213970"/>
          </a:xfrm>
          <a:prstGeom prst="rect">
            <a:avLst/>
          </a:prstGeom>
        </p:spPr>
      </p:pic>
      <p:sp>
        <p:nvSpPr>
          <p:cNvPr id="16" name="Text 12"/>
          <p:cNvSpPr/>
          <p:nvPr/>
        </p:nvSpPr>
        <p:spPr>
          <a:xfrm>
            <a:off x="5230368" y="1051560"/>
            <a:ext cx="3429000" cy="384048"/>
          </a:xfrm>
          <a:prstGeom prst="rect">
            <a:avLst/>
          </a:prstGeom>
          <a:noFill/>
        </p:spPr>
        <p:txBody>
          <a:bodyPr wrap="square" lIns="0" tIns="635" rIns="0" bIns="0" rtlCol="0" anchor="ctr"/>
          <a:lstStyle/>
          <a:p>
            <a:pPr marL="0" indent="0" algn="l">
              <a:buNone/>
            </a:pPr>
            <a:r>
              <a:rPr lang="en-US" sz="1300" b="1" dirty="0">
                <a:solidFill>
                  <a:srgbClr val="FFFFFF"/>
                </a:solidFill>
              </a:rPr>
              <a:t>LEADERSHIP</a:t>
            </a:r>
            <a:endParaRPr lang="en-US" sz="1300" dirty="0"/>
          </a:p>
        </p:txBody>
      </p:sp>
      <p:sp>
        <p:nvSpPr>
          <p:cNvPr id="17" name="Text 13"/>
          <p:cNvSpPr/>
          <p:nvPr/>
        </p:nvSpPr>
        <p:spPr>
          <a:xfrm>
            <a:off x="4791456" y="1527048"/>
            <a:ext cx="3904488" cy="1207008"/>
          </a:xfrm>
          <a:prstGeom prst="rect">
            <a:avLst/>
          </a:prstGeom>
          <a:noFill/>
        </p:spPr>
        <p:txBody>
          <a:bodyPr wrap="square" lIns="0" tIns="0" rIns="0" bIns="0" rtlCol="0" anchor="t"/>
          <a:lstStyle/>
          <a:p>
            <a:pPr marL="0" indent="0" algn="l">
              <a:buNone/>
            </a:pPr>
            <a:r>
              <a:rPr lang="en-US" sz="1000" dirty="0">
                <a:solidFill>
                  <a:srgbClr val="1A2B3C"/>
                </a:solidFill>
              </a:rPr>
              <a:t>Ensures top management commitment, assigns roles, and establishes an AI policy aligned with organizational goals.</a:t>
            </a:r>
            <a:endParaRPr lang="en-US" sz="1000" dirty="0"/>
          </a:p>
        </p:txBody>
      </p:sp>
      <p:sp>
        <p:nvSpPr>
          <p:cNvPr id="18" name="Shape 14"/>
          <p:cNvSpPr/>
          <p:nvPr/>
        </p:nvSpPr>
        <p:spPr>
          <a:xfrm>
            <a:off x="320040" y="297180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9" name="Shape 15"/>
          <p:cNvSpPr/>
          <p:nvPr/>
        </p:nvSpPr>
        <p:spPr>
          <a:xfrm>
            <a:off x="320040" y="2971800"/>
            <a:ext cx="4160520" cy="384048"/>
          </a:xfrm>
          <a:prstGeom prst="rect">
            <a:avLst/>
          </a:prstGeom>
          <a:solidFill>
            <a:srgbClr val="D94F3D"/>
          </a:solidFill>
          <a:ln w="12700">
            <a:solidFill>
              <a:srgbClr val="D94F3D"/>
            </a:solidFill>
            <a:prstDash val="solid"/>
          </a:ln>
        </p:spPr>
      </p:sp>
      <p:sp>
        <p:nvSpPr>
          <p:cNvPr id="20" name="Shape 16"/>
          <p:cNvSpPr/>
          <p:nvPr/>
        </p:nvSpPr>
        <p:spPr>
          <a:xfrm>
            <a:off x="429768" y="2999232"/>
            <a:ext cx="329184" cy="329184"/>
          </a:xfrm>
          <a:prstGeom prst="rect">
            <a:avLst/>
          </a:prstGeom>
          <a:solidFill>
            <a:srgbClr val="FFFFFF"/>
          </a:solidFill>
          <a:ln w="12700">
            <a:solidFill>
              <a:srgbClr val="FFFFFF"/>
            </a:solidFill>
            <a:prstDash val="solid"/>
          </a:ln>
        </p:spPr>
      </p:sp>
      <p:pic>
        <p:nvPicPr>
          <p:cNvPr id="21" name="Image 2" descr="preencoded.png"/>
          <p:cNvPicPr>
            <a:picLocks noChangeAspect="1"/>
          </p:cNvPicPr>
          <p:nvPr/>
        </p:nvPicPr>
        <p:blipFill>
          <a:blip r:embed="rId3"/>
          <a:stretch>
            <a:fillRect/>
          </a:stretch>
        </p:blipFill>
        <p:spPr>
          <a:xfrm>
            <a:off x="487375" y="3056839"/>
            <a:ext cx="213970" cy="213970"/>
          </a:xfrm>
          <a:prstGeom prst="rect">
            <a:avLst/>
          </a:prstGeom>
        </p:spPr>
      </p:pic>
      <p:sp>
        <p:nvSpPr>
          <p:cNvPr id="22" name="Text 17"/>
          <p:cNvSpPr/>
          <p:nvPr/>
        </p:nvSpPr>
        <p:spPr>
          <a:xfrm>
            <a:off x="886968" y="2971800"/>
            <a:ext cx="3429000" cy="384048"/>
          </a:xfrm>
          <a:prstGeom prst="rect">
            <a:avLst/>
          </a:prstGeom>
          <a:noFill/>
        </p:spPr>
        <p:txBody>
          <a:bodyPr wrap="square" lIns="0" tIns="635" rIns="0" bIns="0" rtlCol="0" anchor="ctr"/>
          <a:lstStyle/>
          <a:p>
            <a:pPr marL="0" indent="0" algn="l">
              <a:buNone/>
            </a:pPr>
            <a:r>
              <a:rPr lang="en-US" sz="1300" b="1" dirty="0">
                <a:solidFill>
                  <a:srgbClr val="FFFFFF"/>
                </a:solidFill>
              </a:rPr>
              <a:t>RISK</a:t>
            </a:r>
            <a:endParaRPr lang="en-US" sz="1300" dirty="0"/>
          </a:p>
        </p:txBody>
      </p:sp>
      <p:sp>
        <p:nvSpPr>
          <p:cNvPr id="23" name="Text 18"/>
          <p:cNvSpPr/>
          <p:nvPr/>
        </p:nvSpPr>
        <p:spPr>
          <a:xfrm>
            <a:off x="448056" y="3447288"/>
            <a:ext cx="3904488" cy="1207008"/>
          </a:xfrm>
          <a:prstGeom prst="rect">
            <a:avLst/>
          </a:prstGeom>
          <a:noFill/>
        </p:spPr>
        <p:txBody>
          <a:bodyPr wrap="square" lIns="0" tIns="0" rIns="0" bIns="0" rtlCol="0" anchor="t"/>
          <a:lstStyle/>
          <a:p>
            <a:pPr marL="0" indent="0" algn="l">
              <a:buNone/>
            </a:pPr>
            <a:r>
              <a:rPr lang="en-US" sz="1000" dirty="0">
                <a:solidFill>
                  <a:srgbClr val="1A2B3C"/>
                </a:solidFill>
              </a:rPr>
              <a:t>Identifies, assesses, and treats AI-related risks to ensure systems are safe, ethical, and compliant throughout their lifecycle.</a:t>
            </a:r>
            <a:endParaRPr lang="en-US" sz="1000" dirty="0"/>
          </a:p>
        </p:txBody>
      </p:sp>
      <p:sp>
        <p:nvSpPr>
          <p:cNvPr id="24" name="Shape 19"/>
          <p:cNvSpPr/>
          <p:nvPr/>
        </p:nvSpPr>
        <p:spPr>
          <a:xfrm>
            <a:off x="4663440" y="2971800"/>
            <a:ext cx="4160520" cy="175564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25" name="Shape 20"/>
          <p:cNvSpPr/>
          <p:nvPr/>
        </p:nvSpPr>
        <p:spPr>
          <a:xfrm>
            <a:off x="4663440" y="2971800"/>
            <a:ext cx="4160520" cy="384048"/>
          </a:xfrm>
          <a:prstGeom prst="rect">
            <a:avLst/>
          </a:prstGeom>
          <a:solidFill>
            <a:srgbClr val="2E7D32"/>
          </a:solidFill>
          <a:ln w="12700">
            <a:solidFill>
              <a:srgbClr val="2E7D32"/>
            </a:solidFill>
            <a:prstDash val="solid"/>
          </a:ln>
        </p:spPr>
      </p:sp>
      <p:sp>
        <p:nvSpPr>
          <p:cNvPr id="26" name="Shape 21"/>
          <p:cNvSpPr/>
          <p:nvPr/>
        </p:nvSpPr>
        <p:spPr>
          <a:xfrm>
            <a:off x="4773168" y="2999232"/>
            <a:ext cx="329184" cy="329184"/>
          </a:xfrm>
          <a:prstGeom prst="rect">
            <a:avLst/>
          </a:prstGeom>
          <a:solidFill>
            <a:srgbClr val="FFFFFF"/>
          </a:solidFill>
          <a:ln w="12700">
            <a:solidFill>
              <a:srgbClr val="FFFFFF"/>
            </a:solidFill>
            <a:prstDash val="solid"/>
          </a:ln>
        </p:spPr>
      </p:sp>
      <p:pic>
        <p:nvPicPr>
          <p:cNvPr id="27" name="Image 3" descr="preencoded.png"/>
          <p:cNvPicPr>
            <a:picLocks noChangeAspect="1"/>
          </p:cNvPicPr>
          <p:nvPr/>
        </p:nvPicPr>
        <p:blipFill>
          <a:blip r:embed="rId4"/>
          <a:stretch>
            <a:fillRect/>
          </a:stretch>
        </p:blipFill>
        <p:spPr>
          <a:xfrm>
            <a:off x="4830775" y="3056839"/>
            <a:ext cx="213970" cy="213970"/>
          </a:xfrm>
          <a:prstGeom prst="rect">
            <a:avLst/>
          </a:prstGeom>
        </p:spPr>
      </p:pic>
      <p:sp>
        <p:nvSpPr>
          <p:cNvPr id="28" name="Text 22"/>
          <p:cNvSpPr/>
          <p:nvPr/>
        </p:nvSpPr>
        <p:spPr>
          <a:xfrm>
            <a:off x="5230368" y="2971800"/>
            <a:ext cx="3429000" cy="384048"/>
          </a:xfrm>
          <a:prstGeom prst="rect">
            <a:avLst/>
          </a:prstGeom>
          <a:noFill/>
        </p:spPr>
        <p:txBody>
          <a:bodyPr wrap="square" lIns="0" tIns="635" rIns="0" bIns="0" rtlCol="0" anchor="ctr"/>
          <a:lstStyle/>
          <a:p>
            <a:pPr marL="0" indent="0" algn="l">
              <a:buNone/>
            </a:pPr>
            <a:r>
              <a:rPr lang="en-US" sz="1300" b="1" dirty="0">
                <a:solidFill>
                  <a:srgbClr val="FFFFFF"/>
                </a:solidFill>
              </a:rPr>
              <a:t>IMPROVE</a:t>
            </a:r>
            <a:endParaRPr lang="en-US" sz="1300" dirty="0"/>
          </a:p>
        </p:txBody>
      </p:sp>
      <p:sp>
        <p:nvSpPr>
          <p:cNvPr id="29" name="Text 23"/>
          <p:cNvSpPr/>
          <p:nvPr/>
        </p:nvSpPr>
        <p:spPr>
          <a:xfrm>
            <a:off x="4791456" y="3447288"/>
            <a:ext cx="3904488" cy="1207008"/>
          </a:xfrm>
          <a:prstGeom prst="rect">
            <a:avLst/>
          </a:prstGeom>
          <a:noFill/>
        </p:spPr>
        <p:txBody>
          <a:bodyPr wrap="square" lIns="0" tIns="0" rIns="0" bIns="0" rtlCol="0" anchor="t"/>
          <a:lstStyle/>
          <a:p>
            <a:pPr marL="0" indent="0" algn="l">
              <a:buNone/>
            </a:pPr>
            <a:r>
              <a:rPr lang="en-US" sz="1000" dirty="0">
                <a:solidFill>
                  <a:srgbClr val="1A2B3C"/>
                </a:solidFill>
              </a:rPr>
              <a:t>Drives continual improvement of the AIMS through monitoring, audits, corrective actions, and management reviews.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12  AI Use Case</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AI Use Case &amp; Its Risks</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24128"/>
            <a:ext cx="8503920" cy="64008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7" name="Text 5"/>
          <p:cNvSpPr/>
          <p:nvPr/>
        </p:nvSpPr>
        <p:spPr>
          <a:xfrm>
            <a:off x="502920" y="1078992"/>
            <a:ext cx="8229600" cy="256032"/>
          </a:xfrm>
          <a:prstGeom prst="rect">
            <a:avLst/>
          </a:prstGeom>
          <a:noFill/>
        </p:spPr>
        <p:txBody>
          <a:bodyPr wrap="square" lIns="0" tIns="0" rIns="0" bIns="0" rtlCol="0" anchor="ctr"/>
          <a:lstStyle/>
          <a:p>
            <a:pPr marL="0" indent="0">
              <a:buNone/>
            </a:pPr>
            <a:r>
              <a:rPr lang="en-US" sz="1200" b="1" dirty="0">
                <a:solidFill>
                  <a:srgbClr val="0D2137"/>
                </a:solidFill>
              </a:rPr>
              <a:t>Use Case: AI Customer Support Chatbot</a:t>
            </a:r>
            <a:endParaRPr lang="en-US" sz="1200" dirty="0"/>
          </a:p>
        </p:txBody>
      </p:sp>
      <p:sp>
        <p:nvSpPr>
          <p:cNvPr id="8" name="Text 6"/>
          <p:cNvSpPr/>
          <p:nvPr/>
        </p:nvSpPr>
        <p:spPr>
          <a:xfrm>
            <a:off x="502920" y="1335024"/>
            <a:ext cx="8229600" cy="256032"/>
          </a:xfrm>
          <a:prstGeom prst="rect">
            <a:avLst/>
          </a:prstGeom>
          <a:noFill/>
        </p:spPr>
        <p:txBody>
          <a:bodyPr wrap="square" lIns="0" tIns="0" rIns="0" bIns="0" rtlCol="0" anchor="ctr"/>
          <a:lstStyle/>
          <a:p>
            <a:pPr marL="0" indent="0">
              <a:buNone/>
            </a:pPr>
            <a:r>
              <a:rPr lang="en-US" sz="950" i="1" dirty="0">
                <a:solidFill>
                  <a:srgbClr val="1A2B3C"/>
                </a:solidFill>
              </a:rPr>
              <a:t>Purpose: Automate customer support, reduce wait times, and lower operational costs through 24/7 AI-assisted service.</a:t>
            </a:r>
            <a:endParaRPr lang="en-US" sz="950" dirty="0"/>
          </a:p>
        </p:txBody>
      </p:sp>
      <p:sp>
        <p:nvSpPr>
          <p:cNvPr id="9" name="Shape 7"/>
          <p:cNvSpPr/>
          <p:nvPr/>
        </p:nvSpPr>
        <p:spPr>
          <a:xfrm>
            <a:off x="320040" y="1792224"/>
            <a:ext cx="4160520" cy="141732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0" name="Shape 8"/>
          <p:cNvSpPr/>
          <p:nvPr/>
        </p:nvSpPr>
        <p:spPr>
          <a:xfrm>
            <a:off x="448056" y="1956816"/>
            <a:ext cx="438912" cy="438912"/>
          </a:xfrm>
          <a:prstGeom prst="rect">
            <a:avLst/>
          </a:prstGeom>
          <a:solidFill>
            <a:srgbClr val="E07B00"/>
          </a:solidFill>
          <a:ln w="12700">
            <a:solidFill>
              <a:srgbClr val="E07B00"/>
            </a:solidFill>
            <a:prstDash val="solid"/>
          </a:ln>
        </p:spPr>
      </p:sp>
      <p:pic>
        <p:nvPicPr>
          <p:cNvPr id="11" name="Image 0" descr="preencoded.png"/>
          <p:cNvPicPr>
            <a:picLocks noChangeAspect="1"/>
          </p:cNvPicPr>
          <p:nvPr/>
        </p:nvPicPr>
        <p:blipFill>
          <a:blip r:embed="rId1"/>
          <a:stretch>
            <a:fillRect/>
          </a:stretch>
        </p:blipFill>
        <p:spPr>
          <a:xfrm>
            <a:off x="524866" y="2033626"/>
            <a:ext cx="285293" cy="285293"/>
          </a:xfrm>
          <a:prstGeom prst="rect">
            <a:avLst/>
          </a:prstGeom>
        </p:spPr>
      </p:pic>
      <p:sp>
        <p:nvSpPr>
          <p:cNvPr id="12" name="Shape 9"/>
          <p:cNvSpPr/>
          <p:nvPr/>
        </p:nvSpPr>
        <p:spPr>
          <a:xfrm>
            <a:off x="3794760" y="1901952"/>
            <a:ext cx="585216" cy="219456"/>
          </a:xfrm>
          <a:prstGeom prst="rect">
            <a:avLst/>
          </a:prstGeom>
          <a:solidFill>
            <a:srgbClr val="1B6CA8"/>
          </a:solidFill>
          <a:ln w="12700">
            <a:solidFill>
              <a:srgbClr val="1B6CA8"/>
            </a:solidFill>
            <a:prstDash val="solid"/>
          </a:ln>
        </p:spPr>
      </p:sp>
      <p:sp>
        <p:nvSpPr>
          <p:cNvPr id="13" name="Text 10"/>
          <p:cNvSpPr/>
          <p:nvPr/>
        </p:nvSpPr>
        <p:spPr>
          <a:xfrm>
            <a:off x="3794760" y="1901952"/>
            <a:ext cx="585216" cy="219456"/>
          </a:xfrm>
          <a:prstGeom prst="rect">
            <a:avLst/>
          </a:prstGeom>
          <a:noFill/>
        </p:spPr>
        <p:txBody>
          <a:bodyPr wrap="square" lIns="0" tIns="0" rIns="0" bIns="0" rtlCol="0" anchor="ctr"/>
          <a:lstStyle/>
          <a:p>
            <a:pPr marL="0" indent="0" algn="ctr">
              <a:buNone/>
            </a:pPr>
            <a:r>
              <a:rPr lang="en-US" sz="700" b="1" dirty="0">
                <a:solidFill>
                  <a:srgbClr val="FFFFFF"/>
                </a:solidFill>
              </a:rPr>
              <a:t>Medium</a:t>
            </a:r>
            <a:endParaRPr lang="en-US" sz="700" dirty="0"/>
          </a:p>
        </p:txBody>
      </p:sp>
      <p:sp>
        <p:nvSpPr>
          <p:cNvPr id="14" name="Text 11"/>
          <p:cNvSpPr/>
          <p:nvPr/>
        </p:nvSpPr>
        <p:spPr>
          <a:xfrm>
            <a:off x="1051560" y="1956816"/>
            <a:ext cx="2670048" cy="256032"/>
          </a:xfrm>
          <a:prstGeom prst="rect">
            <a:avLst/>
          </a:prstGeom>
          <a:noFill/>
        </p:spPr>
        <p:txBody>
          <a:bodyPr wrap="square" lIns="0" tIns="0" rIns="0" bIns="0" rtlCol="0" anchor="ctr"/>
          <a:lstStyle/>
          <a:p>
            <a:pPr marL="0" indent="0" algn="l">
              <a:buNone/>
            </a:pPr>
            <a:r>
              <a:rPr lang="en-US" sz="1050" b="1" dirty="0">
                <a:solidFill>
                  <a:srgbClr val="0D2137"/>
                </a:solidFill>
              </a:rPr>
              <a:t>Inaccurate Answers</a:t>
            </a:r>
            <a:endParaRPr lang="en-US" sz="1050" dirty="0"/>
          </a:p>
        </p:txBody>
      </p:sp>
      <p:sp>
        <p:nvSpPr>
          <p:cNvPr id="15" name="Text 12"/>
          <p:cNvSpPr/>
          <p:nvPr/>
        </p:nvSpPr>
        <p:spPr>
          <a:xfrm>
            <a:off x="448056" y="2432304"/>
            <a:ext cx="3904488" cy="731520"/>
          </a:xfrm>
          <a:prstGeom prst="rect">
            <a:avLst/>
          </a:prstGeom>
          <a:noFill/>
        </p:spPr>
        <p:txBody>
          <a:bodyPr wrap="square" lIns="0" tIns="0" rIns="0" bIns="0" rtlCol="0" anchor="t"/>
          <a:lstStyle/>
          <a:p>
            <a:pPr marL="0" indent="0" algn="l">
              <a:buNone/>
            </a:pPr>
            <a:r>
              <a:rPr lang="en-US" sz="900" dirty="0">
                <a:solidFill>
                  <a:srgbClr val="1A2B3C"/>
                </a:solidFill>
              </a:rPr>
              <a:t>AI may give wrong information (e.g., wrong delivery date), creating legal and customer trust issues.</a:t>
            </a:r>
            <a:endParaRPr lang="en-US" sz="900" dirty="0"/>
          </a:p>
        </p:txBody>
      </p:sp>
      <p:sp>
        <p:nvSpPr>
          <p:cNvPr id="16" name="Shape 13"/>
          <p:cNvSpPr/>
          <p:nvPr/>
        </p:nvSpPr>
        <p:spPr>
          <a:xfrm>
            <a:off x="4663440" y="1792224"/>
            <a:ext cx="4160520" cy="141732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7" name="Shape 14"/>
          <p:cNvSpPr/>
          <p:nvPr/>
        </p:nvSpPr>
        <p:spPr>
          <a:xfrm>
            <a:off x="4791456" y="1956816"/>
            <a:ext cx="438912" cy="438912"/>
          </a:xfrm>
          <a:prstGeom prst="rect">
            <a:avLst/>
          </a:prstGeom>
          <a:solidFill>
            <a:srgbClr val="D94F3D"/>
          </a:solidFill>
          <a:ln w="12700">
            <a:solidFill>
              <a:srgbClr val="D94F3D"/>
            </a:solidFill>
            <a:prstDash val="solid"/>
          </a:ln>
        </p:spPr>
      </p:sp>
      <p:pic>
        <p:nvPicPr>
          <p:cNvPr id="18" name="Image 1" descr="preencoded.png"/>
          <p:cNvPicPr>
            <a:picLocks noChangeAspect="1"/>
          </p:cNvPicPr>
          <p:nvPr/>
        </p:nvPicPr>
        <p:blipFill>
          <a:blip r:embed="rId2"/>
          <a:stretch>
            <a:fillRect/>
          </a:stretch>
        </p:blipFill>
        <p:spPr>
          <a:xfrm>
            <a:off x="4868266" y="2033626"/>
            <a:ext cx="285293" cy="285293"/>
          </a:xfrm>
          <a:prstGeom prst="rect">
            <a:avLst/>
          </a:prstGeom>
        </p:spPr>
      </p:pic>
      <p:sp>
        <p:nvSpPr>
          <p:cNvPr id="19" name="Shape 15"/>
          <p:cNvSpPr/>
          <p:nvPr/>
        </p:nvSpPr>
        <p:spPr>
          <a:xfrm>
            <a:off x="8138160" y="1901952"/>
            <a:ext cx="585216" cy="219456"/>
          </a:xfrm>
          <a:prstGeom prst="rect">
            <a:avLst/>
          </a:prstGeom>
          <a:solidFill>
            <a:srgbClr val="E07B00"/>
          </a:solidFill>
          <a:ln w="12700">
            <a:solidFill>
              <a:srgbClr val="E07B00"/>
            </a:solidFill>
            <a:prstDash val="solid"/>
          </a:ln>
        </p:spPr>
      </p:sp>
      <p:sp>
        <p:nvSpPr>
          <p:cNvPr id="20" name="Text 16"/>
          <p:cNvSpPr/>
          <p:nvPr/>
        </p:nvSpPr>
        <p:spPr>
          <a:xfrm>
            <a:off x="8138160" y="1901952"/>
            <a:ext cx="585216" cy="219456"/>
          </a:xfrm>
          <a:prstGeom prst="rect">
            <a:avLst/>
          </a:prstGeom>
          <a:noFill/>
        </p:spPr>
        <p:txBody>
          <a:bodyPr wrap="square" lIns="0" tIns="0" rIns="0" bIns="0" rtlCol="0" anchor="ctr"/>
          <a:lstStyle/>
          <a:p>
            <a:pPr marL="0" indent="0" algn="ctr">
              <a:buNone/>
            </a:pPr>
            <a:r>
              <a:rPr lang="en-US" sz="700" b="1" dirty="0">
                <a:solidFill>
                  <a:srgbClr val="FFFFFF"/>
                </a:solidFill>
              </a:rPr>
              <a:t>High</a:t>
            </a:r>
            <a:endParaRPr lang="en-US" sz="700" dirty="0"/>
          </a:p>
        </p:txBody>
      </p:sp>
      <p:sp>
        <p:nvSpPr>
          <p:cNvPr id="21" name="Text 17"/>
          <p:cNvSpPr/>
          <p:nvPr/>
        </p:nvSpPr>
        <p:spPr>
          <a:xfrm>
            <a:off x="5394960" y="1956816"/>
            <a:ext cx="2670048" cy="256032"/>
          </a:xfrm>
          <a:prstGeom prst="rect">
            <a:avLst/>
          </a:prstGeom>
          <a:noFill/>
        </p:spPr>
        <p:txBody>
          <a:bodyPr wrap="square" lIns="0" tIns="0" rIns="0" bIns="0" rtlCol="0" anchor="ctr"/>
          <a:lstStyle/>
          <a:p>
            <a:pPr marL="0" indent="0" algn="l">
              <a:buNone/>
            </a:pPr>
            <a:r>
              <a:rPr lang="en-US" sz="1050" b="1" dirty="0">
                <a:solidFill>
                  <a:srgbClr val="0D2137"/>
                </a:solidFill>
              </a:rPr>
              <a:t>Data Leakage</a:t>
            </a:r>
            <a:endParaRPr lang="en-US" sz="1050" dirty="0"/>
          </a:p>
        </p:txBody>
      </p:sp>
      <p:sp>
        <p:nvSpPr>
          <p:cNvPr id="22" name="Text 18"/>
          <p:cNvSpPr/>
          <p:nvPr/>
        </p:nvSpPr>
        <p:spPr>
          <a:xfrm>
            <a:off x="4791456" y="2432304"/>
            <a:ext cx="3904488" cy="731520"/>
          </a:xfrm>
          <a:prstGeom prst="rect">
            <a:avLst/>
          </a:prstGeom>
          <a:noFill/>
        </p:spPr>
        <p:txBody>
          <a:bodyPr wrap="square" lIns="0" tIns="0" rIns="0" bIns="0" rtlCol="0" anchor="t"/>
          <a:lstStyle/>
          <a:p>
            <a:pPr marL="0" indent="0" algn="l">
              <a:buNone/>
            </a:pPr>
            <a:r>
              <a:rPr lang="en-US" sz="900" dirty="0">
                <a:solidFill>
                  <a:srgbClr val="1A2B3C"/>
                </a:solidFill>
              </a:rPr>
              <a:t>If a customer shares personal info and the AI is unsecured, it could leak addresses or order data.</a:t>
            </a:r>
            <a:endParaRPr lang="en-US" sz="900" dirty="0"/>
          </a:p>
        </p:txBody>
      </p:sp>
      <p:sp>
        <p:nvSpPr>
          <p:cNvPr id="23" name="Shape 19"/>
          <p:cNvSpPr/>
          <p:nvPr/>
        </p:nvSpPr>
        <p:spPr>
          <a:xfrm>
            <a:off x="320040" y="3346704"/>
            <a:ext cx="4160520" cy="141732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24" name="Shape 20"/>
          <p:cNvSpPr/>
          <p:nvPr/>
        </p:nvSpPr>
        <p:spPr>
          <a:xfrm>
            <a:off x="448056" y="3511296"/>
            <a:ext cx="438912" cy="438912"/>
          </a:xfrm>
          <a:prstGeom prst="rect">
            <a:avLst/>
          </a:prstGeom>
          <a:solidFill>
            <a:srgbClr val="D94F3D"/>
          </a:solidFill>
          <a:ln w="12700">
            <a:solidFill>
              <a:srgbClr val="D94F3D"/>
            </a:solidFill>
            <a:prstDash val="solid"/>
          </a:ln>
        </p:spPr>
      </p:sp>
      <p:pic>
        <p:nvPicPr>
          <p:cNvPr id="25" name="Image 2" descr="preencoded.png"/>
          <p:cNvPicPr>
            <a:picLocks noChangeAspect="1"/>
          </p:cNvPicPr>
          <p:nvPr/>
        </p:nvPicPr>
        <p:blipFill>
          <a:blip r:embed="rId3"/>
          <a:stretch>
            <a:fillRect/>
          </a:stretch>
        </p:blipFill>
        <p:spPr>
          <a:xfrm>
            <a:off x="524866" y="3588106"/>
            <a:ext cx="285293" cy="285293"/>
          </a:xfrm>
          <a:prstGeom prst="rect">
            <a:avLst/>
          </a:prstGeom>
        </p:spPr>
      </p:pic>
      <p:sp>
        <p:nvSpPr>
          <p:cNvPr id="26" name="Shape 21"/>
          <p:cNvSpPr/>
          <p:nvPr/>
        </p:nvSpPr>
        <p:spPr>
          <a:xfrm>
            <a:off x="3794760" y="3456432"/>
            <a:ext cx="585216" cy="219456"/>
          </a:xfrm>
          <a:prstGeom prst="rect">
            <a:avLst/>
          </a:prstGeom>
          <a:solidFill>
            <a:srgbClr val="D94F3D"/>
          </a:solidFill>
          <a:ln w="12700">
            <a:solidFill>
              <a:srgbClr val="D94F3D"/>
            </a:solidFill>
            <a:prstDash val="solid"/>
          </a:ln>
        </p:spPr>
      </p:sp>
      <p:sp>
        <p:nvSpPr>
          <p:cNvPr id="27" name="Text 22"/>
          <p:cNvSpPr/>
          <p:nvPr/>
        </p:nvSpPr>
        <p:spPr>
          <a:xfrm>
            <a:off x="3794760" y="3456432"/>
            <a:ext cx="585216" cy="219456"/>
          </a:xfrm>
          <a:prstGeom prst="rect">
            <a:avLst/>
          </a:prstGeom>
          <a:noFill/>
        </p:spPr>
        <p:txBody>
          <a:bodyPr wrap="square" lIns="0" tIns="0" rIns="0" bIns="0" rtlCol="0" anchor="ctr"/>
          <a:lstStyle/>
          <a:p>
            <a:pPr marL="0" indent="0" algn="ctr">
              <a:buNone/>
            </a:pPr>
            <a:r>
              <a:rPr lang="en-US" sz="700" b="1" dirty="0">
                <a:solidFill>
                  <a:srgbClr val="FFFFFF"/>
                </a:solidFill>
              </a:rPr>
              <a:t>Critical</a:t>
            </a:r>
            <a:endParaRPr lang="en-US" sz="700" dirty="0"/>
          </a:p>
        </p:txBody>
      </p:sp>
      <p:sp>
        <p:nvSpPr>
          <p:cNvPr id="28" name="Text 23"/>
          <p:cNvSpPr/>
          <p:nvPr/>
        </p:nvSpPr>
        <p:spPr>
          <a:xfrm>
            <a:off x="1051560" y="3511296"/>
            <a:ext cx="2670048" cy="256032"/>
          </a:xfrm>
          <a:prstGeom prst="rect">
            <a:avLst/>
          </a:prstGeom>
          <a:noFill/>
        </p:spPr>
        <p:txBody>
          <a:bodyPr wrap="square" lIns="0" tIns="0" rIns="0" bIns="0" rtlCol="0" anchor="ctr"/>
          <a:lstStyle/>
          <a:p>
            <a:pPr marL="0" indent="0" algn="l">
              <a:buNone/>
            </a:pPr>
            <a:r>
              <a:rPr lang="en-US" sz="1050" b="1" dirty="0">
                <a:solidFill>
                  <a:srgbClr val="0D2137"/>
                </a:solidFill>
              </a:rPr>
              <a:t>Prompt Injection</a:t>
            </a:r>
            <a:endParaRPr lang="en-US" sz="1050" dirty="0"/>
          </a:p>
        </p:txBody>
      </p:sp>
      <p:sp>
        <p:nvSpPr>
          <p:cNvPr id="29" name="Text 24"/>
          <p:cNvSpPr/>
          <p:nvPr/>
        </p:nvSpPr>
        <p:spPr>
          <a:xfrm>
            <a:off x="448056" y="3986784"/>
            <a:ext cx="3904488" cy="731520"/>
          </a:xfrm>
          <a:prstGeom prst="rect">
            <a:avLst/>
          </a:prstGeom>
          <a:noFill/>
        </p:spPr>
        <p:txBody>
          <a:bodyPr wrap="square" lIns="0" tIns="0" rIns="0" bIns="0" rtlCol="0" anchor="t"/>
          <a:lstStyle/>
          <a:p>
            <a:pPr marL="0" indent="0" algn="l">
              <a:buNone/>
            </a:pPr>
            <a:r>
              <a:rPr lang="en-US" sz="900" dirty="0">
                <a:solidFill>
                  <a:srgbClr val="1A2B3C"/>
                </a:solidFill>
              </a:rPr>
              <a:t>Malicious users may trick the chatbot into revealing sensitive data or performing unlawful actions.</a:t>
            </a:r>
            <a:endParaRPr lang="en-US" sz="900" dirty="0"/>
          </a:p>
        </p:txBody>
      </p:sp>
      <p:sp>
        <p:nvSpPr>
          <p:cNvPr id="30" name="Shape 25"/>
          <p:cNvSpPr/>
          <p:nvPr/>
        </p:nvSpPr>
        <p:spPr>
          <a:xfrm>
            <a:off x="4663440" y="3346704"/>
            <a:ext cx="4160520" cy="1417320"/>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31" name="Shape 26"/>
          <p:cNvSpPr/>
          <p:nvPr/>
        </p:nvSpPr>
        <p:spPr>
          <a:xfrm>
            <a:off x="4791456" y="3511296"/>
            <a:ext cx="438912" cy="438912"/>
          </a:xfrm>
          <a:prstGeom prst="rect">
            <a:avLst/>
          </a:prstGeom>
          <a:solidFill>
            <a:srgbClr val="1B6CA8"/>
          </a:solidFill>
          <a:ln w="12700">
            <a:solidFill>
              <a:srgbClr val="1B6CA8"/>
            </a:solidFill>
            <a:prstDash val="solid"/>
          </a:ln>
        </p:spPr>
      </p:sp>
      <p:pic>
        <p:nvPicPr>
          <p:cNvPr id="32" name="Image 3" descr="preencoded.png"/>
          <p:cNvPicPr>
            <a:picLocks noChangeAspect="1"/>
          </p:cNvPicPr>
          <p:nvPr/>
        </p:nvPicPr>
        <p:blipFill>
          <a:blip r:embed="rId4"/>
          <a:stretch>
            <a:fillRect/>
          </a:stretch>
        </p:blipFill>
        <p:spPr>
          <a:xfrm>
            <a:off x="4868266" y="3588106"/>
            <a:ext cx="285293" cy="285293"/>
          </a:xfrm>
          <a:prstGeom prst="rect">
            <a:avLst/>
          </a:prstGeom>
        </p:spPr>
      </p:pic>
      <p:sp>
        <p:nvSpPr>
          <p:cNvPr id="33" name="Shape 27"/>
          <p:cNvSpPr/>
          <p:nvPr/>
        </p:nvSpPr>
        <p:spPr>
          <a:xfrm>
            <a:off x="8138160" y="3456432"/>
            <a:ext cx="585216" cy="219456"/>
          </a:xfrm>
          <a:prstGeom prst="rect">
            <a:avLst/>
          </a:prstGeom>
          <a:solidFill>
            <a:srgbClr val="1B6CA8"/>
          </a:solidFill>
          <a:ln w="12700">
            <a:solidFill>
              <a:srgbClr val="1B6CA8"/>
            </a:solidFill>
            <a:prstDash val="solid"/>
          </a:ln>
        </p:spPr>
      </p:sp>
      <p:sp>
        <p:nvSpPr>
          <p:cNvPr id="34" name="Text 28"/>
          <p:cNvSpPr/>
          <p:nvPr/>
        </p:nvSpPr>
        <p:spPr>
          <a:xfrm>
            <a:off x="8138160" y="3456432"/>
            <a:ext cx="585216" cy="219456"/>
          </a:xfrm>
          <a:prstGeom prst="rect">
            <a:avLst/>
          </a:prstGeom>
          <a:noFill/>
        </p:spPr>
        <p:txBody>
          <a:bodyPr wrap="square" lIns="0" tIns="0" rIns="0" bIns="0" rtlCol="0" anchor="ctr"/>
          <a:lstStyle/>
          <a:p>
            <a:pPr marL="0" indent="0" algn="ctr">
              <a:buNone/>
            </a:pPr>
            <a:r>
              <a:rPr lang="en-US" sz="700" b="1" dirty="0">
                <a:solidFill>
                  <a:srgbClr val="FFFFFF"/>
                </a:solidFill>
              </a:rPr>
              <a:t>Medium</a:t>
            </a:r>
            <a:endParaRPr lang="en-US" sz="700" dirty="0"/>
          </a:p>
        </p:txBody>
      </p:sp>
      <p:sp>
        <p:nvSpPr>
          <p:cNvPr id="35" name="Text 29"/>
          <p:cNvSpPr/>
          <p:nvPr/>
        </p:nvSpPr>
        <p:spPr>
          <a:xfrm>
            <a:off x="5394960" y="3511296"/>
            <a:ext cx="2670048" cy="256032"/>
          </a:xfrm>
          <a:prstGeom prst="rect">
            <a:avLst/>
          </a:prstGeom>
          <a:noFill/>
        </p:spPr>
        <p:txBody>
          <a:bodyPr wrap="square" lIns="0" tIns="0" rIns="0" bIns="0" rtlCol="0" anchor="ctr"/>
          <a:lstStyle/>
          <a:p>
            <a:pPr marL="0" indent="0" algn="l">
              <a:buNone/>
            </a:pPr>
            <a:r>
              <a:rPr lang="en-US" sz="1050" b="1" dirty="0">
                <a:solidFill>
                  <a:srgbClr val="0D2137"/>
                </a:solidFill>
              </a:rPr>
              <a:t>Job Displacement &amp; Bias</a:t>
            </a:r>
            <a:endParaRPr lang="en-US" sz="1050" dirty="0"/>
          </a:p>
        </p:txBody>
      </p:sp>
      <p:sp>
        <p:nvSpPr>
          <p:cNvPr id="36" name="Text 30"/>
          <p:cNvSpPr/>
          <p:nvPr/>
        </p:nvSpPr>
        <p:spPr>
          <a:xfrm>
            <a:off x="4791456" y="3986784"/>
            <a:ext cx="3904488" cy="731520"/>
          </a:xfrm>
          <a:prstGeom prst="rect">
            <a:avLst/>
          </a:prstGeom>
          <a:noFill/>
        </p:spPr>
        <p:txBody>
          <a:bodyPr wrap="square" lIns="0" tIns="0" rIns="0" bIns="0" rtlCol="0" anchor="t"/>
          <a:lstStyle/>
          <a:p>
            <a:pPr marL="0" indent="0" algn="l">
              <a:buNone/>
            </a:pPr>
            <a:r>
              <a:rPr lang="en-US" sz="900" dirty="0">
                <a:solidFill>
                  <a:srgbClr val="1A2B3C"/>
                </a:solidFill>
              </a:rPr>
              <a:t>AI can handle heavy workloads but may also exhibit bias against non-native English speakers or users with disabilities.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13  System Architecture</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System Architecture — AI Customer Support Chatbot</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Text 4"/>
          <p:cNvSpPr/>
          <p:nvPr/>
        </p:nvSpPr>
        <p:spPr>
          <a:xfrm>
            <a:off x="320040" y="1005840"/>
            <a:ext cx="8503920" cy="201168"/>
          </a:xfrm>
          <a:prstGeom prst="rect">
            <a:avLst/>
          </a:prstGeom>
          <a:noFill/>
        </p:spPr>
        <p:txBody>
          <a:bodyPr wrap="square" lIns="0" tIns="0" rIns="0" bIns="0" rtlCol="0" anchor="ctr"/>
          <a:lstStyle/>
          <a:p>
            <a:pPr marL="0" indent="0" algn="ctr">
              <a:buNone/>
            </a:pPr>
            <a:r>
              <a:rPr lang="en-US" sz="900" i="1" dirty="0">
                <a:solidFill>
                  <a:srgbClr val="5A7B96"/>
                </a:solidFill>
              </a:rPr>
              <a:t>Chatbot System Architecture (Draw.io Style)</a:t>
            </a:r>
            <a:endParaRPr lang="en-US" sz="900" dirty="0"/>
          </a:p>
        </p:txBody>
      </p:sp>
      <p:sp>
        <p:nvSpPr>
          <p:cNvPr id="7" name="Shape 5"/>
          <p:cNvSpPr/>
          <p:nvPr/>
        </p:nvSpPr>
        <p:spPr>
          <a:xfrm>
            <a:off x="1645920" y="1261872"/>
            <a:ext cx="6949440" cy="3200400"/>
          </a:xfrm>
          <a:prstGeom prst="rect">
            <a:avLst/>
          </a:prstGeom>
          <a:solidFill>
            <a:srgbClr val="F5FAFF"/>
          </a:solidFill>
          <a:ln w="19050">
            <a:solidFill>
              <a:srgbClr val="B8D4E8"/>
            </a:solidFill>
            <a:prstDash val="dash"/>
          </a:ln>
        </p:spPr>
      </p:sp>
      <p:sp>
        <p:nvSpPr>
          <p:cNvPr id="8" name="Text 6"/>
          <p:cNvSpPr/>
          <p:nvPr/>
        </p:nvSpPr>
        <p:spPr>
          <a:xfrm>
            <a:off x="1828800" y="1298448"/>
            <a:ext cx="2743200" cy="201168"/>
          </a:xfrm>
          <a:prstGeom prst="rect">
            <a:avLst/>
          </a:prstGeom>
          <a:noFill/>
        </p:spPr>
        <p:txBody>
          <a:bodyPr wrap="square" lIns="0" tIns="0" rIns="0" bIns="0" rtlCol="0" anchor="ctr"/>
          <a:lstStyle/>
          <a:p>
            <a:pPr marL="0" indent="0">
              <a:buNone/>
            </a:pPr>
            <a:r>
              <a:rPr lang="en-US" sz="800" i="1" dirty="0">
                <a:solidFill>
                  <a:srgbClr val="5A7B96"/>
                </a:solidFill>
              </a:rPr>
              <a:t>Trusted System Boundary</a:t>
            </a:r>
            <a:endParaRPr lang="en-US" sz="800" dirty="0"/>
          </a:p>
        </p:txBody>
      </p:sp>
      <p:sp>
        <p:nvSpPr>
          <p:cNvPr id="9" name="Shape 7"/>
          <p:cNvSpPr/>
          <p:nvPr/>
        </p:nvSpPr>
        <p:spPr>
          <a:xfrm>
            <a:off x="137160" y="2103120"/>
            <a:ext cx="1371600" cy="1005840"/>
          </a:xfrm>
          <a:prstGeom prst="rect">
            <a:avLst/>
          </a:prstGeom>
          <a:solidFill>
            <a:srgbClr val="E8F5E9"/>
          </a:solidFill>
          <a:ln w="6350">
            <a:solidFill>
              <a:srgbClr val="B8D4E8"/>
            </a:solidFill>
            <a:prstDash val="solid"/>
          </a:ln>
          <a:effectLst>
            <a:outerShdw blurRad="63500" dist="12700" dir="8100000" algn="bl" rotWithShape="0">
              <a:srgbClr val="A0BFDA">
                <a:alpha val="18000"/>
              </a:srgbClr>
            </a:outerShdw>
          </a:effectLst>
        </p:spPr>
      </p:sp>
      <p:pic>
        <p:nvPicPr>
          <p:cNvPr id="10" name="Image 0" descr="preencoded.png"/>
          <p:cNvPicPr>
            <a:picLocks noChangeAspect="1"/>
          </p:cNvPicPr>
          <p:nvPr/>
        </p:nvPicPr>
        <p:blipFill>
          <a:blip r:embed="rId1"/>
          <a:stretch>
            <a:fillRect/>
          </a:stretch>
        </p:blipFill>
        <p:spPr>
          <a:xfrm>
            <a:off x="502920" y="2176272"/>
            <a:ext cx="384048" cy="384048"/>
          </a:xfrm>
          <a:prstGeom prst="rect">
            <a:avLst/>
          </a:prstGeom>
        </p:spPr>
      </p:pic>
      <p:sp>
        <p:nvSpPr>
          <p:cNvPr id="11" name="Text 8"/>
          <p:cNvSpPr/>
          <p:nvPr/>
        </p:nvSpPr>
        <p:spPr>
          <a:xfrm>
            <a:off x="137160" y="2578608"/>
            <a:ext cx="1371600" cy="182880"/>
          </a:xfrm>
          <a:prstGeom prst="rect">
            <a:avLst/>
          </a:prstGeom>
          <a:noFill/>
        </p:spPr>
        <p:txBody>
          <a:bodyPr wrap="square" lIns="0" tIns="0" rIns="0" bIns="0" rtlCol="0" anchor="ctr"/>
          <a:lstStyle/>
          <a:p>
            <a:pPr marL="0" indent="0" algn="ctr">
              <a:buNone/>
            </a:pPr>
            <a:r>
              <a:rPr lang="en-US" sz="900" b="1" dirty="0">
                <a:solidFill>
                  <a:srgbClr val="0D2137"/>
                </a:solidFill>
              </a:rPr>
              <a:t>User</a:t>
            </a:r>
            <a:endParaRPr lang="en-US" sz="900" dirty="0"/>
          </a:p>
        </p:txBody>
      </p:sp>
      <p:sp>
        <p:nvSpPr>
          <p:cNvPr id="12" name="Text 9"/>
          <p:cNvSpPr/>
          <p:nvPr/>
        </p:nvSpPr>
        <p:spPr>
          <a:xfrm>
            <a:off x="137160" y="2743200"/>
            <a:ext cx="1371600" cy="182880"/>
          </a:xfrm>
          <a:prstGeom prst="rect">
            <a:avLst/>
          </a:prstGeom>
          <a:noFill/>
        </p:spPr>
        <p:txBody>
          <a:bodyPr wrap="square" lIns="0" tIns="0" rIns="0" bIns="0" rtlCol="0" anchor="ctr"/>
          <a:lstStyle/>
          <a:p>
            <a:pPr marL="0" indent="0" algn="ctr">
              <a:buNone/>
            </a:pPr>
            <a:r>
              <a:rPr lang="en-US" sz="750" dirty="0">
                <a:solidFill>
                  <a:srgbClr val="5A7B96"/>
                </a:solidFill>
              </a:rPr>
              <a:t>(Browser / App)</a:t>
            </a:r>
            <a:endParaRPr lang="en-US" sz="750" dirty="0"/>
          </a:p>
        </p:txBody>
      </p:sp>
      <p:sp>
        <p:nvSpPr>
          <p:cNvPr id="13" name="Shape 10"/>
          <p:cNvSpPr/>
          <p:nvPr/>
        </p:nvSpPr>
        <p:spPr>
          <a:xfrm>
            <a:off x="1536192" y="2606040"/>
            <a:ext cx="237744" cy="0"/>
          </a:xfrm>
          <a:prstGeom prst="line">
            <a:avLst/>
          </a:prstGeom>
          <a:noFill/>
          <a:ln w="22860">
            <a:solidFill>
              <a:srgbClr val="1B6CA8"/>
            </a:solidFill>
            <a:prstDash val="solid"/>
          </a:ln>
        </p:spPr>
      </p:sp>
      <p:pic>
        <p:nvPicPr>
          <p:cNvPr id="14" name="Image 1" descr="preencoded.png"/>
          <p:cNvPicPr>
            <a:picLocks noChangeAspect="1"/>
          </p:cNvPicPr>
          <p:nvPr/>
        </p:nvPicPr>
        <p:blipFill>
          <a:blip r:embed="rId2"/>
          <a:stretch>
            <a:fillRect/>
          </a:stretch>
        </p:blipFill>
        <p:spPr>
          <a:xfrm>
            <a:off x="1554480" y="2523744"/>
            <a:ext cx="219456" cy="164592"/>
          </a:xfrm>
          <a:prstGeom prst="rect">
            <a:avLst/>
          </a:prstGeom>
        </p:spPr>
      </p:pic>
      <p:sp>
        <p:nvSpPr>
          <p:cNvPr id="15" name="Text 11"/>
          <p:cNvSpPr/>
          <p:nvPr/>
        </p:nvSpPr>
        <p:spPr>
          <a:xfrm>
            <a:off x="1463040" y="2432304"/>
            <a:ext cx="475488" cy="146304"/>
          </a:xfrm>
          <a:prstGeom prst="rect">
            <a:avLst/>
          </a:prstGeom>
          <a:noFill/>
        </p:spPr>
        <p:txBody>
          <a:bodyPr wrap="square" lIns="0" tIns="0" rIns="0" bIns="0" rtlCol="0" anchor="ctr"/>
          <a:lstStyle/>
          <a:p>
            <a:pPr marL="0" indent="0" algn="ctr">
              <a:buNone/>
            </a:pPr>
            <a:r>
              <a:rPr lang="en-US" sz="700" dirty="0">
                <a:solidFill>
                  <a:srgbClr val="1B6CA8"/>
                </a:solidFill>
              </a:rPr>
              <a:t>HTTPS</a:t>
            </a:r>
            <a:endParaRPr lang="en-US" sz="700" dirty="0"/>
          </a:p>
        </p:txBody>
      </p:sp>
      <p:sp>
        <p:nvSpPr>
          <p:cNvPr id="16" name="Shape 12"/>
          <p:cNvSpPr/>
          <p:nvPr/>
        </p:nvSpPr>
        <p:spPr>
          <a:xfrm>
            <a:off x="1828800" y="2103120"/>
            <a:ext cx="1554480" cy="100584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pic>
        <p:nvPicPr>
          <p:cNvPr id="17" name="Image 2" descr="preencoded.png"/>
          <p:cNvPicPr>
            <a:picLocks noChangeAspect="1"/>
          </p:cNvPicPr>
          <p:nvPr/>
        </p:nvPicPr>
        <p:blipFill>
          <a:blip r:embed="rId3"/>
          <a:stretch>
            <a:fillRect/>
          </a:stretch>
        </p:blipFill>
        <p:spPr>
          <a:xfrm>
            <a:off x="2240280" y="2176272"/>
            <a:ext cx="384048" cy="384048"/>
          </a:xfrm>
          <a:prstGeom prst="rect">
            <a:avLst/>
          </a:prstGeom>
        </p:spPr>
      </p:pic>
      <p:sp>
        <p:nvSpPr>
          <p:cNvPr id="18" name="Text 13"/>
          <p:cNvSpPr/>
          <p:nvPr/>
        </p:nvSpPr>
        <p:spPr>
          <a:xfrm>
            <a:off x="1828800" y="2578608"/>
            <a:ext cx="1554480" cy="182880"/>
          </a:xfrm>
          <a:prstGeom prst="rect">
            <a:avLst/>
          </a:prstGeom>
          <a:noFill/>
        </p:spPr>
        <p:txBody>
          <a:bodyPr wrap="square" lIns="0" tIns="0" rIns="0" bIns="0" rtlCol="0" anchor="ctr"/>
          <a:lstStyle/>
          <a:p>
            <a:pPr marL="0" indent="0" algn="ctr">
              <a:buNone/>
            </a:pPr>
            <a:r>
              <a:rPr lang="en-US" sz="900" b="1" dirty="0">
                <a:solidFill>
                  <a:srgbClr val="0D2137"/>
                </a:solidFill>
              </a:rPr>
              <a:t>API Gateway</a:t>
            </a:r>
            <a:endParaRPr lang="en-US" sz="900" dirty="0"/>
          </a:p>
        </p:txBody>
      </p:sp>
      <p:sp>
        <p:nvSpPr>
          <p:cNvPr id="19" name="Text 14"/>
          <p:cNvSpPr/>
          <p:nvPr/>
        </p:nvSpPr>
        <p:spPr>
          <a:xfrm>
            <a:off x="1828800" y="2743200"/>
            <a:ext cx="1554480" cy="182880"/>
          </a:xfrm>
          <a:prstGeom prst="rect">
            <a:avLst/>
          </a:prstGeom>
          <a:noFill/>
        </p:spPr>
        <p:txBody>
          <a:bodyPr wrap="square" lIns="0" tIns="0" rIns="0" bIns="0" rtlCol="0" anchor="ctr"/>
          <a:lstStyle/>
          <a:p>
            <a:pPr marL="0" indent="0" algn="ctr">
              <a:buNone/>
            </a:pPr>
            <a:r>
              <a:rPr lang="en-US" sz="750" dirty="0">
                <a:solidFill>
                  <a:srgbClr val="5A7B96"/>
                </a:solidFill>
              </a:rPr>
              <a:t>Auth + Rate Limit</a:t>
            </a:r>
            <a:endParaRPr lang="en-US" sz="750" dirty="0"/>
          </a:p>
        </p:txBody>
      </p:sp>
      <p:sp>
        <p:nvSpPr>
          <p:cNvPr id="20" name="Shape 15"/>
          <p:cNvSpPr/>
          <p:nvPr/>
        </p:nvSpPr>
        <p:spPr>
          <a:xfrm>
            <a:off x="3401568" y="2606040"/>
            <a:ext cx="438912" cy="0"/>
          </a:xfrm>
          <a:prstGeom prst="line">
            <a:avLst/>
          </a:prstGeom>
          <a:noFill/>
          <a:ln w="22860">
            <a:solidFill>
              <a:srgbClr val="1B6CA8"/>
            </a:solidFill>
            <a:prstDash val="solid"/>
          </a:ln>
        </p:spPr>
      </p:sp>
      <p:pic>
        <p:nvPicPr>
          <p:cNvPr id="21" name="Image 3" descr="preencoded.png"/>
          <p:cNvPicPr>
            <a:picLocks noChangeAspect="1"/>
          </p:cNvPicPr>
          <p:nvPr/>
        </p:nvPicPr>
        <p:blipFill>
          <a:blip r:embed="rId2"/>
          <a:stretch>
            <a:fillRect/>
          </a:stretch>
        </p:blipFill>
        <p:spPr>
          <a:xfrm>
            <a:off x="3584448" y="2523744"/>
            <a:ext cx="219456" cy="164592"/>
          </a:xfrm>
          <a:prstGeom prst="rect">
            <a:avLst/>
          </a:prstGeom>
        </p:spPr>
      </p:pic>
      <p:sp>
        <p:nvSpPr>
          <p:cNvPr id="22" name="Shape 16"/>
          <p:cNvSpPr/>
          <p:nvPr/>
        </p:nvSpPr>
        <p:spPr>
          <a:xfrm>
            <a:off x="3858768" y="2103120"/>
            <a:ext cx="1645920" cy="1005840"/>
          </a:xfrm>
          <a:prstGeom prst="rect">
            <a:avLst/>
          </a:prstGeom>
          <a:solidFill>
            <a:srgbClr val="EEE5FF"/>
          </a:solidFill>
          <a:ln w="6350">
            <a:solidFill>
              <a:srgbClr val="B8D4E8"/>
            </a:solidFill>
            <a:prstDash val="solid"/>
          </a:ln>
          <a:effectLst>
            <a:outerShdw blurRad="63500" dist="12700" dir="8100000" algn="bl" rotWithShape="0">
              <a:srgbClr val="A0BFDA">
                <a:alpha val="18000"/>
              </a:srgbClr>
            </a:outerShdw>
          </a:effectLst>
        </p:spPr>
      </p:sp>
      <p:pic>
        <p:nvPicPr>
          <p:cNvPr id="23" name="Image 4" descr="preencoded.png"/>
          <p:cNvPicPr>
            <a:picLocks noChangeAspect="1"/>
          </p:cNvPicPr>
          <p:nvPr/>
        </p:nvPicPr>
        <p:blipFill>
          <a:blip r:embed="rId4"/>
          <a:stretch>
            <a:fillRect/>
          </a:stretch>
        </p:blipFill>
        <p:spPr>
          <a:xfrm>
            <a:off x="4315968" y="2176272"/>
            <a:ext cx="384048" cy="384048"/>
          </a:xfrm>
          <a:prstGeom prst="rect">
            <a:avLst/>
          </a:prstGeom>
        </p:spPr>
      </p:pic>
      <p:sp>
        <p:nvSpPr>
          <p:cNvPr id="24" name="Text 17"/>
          <p:cNvSpPr/>
          <p:nvPr/>
        </p:nvSpPr>
        <p:spPr>
          <a:xfrm>
            <a:off x="3858768" y="2578608"/>
            <a:ext cx="1645920" cy="182880"/>
          </a:xfrm>
          <a:prstGeom prst="rect">
            <a:avLst/>
          </a:prstGeom>
          <a:noFill/>
        </p:spPr>
        <p:txBody>
          <a:bodyPr wrap="square" lIns="0" tIns="0" rIns="0" bIns="0" rtlCol="0" anchor="ctr"/>
          <a:lstStyle/>
          <a:p>
            <a:pPr marL="0" indent="0" algn="ctr">
              <a:buNone/>
            </a:pPr>
            <a:r>
              <a:rPr lang="en-US" sz="900" b="1" dirty="0">
                <a:solidFill>
                  <a:srgbClr val="0D2137"/>
                </a:solidFill>
              </a:rPr>
              <a:t>LLM Engine</a:t>
            </a:r>
            <a:endParaRPr lang="en-US" sz="900" dirty="0"/>
          </a:p>
        </p:txBody>
      </p:sp>
      <p:sp>
        <p:nvSpPr>
          <p:cNvPr id="25" name="Text 18"/>
          <p:cNvSpPr/>
          <p:nvPr/>
        </p:nvSpPr>
        <p:spPr>
          <a:xfrm>
            <a:off x="3858768" y="2743200"/>
            <a:ext cx="1645920" cy="182880"/>
          </a:xfrm>
          <a:prstGeom prst="rect">
            <a:avLst/>
          </a:prstGeom>
          <a:noFill/>
        </p:spPr>
        <p:txBody>
          <a:bodyPr wrap="square" lIns="0" tIns="0" rIns="0" bIns="0" rtlCol="0" anchor="ctr"/>
          <a:lstStyle/>
          <a:p>
            <a:pPr marL="0" indent="0" algn="ctr">
              <a:buNone/>
            </a:pPr>
            <a:r>
              <a:rPr lang="en-US" sz="750" dirty="0">
                <a:solidFill>
                  <a:srgbClr val="5A7B96"/>
                </a:solidFill>
              </a:rPr>
              <a:t>GPT / Claude</a:t>
            </a:r>
            <a:endParaRPr lang="en-US" sz="750" dirty="0"/>
          </a:p>
        </p:txBody>
      </p:sp>
      <p:sp>
        <p:nvSpPr>
          <p:cNvPr id="26" name="Shape 19"/>
          <p:cNvSpPr/>
          <p:nvPr/>
        </p:nvSpPr>
        <p:spPr>
          <a:xfrm>
            <a:off x="4681728" y="3127248"/>
            <a:ext cx="0" cy="347472"/>
          </a:xfrm>
          <a:prstGeom prst="line">
            <a:avLst/>
          </a:prstGeom>
          <a:noFill/>
          <a:ln w="19050">
            <a:solidFill>
              <a:srgbClr val="0F9B8E"/>
            </a:solidFill>
            <a:prstDash val="dash"/>
          </a:ln>
        </p:spPr>
      </p:sp>
      <p:sp>
        <p:nvSpPr>
          <p:cNvPr id="27" name="Shape 20"/>
          <p:cNvSpPr/>
          <p:nvPr/>
        </p:nvSpPr>
        <p:spPr>
          <a:xfrm>
            <a:off x="3858768" y="3520440"/>
            <a:ext cx="1645920" cy="822960"/>
          </a:xfrm>
          <a:prstGeom prst="rect">
            <a:avLst/>
          </a:prstGeom>
          <a:solidFill>
            <a:srgbClr val="E8F5E9"/>
          </a:solidFill>
          <a:ln w="6350">
            <a:solidFill>
              <a:srgbClr val="B8D4E8"/>
            </a:solidFill>
            <a:prstDash val="solid"/>
          </a:ln>
          <a:effectLst>
            <a:outerShdw blurRad="63500" dist="12700" dir="8100000" algn="bl" rotWithShape="0">
              <a:srgbClr val="A0BFDA">
                <a:alpha val="18000"/>
              </a:srgbClr>
            </a:outerShdw>
          </a:effectLst>
        </p:spPr>
      </p:sp>
      <p:pic>
        <p:nvPicPr>
          <p:cNvPr id="28" name="Image 5" descr="preencoded.png"/>
          <p:cNvPicPr>
            <a:picLocks noChangeAspect="1"/>
          </p:cNvPicPr>
          <p:nvPr/>
        </p:nvPicPr>
        <p:blipFill>
          <a:blip r:embed="rId5"/>
          <a:stretch>
            <a:fillRect/>
          </a:stretch>
        </p:blipFill>
        <p:spPr>
          <a:xfrm>
            <a:off x="4297680" y="3566160"/>
            <a:ext cx="329184" cy="329184"/>
          </a:xfrm>
          <a:prstGeom prst="rect">
            <a:avLst/>
          </a:prstGeom>
        </p:spPr>
      </p:pic>
      <p:sp>
        <p:nvSpPr>
          <p:cNvPr id="29" name="Text 21"/>
          <p:cNvSpPr/>
          <p:nvPr/>
        </p:nvSpPr>
        <p:spPr>
          <a:xfrm>
            <a:off x="3858768" y="3913632"/>
            <a:ext cx="1645920" cy="182880"/>
          </a:xfrm>
          <a:prstGeom prst="rect">
            <a:avLst/>
          </a:prstGeom>
          <a:noFill/>
        </p:spPr>
        <p:txBody>
          <a:bodyPr wrap="square" lIns="0" tIns="0" rIns="0" bIns="0" rtlCol="0" anchor="ctr"/>
          <a:lstStyle/>
          <a:p>
            <a:pPr marL="0" indent="0" algn="ctr">
              <a:buNone/>
            </a:pPr>
            <a:r>
              <a:rPr lang="en-US" sz="900" b="1" dirty="0">
                <a:solidFill>
                  <a:srgbClr val="0D2137"/>
                </a:solidFill>
              </a:rPr>
              <a:t>Customer DB</a:t>
            </a:r>
            <a:endParaRPr lang="en-US" sz="900" dirty="0"/>
          </a:p>
        </p:txBody>
      </p:sp>
      <p:sp>
        <p:nvSpPr>
          <p:cNvPr id="30" name="Text 22"/>
          <p:cNvSpPr/>
          <p:nvPr/>
        </p:nvSpPr>
        <p:spPr>
          <a:xfrm>
            <a:off x="3858768" y="4078224"/>
            <a:ext cx="1645920" cy="182880"/>
          </a:xfrm>
          <a:prstGeom prst="rect">
            <a:avLst/>
          </a:prstGeom>
          <a:noFill/>
        </p:spPr>
        <p:txBody>
          <a:bodyPr wrap="square" lIns="0" tIns="0" rIns="0" bIns="0" rtlCol="0" anchor="ctr"/>
          <a:lstStyle/>
          <a:p>
            <a:pPr marL="0" indent="0" algn="ctr">
              <a:buNone/>
            </a:pPr>
            <a:r>
              <a:rPr lang="en-US" sz="750" dirty="0">
                <a:solidFill>
                  <a:srgbClr val="5A7B96"/>
                </a:solidFill>
              </a:rPr>
              <a:t>Encrypted at rest</a:t>
            </a:r>
            <a:endParaRPr lang="en-US" sz="750" dirty="0"/>
          </a:p>
        </p:txBody>
      </p:sp>
      <p:sp>
        <p:nvSpPr>
          <p:cNvPr id="31" name="Shape 23"/>
          <p:cNvSpPr/>
          <p:nvPr/>
        </p:nvSpPr>
        <p:spPr>
          <a:xfrm>
            <a:off x="5522976" y="2606040"/>
            <a:ext cx="420624" cy="0"/>
          </a:xfrm>
          <a:prstGeom prst="line">
            <a:avLst/>
          </a:prstGeom>
          <a:noFill/>
          <a:ln w="19050">
            <a:solidFill>
              <a:srgbClr val="0F9B8E"/>
            </a:solidFill>
            <a:prstDash val="dash"/>
          </a:ln>
        </p:spPr>
      </p:sp>
      <p:pic>
        <p:nvPicPr>
          <p:cNvPr id="32" name="Image 6" descr="preencoded.png"/>
          <p:cNvPicPr>
            <a:picLocks noChangeAspect="1"/>
          </p:cNvPicPr>
          <p:nvPr/>
        </p:nvPicPr>
        <p:blipFill>
          <a:blip r:embed="rId2"/>
          <a:stretch>
            <a:fillRect/>
          </a:stretch>
        </p:blipFill>
        <p:spPr>
          <a:xfrm>
            <a:off x="5705856" y="2523744"/>
            <a:ext cx="219456" cy="164592"/>
          </a:xfrm>
          <a:prstGeom prst="rect">
            <a:avLst/>
          </a:prstGeom>
        </p:spPr>
      </p:pic>
      <p:sp>
        <p:nvSpPr>
          <p:cNvPr id="33" name="Shape 24"/>
          <p:cNvSpPr/>
          <p:nvPr/>
        </p:nvSpPr>
        <p:spPr>
          <a:xfrm>
            <a:off x="5961888" y="2103120"/>
            <a:ext cx="2286000" cy="1005840"/>
          </a:xfrm>
          <a:prstGeom prst="rect">
            <a:avLst/>
          </a:prstGeom>
          <a:solidFill>
            <a:srgbClr val="FFF3CD"/>
          </a:solidFill>
          <a:ln w="6350">
            <a:solidFill>
              <a:srgbClr val="B8D4E8"/>
            </a:solidFill>
            <a:prstDash val="solid"/>
          </a:ln>
          <a:effectLst>
            <a:outerShdw blurRad="63500" dist="12700" dir="8100000" algn="bl" rotWithShape="0">
              <a:srgbClr val="A0BFDA">
                <a:alpha val="18000"/>
              </a:srgbClr>
            </a:outerShdw>
          </a:effectLst>
        </p:spPr>
      </p:sp>
      <p:pic>
        <p:nvPicPr>
          <p:cNvPr id="34" name="Image 7" descr="preencoded.png"/>
          <p:cNvPicPr>
            <a:picLocks noChangeAspect="1"/>
          </p:cNvPicPr>
          <p:nvPr/>
        </p:nvPicPr>
        <p:blipFill>
          <a:blip r:embed="rId6"/>
          <a:stretch>
            <a:fillRect/>
          </a:stretch>
        </p:blipFill>
        <p:spPr>
          <a:xfrm>
            <a:off x="6510528" y="2176272"/>
            <a:ext cx="384048" cy="384048"/>
          </a:xfrm>
          <a:prstGeom prst="rect">
            <a:avLst/>
          </a:prstGeom>
        </p:spPr>
      </p:pic>
      <p:sp>
        <p:nvSpPr>
          <p:cNvPr id="35" name="Text 25"/>
          <p:cNvSpPr/>
          <p:nvPr/>
        </p:nvSpPr>
        <p:spPr>
          <a:xfrm>
            <a:off x="5961888" y="2578608"/>
            <a:ext cx="2286000" cy="182880"/>
          </a:xfrm>
          <a:prstGeom prst="rect">
            <a:avLst/>
          </a:prstGeom>
          <a:noFill/>
        </p:spPr>
        <p:txBody>
          <a:bodyPr wrap="square" lIns="0" tIns="0" rIns="0" bIns="0" rtlCol="0" anchor="ctr"/>
          <a:lstStyle/>
          <a:p>
            <a:pPr marL="0" indent="0" algn="ctr">
              <a:buNone/>
            </a:pPr>
            <a:r>
              <a:rPr lang="en-US" sz="900" b="1" dirty="0">
                <a:solidFill>
                  <a:srgbClr val="0D2137"/>
                </a:solidFill>
              </a:rPr>
              <a:t>Logging &amp; Monitoring</a:t>
            </a:r>
            <a:endParaRPr lang="en-US" sz="900" dirty="0"/>
          </a:p>
        </p:txBody>
      </p:sp>
      <p:sp>
        <p:nvSpPr>
          <p:cNvPr id="36" name="Text 26"/>
          <p:cNvSpPr/>
          <p:nvPr/>
        </p:nvSpPr>
        <p:spPr>
          <a:xfrm>
            <a:off x="5961888" y="2743200"/>
            <a:ext cx="2286000" cy="182880"/>
          </a:xfrm>
          <a:prstGeom prst="rect">
            <a:avLst/>
          </a:prstGeom>
          <a:noFill/>
        </p:spPr>
        <p:txBody>
          <a:bodyPr wrap="square" lIns="0" tIns="0" rIns="0" bIns="0" rtlCol="0" anchor="ctr"/>
          <a:lstStyle/>
          <a:p>
            <a:pPr marL="0" indent="0" algn="ctr">
              <a:buNone/>
            </a:pPr>
            <a:r>
              <a:rPr lang="en-US" sz="750" dirty="0">
                <a:solidFill>
                  <a:srgbClr val="5A7B96"/>
                </a:solidFill>
              </a:rPr>
              <a:t>SIEM / Audit Logs</a:t>
            </a:r>
            <a:endParaRPr lang="en-US" sz="750" dirty="0"/>
          </a:p>
        </p:txBody>
      </p:sp>
      <p:sp>
        <p:nvSpPr>
          <p:cNvPr id="37" name="Shape 27"/>
          <p:cNvSpPr/>
          <p:nvPr/>
        </p:nvSpPr>
        <p:spPr>
          <a:xfrm>
            <a:off x="320040" y="4480560"/>
            <a:ext cx="8503920" cy="457200"/>
          </a:xfrm>
          <a:prstGeom prst="rect">
            <a:avLst/>
          </a:prstGeom>
          <a:solidFill>
            <a:srgbClr val="EAF4FB"/>
          </a:solidFill>
          <a:ln w="7620">
            <a:solidFill>
              <a:srgbClr val="B8D4E8"/>
            </a:solidFill>
            <a:prstDash val="solid"/>
          </a:ln>
        </p:spPr>
      </p:sp>
      <p:sp>
        <p:nvSpPr>
          <p:cNvPr id="38" name="Text 28"/>
          <p:cNvSpPr/>
          <p:nvPr/>
        </p:nvSpPr>
        <p:spPr>
          <a:xfrm>
            <a:off x="502920" y="4535424"/>
            <a:ext cx="8229600" cy="329184"/>
          </a:xfrm>
          <a:prstGeom prst="rect">
            <a:avLst/>
          </a:prstGeom>
          <a:noFill/>
        </p:spPr>
        <p:txBody>
          <a:bodyPr wrap="square" lIns="0" tIns="0" rIns="0" bIns="0" rtlCol="0" anchor="ctr"/>
          <a:lstStyle/>
          <a:p>
            <a:pPr marL="0" indent="0" algn="ctr">
              <a:buNone/>
            </a:pPr>
            <a:r>
              <a:rPr lang="en-US" sz="900" dirty="0">
                <a:solidFill>
                  <a:srgbClr val="1A2B3C"/>
                </a:solidFill>
              </a:rPr>
              <a:t>☁️  Cloud-hosted (AWS/Azure) with hybrid option for on-prem data storage   |   Zero Trust: All components verify identity before communicating</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14  Data Flow Diagram</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Data Flow Diagram — Chatbot with Trust Boundaries</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Text 4"/>
          <p:cNvSpPr/>
          <p:nvPr/>
        </p:nvSpPr>
        <p:spPr>
          <a:xfrm>
            <a:off x="320040" y="1005840"/>
            <a:ext cx="8503920" cy="201168"/>
          </a:xfrm>
          <a:prstGeom prst="rect">
            <a:avLst/>
          </a:prstGeom>
          <a:noFill/>
        </p:spPr>
        <p:txBody>
          <a:bodyPr wrap="square" lIns="0" tIns="0" rIns="0" bIns="0" rtlCol="0" anchor="ctr"/>
          <a:lstStyle/>
          <a:p>
            <a:pPr marL="0" indent="0" algn="ctr">
              <a:buNone/>
            </a:pPr>
            <a:r>
              <a:rPr lang="en-US" sz="900" i="1" dirty="0">
                <a:solidFill>
                  <a:srgbClr val="5A7B96"/>
                </a:solidFill>
              </a:rPr>
              <a:t>DFD Level 1: How user input, prompts, and responses move through the system with clear trust boundaries</a:t>
            </a:r>
            <a:endParaRPr lang="en-US" sz="900" dirty="0"/>
          </a:p>
        </p:txBody>
      </p:sp>
      <p:sp>
        <p:nvSpPr>
          <p:cNvPr id="7" name="Shape 5"/>
          <p:cNvSpPr/>
          <p:nvPr/>
        </p:nvSpPr>
        <p:spPr>
          <a:xfrm>
            <a:off x="182880" y="1371600"/>
            <a:ext cx="1280160" cy="594360"/>
          </a:xfrm>
          <a:prstGeom prst="rect">
            <a:avLst/>
          </a:prstGeom>
          <a:solidFill>
            <a:srgbClr val="E8F5E9"/>
          </a:solidFill>
          <a:ln w="19050">
            <a:solidFill>
              <a:srgbClr val="2E7D32"/>
            </a:solidFill>
            <a:prstDash val="solid"/>
          </a:ln>
        </p:spPr>
      </p:sp>
      <p:sp>
        <p:nvSpPr>
          <p:cNvPr id="8" name="Text 6"/>
          <p:cNvSpPr/>
          <p:nvPr/>
        </p:nvSpPr>
        <p:spPr>
          <a:xfrm>
            <a:off x="182880" y="1371600"/>
            <a:ext cx="1280160" cy="594360"/>
          </a:xfrm>
          <a:prstGeom prst="rect">
            <a:avLst/>
          </a:prstGeom>
          <a:noFill/>
        </p:spPr>
        <p:txBody>
          <a:bodyPr wrap="square" lIns="0" tIns="0" rIns="0" bIns="0" rtlCol="0" anchor="ctr"/>
          <a:lstStyle/>
          <a:p>
            <a:pPr marL="0" indent="0" algn="ctr">
              <a:buNone/>
            </a:pPr>
            <a:r>
              <a:rPr lang="en-US" sz="850" b="1" dirty="0">
                <a:solidFill>
                  <a:srgbClr val="2E7D32"/>
                </a:solidFill>
              </a:rPr>
              <a:t>User</a:t>
            </a:r>
            <a:endParaRPr lang="en-US" sz="850" dirty="0"/>
          </a:p>
          <a:p>
            <a:pPr marL="0" indent="0" algn="ctr">
              <a:buNone/>
            </a:pPr>
            <a:r>
              <a:rPr lang="en-US" sz="850" b="1" dirty="0">
                <a:solidFill>
                  <a:srgbClr val="2E7D32"/>
                </a:solidFill>
              </a:rPr>
              <a:t>(External)</a:t>
            </a:r>
            <a:endParaRPr lang="en-US" sz="850" dirty="0"/>
          </a:p>
        </p:txBody>
      </p:sp>
      <p:sp>
        <p:nvSpPr>
          <p:cNvPr id="9" name="Shape 7"/>
          <p:cNvSpPr/>
          <p:nvPr/>
        </p:nvSpPr>
        <p:spPr>
          <a:xfrm>
            <a:off x="1737360" y="1188720"/>
            <a:ext cx="7178040" cy="1234440"/>
          </a:xfrm>
          <a:prstGeom prst="rect">
            <a:avLst/>
          </a:prstGeom>
          <a:solidFill>
            <a:srgbClr val="F5FAFF"/>
          </a:solidFill>
          <a:ln w="12700">
            <a:solidFill>
              <a:srgbClr val="B8D4E8"/>
            </a:solidFill>
            <a:prstDash val="dash"/>
          </a:ln>
        </p:spPr>
      </p:sp>
      <p:sp>
        <p:nvSpPr>
          <p:cNvPr id="10" name="Text 8"/>
          <p:cNvSpPr/>
          <p:nvPr/>
        </p:nvSpPr>
        <p:spPr>
          <a:xfrm>
            <a:off x="1828800" y="1216152"/>
            <a:ext cx="2286000" cy="164592"/>
          </a:xfrm>
          <a:prstGeom prst="rect">
            <a:avLst/>
          </a:prstGeom>
          <a:noFill/>
        </p:spPr>
        <p:txBody>
          <a:bodyPr wrap="square" lIns="0" tIns="0" rIns="0" bIns="0" rtlCol="0" anchor="ctr"/>
          <a:lstStyle/>
          <a:p>
            <a:pPr marL="0" indent="0">
              <a:buNone/>
            </a:pPr>
            <a:r>
              <a:rPr lang="en-US" sz="750" i="1" dirty="0">
                <a:solidFill>
                  <a:srgbClr val="5A7B96"/>
                </a:solidFill>
              </a:rPr>
              <a:t>Internet / DMZ Trust Zone</a:t>
            </a:r>
            <a:endParaRPr lang="en-US" sz="750" dirty="0"/>
          </a:p>
        </p:txBody>
      </p:sp>
      <p:sp>
        <p:nvSpPr>
          <p:cNvPr id="11" name="Shape 9"/>
          <p:cNvSpPr/>
          <p:nvPr/>
        </p:nvSpPr>
        <p:spPr>
          <a:xfrm>
            <a:off x="1828800" y="1371600"/>
            <a:ext cx="1554480" cy="594360"/>
          </a:xfrm>
          <a:prstGeom prst="rect">
            <a:avLst/>
          </a:prstGeom>
          <a:solidFill>
            <a:srgbClr val="EAF4FB"/>
          </a:solidFill>
          <a:ln w="19050">
            <a:solidFill>
              <a:srgbClr val="1B6CA8"/>
            </a:solidFill>
            <a:prstDash val="solid"/>
          </a:ln>
        </p:spPr>
      </p:sp>
      <p:sp>
        <p:nvSpPr>
          <p:cNvPr id="12" name="Text 10"/>
          <p:cNvSpPr/>
          <p:nvPr/>
        </p:nvSpPr>
        <p:spPr>
          <a:xfrm>
            <a:off x="1828800" y="1371600"/>
            <a:ext cx="1554480" cy="594360"/>
          </a:xfrm>
          <a:prstGeom prst="rect">
            <a:avLst/>
          </a:prstGeom>
          <a:noFill/>
        </p:spPr>
        <p:txBody>
          <a:bodyPr wrap="square" lIns="0" tIns="0" rIns="0" bIns="0" rtlCol="0" anchor="ctr"/>
          <a:lstStyle/>
          <a:p>
            <a:pPr marL="0" indent="0" algn="ctr">
              <a:buNone/>
            </a:pPr>
            <a:r>
              <a:rPr lang="en-US" sz="800" b="1" dirty="0">
                <a:solidFill>
                  <a:srgbClr val="0D2137"/>
                </a:solidFill>
              </a:rPr>
              <a:t>1. Input</a:t>
            </a:r>
            <a:endParaRPr lang="en-US" sz="800" dirty="0"/>
          </a:p>
          <a:p>
            <a:pPr marL="0" indent="0" algn="ctr">
              <a:buNone/>
            </a:pPr>
            <a:r>
              <a:rPr lang="en-US" sz="800" b="1" dirty="0">
                <a:solidFill>
                  <a:srgbClr val="0D2137"/>
                </a:solidFill>
              </a:rPr>
              <a:t>Validation</a:t>
            </a:r>
            <a:endParaRPr lang="en-US" sz="800" dirty="0"/>
          </a:p>
        </p:txBody>
      </p:sp>
      <p:sp>
        <p:nvSpPr>
          <p:cNvPr id="13" name="Shape 11"/>
          <p:cNvSpPr/>
          <p:nvPr/>
        </p:nvSpPr>
        <p:spPr>
          <a:xfrm>
            <a:off x="3401568" y="1673352"/>
            <a:ext cx="457200" cy="0"/>
          </a:xfrm>
          <a:prstGeom prst="line">
            <a:avLst/>
          </a:prstGeom>
          <a:noFill/>
          <a:ln w="19050">
            <a:solidFill>
              <a:srgbClr val="1B6CA8"/>
            </a:solidFill>
            <a:prstDash val="solid"/>
          </a:ln>
        </p:spPr>
      </p:sp>
      <p:sp>
        <p:nvSpPr>
          <p:cNvPr id="14" name="Text 12"/>
          <p:cNvSpPr/>
          <p:nvPr/>
        </p:nvSpPr>
        <p:spPr>
          <a:xfrm>
            <a:off x="3310128" y="1380363"/>
            <a:ext cx="731520" cy="292608"/>
          </a:xfrm>
          <a:prstGeom prst="rect">
            <a:avLst/>
          </a:prstGeom>
          <a:noFill/>
        </p:spPr>
        <p:txBody>
          <a:bodyPr wrap="square" lIns="0" tIns="0" rIns="0" bIns="0" rtlCol="0" anchor="ctr"/>
          <a:lstStyle/>
          <a:p>
            <a:pPr marL="0" indent="0" algn="ctr">
              <a:buNone/>
            </a:pPr>
            <a:r>
              <a:rPr lang="en-US" sz="700" dirty="0">
                <a:solidFill>
                  <a:srgbClr val="1B6CA8"/>
                </a:solidFill>
              </a:rPr>
              <a:t>Sanitised</a:t>
            </a:r>
            <a:endParaRPr lang="en-US" sz="700" dirty="0"/>
          </a:p>
          <a:p>
            <a:pPr marL="0" indent="0" algn="ctr">
              <a:buNone/>
            </a:pPr>
            <a:r>
              <a:rPr lang="en-US" sz="700" dirty="0">
                <a:solidFill>
                  <a:srgbClr val="1B6CA8"/>
                </a:solidFill>
              </a:rPr>
              <a:t>Input</a:t>
            </a:r>
            <a:endParaRPr lang="en-US" sz="700" dirty="0"/>
          </a:p>
        </p:txBody>
      </p:sp>
      <p:sp>
        <p:nvSpPr>
          <p:cNvPr id="15" name="Shape 13"/>
          <p:cNvSpPr/>
          <p:nvPr/>
        </p:nvSpPr>
        <p:spPr>
          <a:xfrm>
            <a:off x="3877056" y="1371600"/>
            <a:ext cx="1554480" cy="594360"/>
          </a:xfrm>
          <a:prstGeom prst="rect">
            <a:avLst/>
          </a:prstGeom>
          <a:solidFill>
            <a:srgbClr val="EAF4FB"/>
          </a:solidFill>
          <a:ln w="19050">
            <a:solidFill>
              <a:srgbClr val="1B6CA8"/>
            </a:solidFill>
            <a:prstDash val="solid"/>
          </a:ln>
        </p:spPr>
      </p:sp>
      <p:sp>
        <p:nvSpPr>
          <p:cNvPr id="16" name="Text 14"/>
          <p:cNvSpPr/>
          <p:nvPr/>
        </p:nvSpPr>
        <p:spPr>
          <a:xfrm>
            <a:off x="3877056" y="1371600"/>
            <a:ext cx="1554480" cy="594360"/>
          </a:xfrm>
          <a:prstGeom prst="rect">
            <a:avLst/>
          </a:prstGeom>
          <a:noFill/>
        </p:spPr>
        <p:txBody>
          <a:bodyPr wrap="square" lIns="0" tIns="0" rIns="0" bIns="0" rtlCol="0" anchor="ctr"/>
          <a:lstStyle/>
          <a:p>
            <a:pPr marL="0" indent="0" algn="ctr">
              <a:buNone/>
            </a:pPr>
            <a:r>
              <a:rPr lang="en-US" sz="800" b="1" dirty="0">
                <a:solidFill>
                  <a:srgbClr val="0D2137"/>
                </a:solidFill>
              </a:rPr>
              <a:t>2. API</a:t>
            </a:r>
            <a:endParaRPr lang="en-US" sz="800" dirty="0"/>
          </a:p>
          <a:p>
            <a:pPr marL="0" indent="0" algn="ctr">
              <a:buNone/>
            </a:pPr>
            <a:r>
              <a:rPr lang="en-US" sz="800" b="1" dirty="0">
                <a:solidFill>
                  <a:srgbClr val="0D2137"/>
                </a:solidFill>
              </a:rPr>
              <a:t>Gateway</a:t>
            </a:r>
            <a:endParaRPr lang="en-US" sz="800" dirty="0"/>
          </a:p>
        </p:txBody>
      </p:sp>
      <p:sp>
        <p:nvSpPr>
          <p:cNvPr id="17" name="Shape 15"/>
          <p:cNvSpPr/>
          <p:nvPr/>
        </p:nvSpPr>
        <p:spPr>
          <a:xfrm>
            <a:off x="5449824" y="1673352"/>
            <a:ext cx="457200" cy="0"/>
          </a:xfrm>
          <a:prstGeom prst="line">
            <a:avLst/>
          </a:prstGeom>
          <a:noFill/>
          <a:ln w="19050">
            <a:solidFill>
              <a:srgbClr val="1B6CA8"/>
            </a:solidFill>
            <a:prstDash val="solid"/>
          </a:ln>
        </p:spPr>
      </p:sp>
      <p:sp>
        <p:nvSpPr>
          <p:cNvPr id="18" name="Text 16"/>
          <p:cNvSpPr/>
          <p:nvPr/>
        </p:nvSpPr>
        <p:spPr>
          <a:xfrm>
            <a:off x="5394960" y="1380363"/>
            <a:ext cx="658368" cy="292608"/>
          </a:xfrm>
          <a:prstGeom prst="rect">
            <a:avLst/>
          </a:prstGeom>
          <a:noFill/>
        </p:spPr>
        <p:txBody>
          <a:bodyPr wrap="square" lIns="0" tIns="0" rIns="0" bIns="0" rtlCol="0" anchor="ctr"/>
          <a:lstStyle/>
          <a:p>
            <a:pPr marL="0" indent="0" algn="ctr">
              <a:buNone/>
            </a:pPr>
            <a:r>
              <a:rPr lang="en-US" sz="700" dirty="0">
                <a:solidFill>
                  <a:srgbClr val="1B6CA8"/>
                </a:solidFill>
              </a:rPr>
              <a:t>Auth'd</a:t>
            </a:r>
            <a:endParaRPr lang="en-US" sz="700" dirty="0"/>
          </a:p>
          <a:p>
            <a:pPr marL="0" indent="0" algn="ctr">
              <a:buNone/>
            </a:pPr>
            <a:r>
              <a:rPr lang="en-US" sz="700" dirty="0">
                <a:solidFill>
                  <a:srgbClr val="1B6CA8"/>
                </a:solidFill>
              </a:rPr>
              <a:t>Request</a:t>
            </a:r>
            <a:endParaRPr lang="en-US" sz="700" dirty="0"/>
          </a:p>
        </p:txBody>
      </p:sp>
      <p:sp>
        <p:nvSpPr>
          <p:cNvPr id="19" name="Shape 17"/>
          <p:cNvSpPr/>
          <p:nvPr/>
        </p:nvSpPr>
        <p:spPr>
          <a:xfrm>
            <a:off x="5925312" y="1371600"/>
            <a:ext cx="1554480" cy="594360"/>
          </a:xfrm>
          <a:prstGeom prst="rect">
            <a:avLst/>
          </a:prstGeom>
          <a:solidFill>
            <a:srgbClr val="EEE5FF"/>
          </a:solidFill>
          <a:ln w="19050">
            <a:solidFill>
              <a:srgbClr val="1B6CA8"/>
            </a:solidFill>
            <a:prstDash val="solid"/>
          </a:ln>
        </p:spPr>
      </p:sp>
      <p:sp>
        <p:nvSpPr>
          <p:cNvPr id="20" name="Text 18"/>
          <p:cNvSpPr/>
          <p:nvPr/>
        </p:nvSpPr>
        <p:spPr>
          <a:xfrm>
            <a:off x="5925312" y="1371600"/>
            <a:ext cx="1554480" cy="594360"/>
          </a:xfrm>
          <a:prstGeom prst="rect">
            <a:avLst/>
          </a:prstGeom>
          <a:noFill/>
        </p:spPr>
        <p:txBody>
          <a:bodyPr wrap="square" lIns="0" tIns="0" rIns="0" bIns="0" rtlCol="0" anchor="ctr"/>
          <a:lstStyle/>
          <a:p>
            <a:pPr marL="0" indent="0" algn="ctr">
              <a:buNone/>
            </a:pPr>
            <a:r>
              <a:rPr lang="en-US" sz="800" b="1" dirty="0">
                <a:solidFill>
                  <a:srgbClr val="0D2137"/>
                </a:solidFill>
              </a:rPr>
              <a:t>3. LLM</a:t>
            </a:r>
            <a:endParaRPr lang="en-US" sz="800" dirty="0"/>
          </a:p>
          <a:p>
            <a:pPr marL="0" indent="0" algn="ctr">
              <a:buNone/>
            </a:pPr>
            <a:r>
              <a:rPr lang="en-US" sz="800" b="1" dirty="0">
                <a:solidFill>
                  <a:srgbClr val="0D2137"/>
                </a:solidFill>
              </a:rPr>
              <a:t>Processing</a:t>
            </a:r>
            <a:endParaRPr lang="en-US" sz="800" dirty="0"/>
          </a:p>
        </p:txBody>
      </p:sp>
      <p:sp>
        <p:nvSpPr>
          <p:cNvPr id="21" name="Shape 19"/>
          <p:cNvSpPr/>
          <p:nvPr/>
        </p:nvSpPr>
        <p:spPr>
          <a:xfrm>
            <a:off x="1737360" y="2560320"/>
            <a:ext cx="7178040" cy="1417320"/>
          </a:xfrm>
          <a:prstGeom prst="rect">
            <a:avLst/>
          </a:prstGeom>
          <a:solidFill>
            <a:srgbClr val="F0FFF4"/>
          </a:solidFill>
          <a:ln w="12700">
            <a:solidFill>
              <a:srgbClr val="2E7D32"/>
            </a:solidFill>
            <a:prstDash val="dash"/>
          </a:ln>
        </p:spPr>
      </p:sp>
      <p:sp>
        <p:nvSpPr>
          <p:cNvPr id="22" name="Text 20"/>
          <p:cNvSpPr/>
          <p:nvPr/>
        </p:nvSpPr>
        <p:spPr>
          <a:xfrm>
            <a:off x="1828800" y="2587752"/>
            <a:ext cx="3200400" cy="164592"/>
          </a:xfrm>
          <a:prstGeom prst="rect">
            <a:avLst/>
          </a:prstGeom>
          <a:noFill/>
        </p:spPr>
        <p:txBody>
          <a:bodyPr wrap="square" lIns="0" tIns="0" rIns="0" bIns="0" rtlCol="0" anchor="ctr"/>
          <a:lstStyle/>
          <a:p>
            <a:pPr marL="0" indent="0">
              <a:buNone/>
            </a:pPr>
            <a:r>
              <a:rPr lang="en-US" sz="750" i="1" dirty="0">
                <a:solidFill>
                  <a:srgbClr val="2E7D32"/>
                </a:solidFill>
              </a:rPr>
              <a:t>Internal Trusted Zone (Encrypted)</a:t>
            </a:r>
            <a:endParaRPr lang="en-US" sz="750" dirty="0"/>
          </a:p>
        </p:txBody>
      </p:sp>
      <p:sp>
        <p:nvSpPr>
          <p:cNvPr id="23" name="Shape 21"/>
          <p:cNvSpPr/>
          <p:nvPr/>
        </p:nvSpPr>
        <p:spPr>
          <a:xfrm>
            <a:off x="1920240" y="2724912"/>
            <a:ext cx="1600200" cy="594360"/>
          </a:xfrm>
          <a:prstGeom prst="rect">
            <a:avLst/>
          </a:prstGeom>
          <a:solidFill>
            <a:srgbClr val="FAFAFA"/>
          </a:solidFill>
          <a:ln w="19050">
            <a:solidFill>
              <a:srgbClr val="2E7D32"/>
            </a:solidFill>
            <a:prstDash val="solid"/>
          </a:ln>
        </p:spPr>
      </p:sp>
      <p:sp>
        <p:nvSpPr>
          <p:cNvPr id="24" name="Shape 22"/>
          <p:cNvSpPr/>
          <p:nvPr/>
        </p:nvSpPr>
        <p:spPr>
          <a:xfrm>
            <a:off x="1920240" y="2743200"/>
            <a:ext cx="1600200" cy="0"/>
          </a:xfrm>
          <a:prstGeom prst="line">
            <a:avLst/>
          </a:prstGeom>
          <a:noFill/>
          <a:ln w="19050">
            <a:solidFill>
              <a:srgbClr val="2E7D32"/>
            </a:solidFill>
            <a:prstDash val="solid"/>
          </a:ln>
        </p:spPr>
      </p:sp>
      <p:sp>
        <p:nvSpPr>
          <p:cNvPr id="25" name="Shape 23"/>
          <p:cNvSpPr/>
          <p:nvPr/>
        </p:nvSpPr>
        <p:spPr>
          <a:xfrm>
            <a:off x="1920240" y="3291840"/>
            <a:ext cx="1600200" cy="0"/>
          </a:xfrm>
          <a:prstGeom prst="line">
            <a:avLst/>
          </a:prstGeom>
          <a:noFill/>
          <a:ln w="19050">
            <a:solidFill>
              <a:srgbClr val="2E7D32"/>
            </a:solidFill>
            <a:prstDash val="solid"/>
          </a:ln>
        </p:spPr>
      </p:sp>
      <p:sp>
        <p:nvSpPr>
          <p:cNvPr id="26" name="Text 24"/>
          <p:cNvSpPr/>
          <p:nvPr/>
        </p:nvSpPr>
        <p:spPr>
          <a:xfrm>
            <a:off x="1920240" y="2743200"/>
            <a:ext cx="1600200" cy="566928"/>
          </a:xfrm>
          <a:prstGeom prst="rect">
            <a:avLst/>
          </a:prstGeom>
          <a:noFill/>
        </p:spPr>
        <p:txBody>
          <a:bodyPr wrap="square" lIns="0" tIns="0" rIns="0" bIns="0" rtlCol="0" anchor="ctr"/>
          <a:lstStyle/>
          <a:p>
            <a:pPr marL="0" indent="0" algn="ctr">
              <a:buNone/>
            </a:pPr>
            <a:r>
              <a:rPr lang="en-US" sz="800" b="1" dirty="0">
                <a:solidFill>
                  <a:srgbClr val="0D2137"/>
                </a:solidFill>
              </a:rPr>
              <a:t>DS1: Customer</a:t>
            </a:r>
            <a:endParaRPr lang="en-US" sz="800" dirty="0"/>
          </a:p>
          <a:p>
            <a:pPr marL="0" indent="0" algn="ctr">
              <a:buNone/>
            </a:pPr>
            <a:r>
              <a:rPr lang="en-US" sz="800" b="1" dirty="0">
                <a:solidFill>
                  <a:srgbClr val="0D2137"/>
                </a:solidFill>
              </a:rPr>
              <a:t>Database</a:t>
            </a:r>
            <a:endParaRPr lang="en-US" sz="800" dirty="0"/>
          </a:p>
        </p:txBody>
      </p:sp>
      <p:sp>
        <p:nvSpPr>
          <p:cNvPr id="27" name="Shape 25"/>
          <p:cNvSpPr/>
          <p:nvPr/>
        </p:nvSpPr>
        <p:spPr>
          <a:xfrm>
            <a:off x="3858768" y="2724912"/>
            <a:ext cx="1600200" cy="594360"/>
          </a:xfrm>
          <a:prstGeom prst="rect">
            <a:avLst/>
          </a:prstGeom>
          <a:solidFill>
            <a:srgbClr val="FAFAFA"/>
          </a:solidFill>
          <a:ln w="19050">
            <a:solidFill>
              <a:srgbClr val="1B6CA8"/>
            </a:solidFill>
            <a:prstDash val="solid"/>
          </a:ln>
        </p:spPr>
      </p:sp>
      <p:sp>
        <p:nvSpPr>
          <p:cNvPr id="28" name="Shape 26"/>
          <p:cNvSpPr/>
          <p:nvPr/>
        </p:nvSpPr>
        <p:spPr>
          <a:xfrm>
            <a:off x="3858768" y="2743200"/>
            <a:ext cx="1600200" cy="0"/>
          </a:xfrm>
          <a:prstGeom prst="line">
            <a:avLst/>
          </a:prstGeom>
          <a:noFill/>
          <a:ln w="19050">
            <a:solidFill>
              <a:srgbClr val="1B6CA8"/>
            </a:solidFill>
            <a:prstDash val="solid"/>
          </a:ln>
        </p:spPr>
      </p:sp>
      <p:sp>
        <p:nvSpPr>
          <p:cNvPr id="29" name="Shape 27"/>
          <p:cNvSpPr/>
          <p:nvPr/>
        </p:nvSpPr>
        <p:spPr>
          <a:xfrm>
            <a:off x="3858768" y="3291840"/>
            <a:ext cx="1600200" cy="0"/>
          </a:xfrm>
          <a:prstGeom prst="line">
            <a:avLst/>
          </a:prstGeom>
          <a:noFill/>
          <a:ln w="19050">
            <a:solidFill>
              <a:srgbClr val="1B6CA8"/>
            </a:solidFill>
            <a:prstDash val="solid"/>
          </a:ln>
        </p:spPr>
      </p:sp>
      <p:sp>
        <p:nvSpPr>
          <p:cNvPr id="30" name="Text 28"/>
          <p:cNvSpPr/>
          <p:nvPr/>
        </p:nvSpPr>
        <p:spPr>
          <a:xfrm>
            <a:off x="3858768" y="2743200"/>
            <a:ext cx="1600200" cy="566928"/>
          </a:xfrm>
          <a:prstGeom prst="rect">
            <a:avLst/>
          </a:prstGeom>
          <a:noFill/>
        </p:spPr>
        <p:txBody>
          <a:bodyPr wrap="square" lIns="0" tIns="0" rIns="0" bIns="0" rtlCol="0" anchor="ctr"/>
          <a:lstStyle/>
          <a:p>
            <a:pPr marL="0" indent="0" algn="ctr">
              <a:buNone/>
            </a:pPr>
            <a:r>
              <a:rPr lang="en-US" sz="800" b="1" dirty="0">
                <a:solidFill>
                  <a:srgbClr val="0D2137"/>
                </a:solidFill>
              </a:rPr>
              <a:t>DS2: Prompt</a:t>
            </a:r>
            <a:endParaRPr lang="en-US" sz="800" dirty="0"/>
          </a:p>
          <a:p>
            <a:pPr marL="0" indent="0" algn="ctr">
              <a:buNone/>
            </a:pPr>
            <a:r>
              <a:rPr lang="en-US" sz="800" b="1" dirty="0">
                <a:solidFill>
                  <a:srgbClr val="0D2137"/>
                </a:solidFill>
              </a:rPr>
              <a:t>Templates</a:t>
            </a:r>
            <a:endParaRPr lang="en-US" sz="800" dirty="0"/>
          </a:p>
        </p:txBody>
      </p:sp>
      <p:sp>
        <p:nvSpPr>
          <p:cNvPr id="31" name="Shape 29"/>
          <p:cNvSpPr/>
          <p:nvPr/>
        </p:nvSpPr>
        <p:spPr>
          <a:xfrm>
            <a:off x="5870448" y="2724912"/>
            <a:ext cx="1600200" cy="594360"/>
          </a:xfrm>
          <a:prstGeom prst="rect">
            <a:avLst/>
          </a:prstGeom>
          <a:solidFill>
            <a:srgbClr val="FAFAFA"/>
          </a:solidFill>
          <a:ln w="19050">
            <a:solidFill>
              <a:srgbClr val="E07B00"/>
            </a:solidFill>
            <a:prstDash val="solid"/>
          </a:ln>
        </p:spPr>
      </p:sp>
      <p:sp>
        <p:nvSpPr>
          <p:cNvPr id="32" name="Shape 30"/>
          <p:cNvSpPr/>
          <p:nvPr/>
        </p:nvSpPr>
        <p:spPr>
          <a:xfrm>
            <a:off x="5870448" y="2743200"/>
            <a:ext cx="1600200" cy="0"/>
          </a:xfrm>
          <a:prstGeom prst="line">
            <a:avLst/>
          </a:prstGeom>
          <a:noFill/>
          <a:ln w="19050">
            <a:solidFill>
              <a:srgbClr val="E07B00"/>
            </a:solidFill>
            <a:prstDash val="solid"/>
          </a:ln>
        </p:spPr>
      </p:sp>
      <p:sp>
        <p:nvSpPr>
          <p:cNvPr id="33" name="Shape 31"/>
          <p:cNvSpPr/>
          <p:nvPr/>
        </p:nvSpPr>
        <p:spPr>
          <a:xfrm>
            <a:off x="5870448" y="3291840"/>
            <a:ext cx="1600200" cy="0"/>
          </a:xfrm>
          <a:prstGeom prst="line">
            <a:avLst/>
          </a:prstGeom>
          <a:noFill/>
          <a:ln w="19050">
            <a:solidFill>
              <a:srgbClr val="E07B00"/>
            </a:solidFill>
            <a:prstDash val="solid"/>
          </a:ln>
        </p:spPr>
      </p:sp>
      <p:sp>
        <p:nvSpPr>
          <p:cNvPr id="34" name="Text 32"/>
          <p:cNvSpPr/>
          <p:nvPr/>
        </p:nvSpPr>
        <p:spPr>
          <a:xfrm>
            <a:off x="5870448" y="2743200"/>
            <a:ext cx="1600200" cy="566928"/>
          </a:xfrm>
          <a:prstGeom prst="rect">
            <a:avLst/>
          </a:prstGeom>
          <a:noFill/>
        </p:spPr>
        <p:txBody>
          <a:bodyPr wrap="square" lIns="0" tIns="0" rIns="0" bIns="0" rtlCol="0" anchor="ctr"/>
          <a:lstStyle/>
          <a:p>
            <a:pPr marL="0" indent="0" algn="ctr">
              <a:buNone/>
            </a:pPr>
            <a:r>
              <a:rPr lang="en-US" sz="800" b="1" dirty="0">
                <a:solidFill>
                  <a:srgbClr val="0D2137"/>
                </a:solidFill>
              </a:rPr>
              <a:t>DS3: Audit</a:t>
            </a:r>
            <a:endParaRPr lang="en-US" sz="800" dirty="0"/>
          </a:p>
          <a:p>
            <a:pPr marL="0" indent="0" algn="ctr">
              <a:buNone/>
            </a:pPr>
            <a:r>
              <a:rPr lang="en-US" sz="800" b="1" dirty="0">
                <a:solidFill>
                  <a:srgbClr val="0D2137"/>
                </a:solidFill>
              </a:rPr>
              <a:t>Logs</a:t>
            </a:r>
            <a:endParaRPr lang="en-US" sz="800" dirty="0"/>
          </a:p>
        </p:txBody>
      </p:sp>
      <p:sp>
        <p:nvSpPr>
          <p:cNvPr id="35" name="Shape 33"/>
          <p:cNvSpPr/>
          <p:nvPr/>
        </p:nvSpPr>
        <p:spPr>
          <a:xfrm>
            <a:off x="2606040" y="1965960"/>
            <a:ext cx="0" cy="777240"/>
          </a:xfrm>
          <a:prstGeom prst="line">
            <a:avLst/>
          </a:prstGeom>
          <a:noFill/>
          <a:ln w="12700">
            <a:solidFill>
              <a:srgbClr val="0F9B8E"/>
            </a:solidFill>
            <a:prstDash val="dash"/>
          </a:ln>
        </p:spPr>
      </p:sp>
      <p:sp>
        <p:nvSpPr>
          <p:cNvPr id="36" name="Shape 34"/>
          <p:cNvSpPr/>
          <p:nvPr/>
        </p:nvSpPr>
        <p:spPr>
          <a:xfrm>
            <a:off x="4654296" y="1965960"/>
            <a:ext cx="0" cy="777240"/>
          </a:xfrm>
          <a:prstGeom prst="line">
            <a:avLst/>
          </a:prstGeom>
          <a:noFill/>
          <a:ln w="12700">
            <a:solidFill>
              <a:srgbClr val="0F9B8E"/>
            </a:solidFill>
            <a:prstDash val="dash"/>
          </a:ln>
        </p:spPr>
      </p:sp>
      <p:sp>
        <p:nvSpPr>
          <p:cNvPr id="37" name="Shape 35"/>
          <p:cNvSpPr/>
          <p:nvPr/>
        </p:nvSpPr>
        <p:spPr>
          <a:xfrm>
            <a:off x="6702552" y="1965960"/>
            <a:ext cx="0" cy="777240"/>
          </a:xfrm>
          <a:prstGeom prst="line">
            <a:avLst/>
          </a:prstGeom>
          <a:noFill/>
          <a:ln w="12700">
            <a:solidFill>
              <a:srgbClr val="0F9B8E"/>
            </a:solidFill>
            <a:prstDash val="dash"/>
          </a:ln>
        </p:spPr>
      </p:sp>
      <p:sp>
        <p:nvSpPr>
          <p:cNvPr id="38" name="Shape 36"/>
          <p:cNvSpPr/>
          <p:nvPr/>
        </p:nvSpPr>
        <p:spPr>
          <a:xfrm>
            <a:off x="1737360" y="4069080"/>
            <a:ext cx="7178040" cy="749808"/>
          </a:xfrm>
          <a:prstGeom prst="rect">
            <a:avLst/>
          </a:prstGeom>
          <a:solidFill>
            <a:srgbClr val="FFF8E1"/>
          </a:solidFill>
          <a:ln w="10160">
            <a:solidFill>
              <a:srgbClr val="E07B00"/>
            </a:solidFill>
            <a:prstDash val="solid"/>
          </a:ln>
        </p:spPr>
      </p:sp>
      <p:sp>
        <p:nvSpPr>
          <p:cNvPr id="39" name="Text 37"/>
          <p:cNvSpPr/>
          <p:nvPr/>
        </p:nvSpPr>
        <p:spPr>
          <a:xfrm>
            <a:off x="1901952" y="4133088"/>
            <a:ext cx="1463040" cy="201168"/>
          </a:xfrm>
          <a:prstGeom prst="rect">
            <a:avLst/>
          </a:prstGeom>
          <a:noFill/>
        </p:spPr>
        <p:txBody>
          <a:bodyPr wrap="square" lIns="0" tIns="0" rIns="0" bIns="0" rtlCol="0" anchor="ctr"/>
          <a:lstStyle/>
          <a:p>
            <a:pPr marL="0" indent="0">
              <a:buNone/>
            </a:pPr>
            <a:r>
              <a:rPr lang="en-US" sz="850" b="1" dirty="0">
                <a:solidFill>
                  <a:srgbClr val="0D2137"/>
                </a:solidFill>
              </a:rPr>
              <a:t>Response Flow:</a:t>
            </a:r>
            <a:endParaRPr lang="en-US" sz="850" dirty="0"/>
          </a:p>
        </p:txBody>
      </p:sp>
      <p:sp>
        <p:nvSpPr>
          <p:cNvPr id="40" name="Text 38"/>
          <p:cNvSpPr/>
          <p:nvPr/>
        </p:nvSpPr>
        <p:spPr>
          <a:xfrm>
            <a:off x="3401568" y="4133088"/>
            <a:ext cx="5349240" cy="548640"/>
          </a:xfrm>
          <a:prstGeom prst="rect">
            <a:avLst/>
          </a:prstGeom>
          <a:noFill/>
        </p:spPr>
        <p:txBody>
          <a:bodyPr wrap="square" lIns="0" tIns="0" rIns="0" bIns="0" rtlCol="0" anchor="ctr"/>
          <a:lstStyle/>
          <a:p>
            <a:pPr marL="0" indent="0">
              <a:buNone/>
            </a:pPr>
            <a:r>
              <a:rPr lang="en-US" sz="900" dirty="0">
                <a:solidFill>
                  <a:srgbClr val="1A2B3C"/>
                </a:solidFill>
              </a:rPr>
              <a:t>LLM generates response → Output Filter (removes PII) → API Gateway → HTTPS response to User browser/app</a:t>
            </a:r>
            <a:endParaRPr lang="en-US" sz="900" dirty="0"/>
          </a:p>
        </p:txBody>
      </p:sp>
      <p:sp>
        <p:nvSpPr>
          <p:cNvPr id="41" name="Shape 39"/>
          <p:cNvSpPr/>
          <p:nvPr/>
        </p:nvSpPr>
        <p:spPr>
          <a:xfrm>
            <a:off x="320040" y="4838000"/>
            <a:ext cx="8503920" cy="274320"/>
          </a:xfrm>
          <a:prstGeom prst="rect">
            <a:avLst/>
          </a:prstGeom>
          <a:solidFill>
            <a:srgbClr val="EAF4FB"/>
          </a:solidFill>
          <a:ln w="6350">
            <a:solidFill>
              <a:srgbClr val="B8D4E8"/>
            </a:solidFill>
            <a:prstDash val="solid"/>
          </a:ln>
        </p:spPr>
      </p:sp>
      <p:sp>
        <p:nvSpPr>
          <p:cNvPr id="42" name="Text 40"/>
          <p:cNvSpPr/>
          <p:nvPr/>
        </p:nvSpPr>
        <p:spPr>
          <a:xfrm>
            <a:off x="457200" y="4874576"/>
            <a:ext cx="8321040" cy="201168"/>
          </a:xfrm>
          <a:prstGeom prst="rect">
            <a:avLst/>
          </a:prstGeom>
          <a:noFill/>
        </p:spPr>
        <p:txBody>
          <a:bodyPr wrap="square" lIns="0" tIns="0" rIns="0" bIns="0" rtlCol="0" anchor="ctr"/>
          <a:lstStyle/>
          <a:p>
            <a:pPr marL="0" indent="0">
              <a:buNone/>
            </a:pPr>
            <a:r>
              <a:rPr lang="en-US" sz="820" dirty="0">
                <a:solidFill>
                  <a:srgbClr val="1A2B3C"/>
                </a:solidFill>
              </a:rPr>
              <a:t>🔒  All cross-boundary data flows are encrypted (TLS 1.3). User PII never stored in LLM prompt logs.</a:t>
            </a:r>
            <a:endParaRPr lang="en-US" sz="8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15  Security Architecture</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Security Architecture — Encryption, Access &amp; Monitoring</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Text 4"/>
          <p:cNvSpPr/>
          <p:nvPr/>
        </p:nvSpPr>
        <p:spPr>
          <a:xfrm>
            <a:off x="320040" y="1005840"/>
            <a:ext cx="8503920" cy="201168"/>
          </a:xfrm>
          <a:prstGeom prst="rect">
            <a:avLst/>
          </a:prstGeom>
          <a:noFill/>
        </p:spPr>
        <p:txBody>
          <a:bodyPr wrap="square" lIns="0" tIns="0" rIns="0" bIns="0" rtlCol="0" anchor="ctr"/>
          <a:lstStyle/>
          <a:p>
            <a:pPr marL="0" indent="0" algn="ctr">
              <a:buNone/>
            </a:pPr>
            <a:r>
              <a:rPr lang="en-US" sz="900" i="1" dirty="0">
                <a:solidFill>
                  <a:srgbClr val="5A7B96"/>
                </a:solidFill>
              </a:rPr>
              <a:t>Layered defence: how encryption, access control, firewalls, and monitoring protect the chatbot</a:t>
            </a:r>
            <a:endParaRPr lang="en-US" sz="900" dirty="0"/>
          </a:p>
        </p:txBody>
      </p:sp>
      <p:sp>
        <p:nvSpPr>
          <p:cNvPr id="7" name="Shape 5"/>
          <p:cNvSpPr/>
          <p:nvPr/>
        </p:nvSpPr>
        <p:spPr>
          <a:xfrm>
            <a:off x="274320" y="1234440"/>
            <a:ext cx="8595360" cy="3657600"/>
          </a:xfrm>
          <a:prstGeom prst="rect">
            <a:avLst/>
          </a:prstGeom>
          <a:solidFill>
            <a:srgbClr val="FDECEA"/>
          </a:solidFill>
          <a:ln w="10160">
            <a:solidFill>
              <a:srgbClr val="D94F3D"/>
            </a:solidFill>
            <a:prstDash val="solid"/>
          </a:ln>
        </p:spPr>
      </p:sp>
      <p:sp>
        <p:nvSpPr>
          <p:cNvPr id="8" name="Text 6"/>
          <p:cNvSpPr/>
          <p:nvPr/>
        </p:nvSpPr>
        <p:spPr>
          <a:xfrm>
            <a:off x="365760" y="1280160"/>
            <a:ext cx="8412480" cy="201168"/>
          </a:xfrm>
          <a:prstGeom prst="rect">
            <a:avLst/>
          </a:prstGeom>
          <a:noFill/>
        </p:spPr>
        <p:txBody>
          <a:bodyPr wrap="square" lIns="0" tIns="0" rIns="0" bIns="0" rtlCol="0" anchor="ctr"/>
          <a:lstStyle/>
          <a:p>
            <a:pPr marL="0" indent="0" algn="l">
              <a:buNone/>
            </a:pPr>
            <a:r>
              <a:rPr lang="en-US" sz="750" b="1" dirty="0">
                <a:solidFill>
                  <a:srgbClr val="D94F3D"/>
                </a:solidFill>
              </a:rPr>
              <a:t>Internet (Untrusted)</a:t>
            </a:r>
            <a:endParaRPr lang="en-US" sz="750" dirty="0"/>
          </a:p>
        </p:txBody>
      </p:sp>
      <p:sp>
        <p:nvSpPr>
          <p:cNvPr id="9" name="Shape 7"/>
          <p:cNvSpPr/>
          <p:nvPr/>
        </p:nvSpPr>
        <p:spPr>
          <a:xfrm>
            <a:off x="502920" y="1508760"/>
            <a:ext cx="8138160" cy="3200400"/>
          </a:xfrm>
          <a:prstGeom prst="rect">
            <a:avLst/>
          </a:prstGeom>
          <a:solidFill>
            <a:srgbClr val="FFF8E1"/>
          </a:solidFill>
          <a:ln w="10160">
            <a:solidFill>
              <a:srgbClr val="E07B00"/>
            </a:solidFill>
            <a:prstDash val="dash"/>
          </a:ln>
        </p:spPr>
      </p:sp>
      <p:sp>
        <p:nvSpPr>
          <p:cNvPr id="10" name="Text 8"/>
          <p:cNvSpPr/>
          <p:nvPr/>
        </p:nvSpPr>
        <p:spPr>
          <a:xfrm>
            <a:off x="594360" y="1554480"/>
            <a:ext cx="7955280" cy="201168"/>
          </a:xfrm>
          <a:prstGeom prst="rect">
            <a:avLst/>
          </a:prstGeom>
          <a:noFill/>
        </p:spPr>
        <p:txBody>
          <a:bodyPr wrap="square" lIns="0" tIns="0" rIns="0" bIns="0" rtlCol="0" anchor="ctr"/>
          <a:lstStyle/>
          <a:p>
            <a:pPr marL="0" indent="0" algn="l">
              <a:buNone/>
            </a:pPr>
            <a:r>
              <a:rPr lang="en-US" sz="750" b="1" dirty="0">
                <a:solidFill>
                  <a:srgbClr val="E07B00"/>
                </a:solidFill>
              </a:rPr>
              <a:t>DMZ — WAF + TLS Termination</a:t>
            </a:r>
            <a:endParaRPr lang="en-US" sz="750" dirty="0"/>
          </a:p>
        </p:txBody>
      </p:sp>
      <p:sp>
        <p:nvSpPr>
          <p:cNvPr id="11" name="Shape 9"/>
          <p:cNvSpPr/>
          <p:nvPr/>
        </p:nvSpPr>
        <p:spPr>
          <a:xfrm>
            <a:off x="777240" y="1828800"/>
            <a:ext cx="7589520" cy="2560320"/>
          </a:xfrm>
          <a:prstGeom prst="rect">
            <a:avLst/>
          </a:prstGeom>
          <a:solidFill>
            <a:srgbClr val="EAF4FB"/>
          </a:solidFill>
          <a:ln w="10160">
            <a:solidFill>
              <a:srgbClr val="1B6CA8"/>
            </a:solidFill>
            <a:prstDash val="dash"/>
          </a:ln>
        </p:spPr>
      </p:sp>
      <p:sp>
        <p:nvSpPr>
          <p:cNvPr id="12" name="Text 10"/>
          <p:cNvSpPr/>
          <p:nvPr/>
        </p:nvSpPr>
        <p:spPr>
          <a:xfrm>
            <a:off x="868680" y="1874520"/>
            <a:ext cx="7406640" cy="201168"/>
          </a:xfrm>
          <a:prstGeom prst="rect">
            <a:avLst/>
          </a:prstGeom>
          <a:noFill/>
        </p:spPr>
        <p:txBody>
          <a:bodyPr wrap="square" lIns="0" tIns="0" rIns="0" bIns="0" rtlCol="0" anchor="ctr"/>
          <a:lstStyle/>
          <a:p>
            <a:pPr marL="0" indent="0" algn="l">
              <a:buNone/>
            </a:pPr>
            <a:r>
              <a:rPr lang="en-US" sz="750" b="1" dirty="0">
                <a:solidFill>
                  <a:srgbClr val="1B6CA8"/>
                </a:solidFill>
              </a:rPr>
              <a:t>Application Zone — Zero Trust</a:t>
            </a:r>
            <a:endParaRPr lang="en-US" sz="750" dirty="0"/>
          </a:p>
        </p:txBody>
      </p:sp>
      <p:sp>
        <p:nvSpPr>
          <p:cNvPr id="13" name="Shape 11"/>
          <p:cNvSpPr/>
          <p:nvPr/>
        </p:nvSpPr>
        <p:spPr>
          <a:xfrm>
            <a:off x="1097280" y="2176272"/>
            <a:ext cx="6949440" cy="1883664"/>
          </a:xfrm>
          <a:prstGeom prst="rect">
            <a:avLst/>
          </a:prstGeom>
          <a:solidFill>
            <a:srgbClr val="E8F5E9"/>
          </a:solidFill>
          <a:ln w="10160">
            <a:solidFill>
              <a:srgbClr val="2E7D32"/>
            </a:solidFill>
            <a:prstDash val="dash"/>
          </a:ln>
        </p:spPr>
      </p:sp>
      <p:sp>
        <p:nvSpPr>
          <p:cNvPr id="14" name="Text 12"/>
          <p:cNvSpPr/>
          <p:nvPr/>
        </p:nvSpPr>
        <p:spPr>
          <a:xfrm>
            <a:off x="1188720" y="2176272"/>
            <a:ext cx="6766560" cy="201168"/>
          </a:xfrm>
          <a:prstGeom prst="rect">
            <a:avLst/>
          </a:prstGeom>
          <a:noFill/>
        </p:spPr>
        <p:txBody>
          <a:bodyPr wrap="square" lIns="0" tIns="0" rIns="0" bIns="0" rtlCol="0" anchor="ctr"/>
          <a:lstStyle/>
          <a:p>
            <a:pPr marL="0" indent="0" algn="l">
              <a:buNone/>
            </a:pPr>
            <a:r>
              <a:rPr lang="en-US" sz="750" b="1" dirty="0">
                <a:solidFill>
                  <a:srgbClr val="2E7D32"/>
                </a:solidFill>
              </a:rPr>
              <a:t>Data Zone — Encrypted at Rest</a:t>
            </a:r>
            <a:endParaRPr lang="en-US" sz="750" dirty="0"/>
          </a:p>
        </p:txBody>
      </p:sp>
      <p:sp>
        <p:nvSpPr>
          <p:cNvPr id="15" name="Shape 13"/>
          <p:cNvSpPr/>
          <p:nvPr/>
        </p:nvSpPr>
        <p:spPr>
          <a:xfrm>
            <a:off x="1417320" y="2304288"/>
            <a:ext cx="1481328" cy="822960"/>
          </a:xfrm>
          <a:prstGeom prst="rect">
            <a:avLst/>
          </a:prstGeom>
          <a:solidFill>
            <a:srgbClr val="FFFFFF"/>
          </a:solidFill>
          <a:ln w="6350">
            <a:solidFill>
              <a:srgbClr val="B8D4E8"/>
            </a:solidFill>
            <a:prstDash val="solid"/>
          </a:ln>
          <a:effectLst>
            <a:outerShdw blurRad="63500" dist="12700" dir="8100000" algn="bl" rotWithShape="0">
              <a:srgbClr val="A0BFDA">
                <a:alpha val="18000"/>
              </a:srgbClr>
            </a:outerShdw>
          </a:effectLst>
        </p:spPr>
      </p:sp>
      <p:sp>
        <p:nvSpPr>
          <p:cNvPr id="16" name="Shape 14"/>
          <p:cNvSpPr/>
          <p:nvPr/>
        </p:nvSpPr>
        <p:spPr>
          <a:xfrm>
            <a:off x="1581912" y="2395728"/>
            <a:ext cx="365760" cy="365760"/>
          </a:xfrm>
          <a:prstGeom prst="rect">
            <a:avLst/>
          </a:prstGeom>
          <a:solidFill>
            <a:srgbClr val="D94F3D"/>
          </a:solidFill>
          <a:ln w="12700">
            <a:solidFill>
              <a:srgbClr val="D94F3D"/>
            </a:solidFill>
            <a:prstDash val="solid"/>
          </a:ln>
        </p:spPr>
      </p:sp>
      <p:pic>
        <p:nvPicPr>
          <p:cNvPr id="17" name="Image 0" descr="preencoded.png"/>
          <p:cNvPicPr>
            <a:picLocks noChangeAspect="1"/>
          </p:cNvPicPr>
          <p:nvPr/>
        </p:nvPicPr>
        <p:blipFill>
          <a:blip r:embed="rId1"/>
          <a:stretch>
            <a:fillRect/>
          </a:stretch>
        </p:blipFill>
        <p:spPr>
          <a:xfrm>
            <a:off x="1645920" y="2459736"/>
            <a:ext cx="237744" cy="237744"/>
          </a:xfrm>
          <a:prstGeom prst="rect">
            <a:avLst/>
          </a:prstGeom>
        </p:spPr>
      </p:pic>
      <p:sp>
        <p:nvSpPr>
          <p:cNvPr id="18" name="Text 15"/>
          <p:cNvSpPr/>
          <p:nvPr/>
        </p:nvSpPr>
        <p:spPr>
          <a:xfrm>
            <a:off x="2057400" y="2414016"/>
            <a:ext cx="768096" cy="201168"/>
          </a:xfrm>
          <a:prstGeom prst="rect">
            <a:avLst/>
          </a:prstGeom>
          <a:noFill/>
        </p:spPr>
        <p:txBody>
          <a:bodyPr wrap="square" lIns="0" tIns="0" rIns="0" bIns="0" rtlCol="0" anchor="ctr"/>
          <a:lstStyle/>
          <a:p>
            <a:pPr marL="0" indent="0">
              <a:buNone/>
            </a:pPr>
            <a:r>
              <a:rPr lang="en-US" sz="850" b="1" dirty="0">
                <a:solidFill>
                  <a:srgbClr val="0D2137"/>
                </a:solidFill>
              </a:rPr>
              <a:t>WAF</a:t>
            </a:r>
            <a:endParaRPr lang="en-US" sz="850" dirty="0"/>
          </a:p>
        </p:txBody>
      </p:sp>
      <p:sp>
        <p:nvSpPr>
          <p:cNvPr id="19" name="Text 16"/>
          <p:cNvSpPr/>
          <p:nvPr/>
        </p:nvSpPr>
        <p:spPr>
          <a:xfrm>
            <a:off x="2057400" y="2624328"/>
            <a:ext cx="768096" cy="201168"/>
          </a:xfrm>
          <a:prstGeom prst="rect">
            <a:avLst/>
          </a:prstGeom>
          <a:noFill/>
        </p:spPr>
        <p:txBody>
          <a:bodyPr wrap="square" lIns="0" tIns="0" rIns="0" bIns="0" rtlCol="0" anchor="ctr"/>
          <a:lstStyle/>
          <a:p>
            <a:pPr marL="0" indent="0">
              <a:buNone/>
            </a:pPr>
            <a:r>
              <a:rPr lang="en-US" sz="750" dirty="0">
                <a:solidFill>
                  <a:srgbClr val="5A7B96"/>
                </a:solidFill>
              </a:rPr>
              <a:t>Blocks SQLi, XSS</a:t>
            </a:r>
            <a:endParaRPr lang="en-US" sz="750" dirty="0"/>
          </a:p>
        </p:txBody>
      </p:sp>
      <p:sp>
        <p:nvSpPr>
          <p:cNvPr id="20" name="Shape 17"/>
          <p:cNvSpPr/>
          <p:nvPr/>
        </p:nvSpPr>
        <p:spPr>
          <a:xfrm>
            <a:off x="3090672" y="2304288"/>
            <a:ext cx="1481328" cy="822960"/>
          </a:xfrm>
          <a:prstGeom prst="rect">
            <a:avLst/>
          </a:prstGeom>
          <a:solidFill>
            <a:srgbClr val="FFFFFF"/>
          </a:solidFill>
          <a:ln w="6350">
            <a:solidFill>
              <a:srgbClr val="B8D4E8"/>
            </a:solidFill>
            <a:prstDash val="solid"/>
          </a:ln>
          <a:effectLst>
            <a:outerShdw blurRad="63500" dist="12700" dir="8100000" algn="bl" rotWithShape="0">
              <a:srgbClr val="A0BFDA">
                <a:alpha val="18000"/>
              </a:srgbClr>
            </a:outerShdw>
          </a:effectLst>
        </p:spPr>
      </p:sp>
      <p:sp>
        <p:nvSpPr>
          <p:cNvPr id="21" name="Shape 18"/>
          <p:cNvSpPr/>
          <p:nvPr/>
        </p:nvSpPr>
        <p:spPr>
          <a:xfrm>
            <a:off x="3255264" y="2395728"/>
            <a:ext cx="365760" cy="365760"/>
          </a:xfrm>
          <a:prstGeom prst="rect">
            <a:avLst/>
          </a:prstGeom>
          <a:solidFill>
            <a:srgbClr val="1B6CA8"/>
          </a:solidFill>
          <a:ln w="12700">
            <a:solidFill>
              <a:srgbClr val="1B6CA8"/>
            </a:solidFill>
            <a:prstDash val="solid"/>
          </a:ln>
        </p:spPr>
      </p:sp>
      <p:pic>
        <p:nvPicPr>
          <p:cNvPr id="22" name="Image 1" descr="preencoded.png"/>
          <p:cNvPicPr>
            <a:picLocks noChangeAspect="1"/>
          </p:cNvPicPr>
          <p:nvPr/>
        </p:nvPicPr>
        <p:blipFill>
          <a:blip r:embed="rId2"/>
          <a:stretch>
            <a:fillRect/>
          </a:stretch>
        </p:blipFill>
        <p:spPr>
          <a:xfrm>
            <a:off x="3319272" y="2459736"/>
            <a:ext cx="237744" cy="237744"/>
          </a:xfrm>
          <a:prstGeom prst="rect">
            <a:avLst/>
          </a:prstGeom>
        </p:spPr>
      </p:pic>
      <p:sp>
        <p:nvSpPr>
          <p:cNvPr id="23" name="Text 19"/>
          <p:cNvSpPr/>
          <p:nvPr/>
        </p:nvSpPr>
        <p:spPr>
          <a:xfrm>
            <a:off x="3730752" y="2414016"/>
            <a:ext cx="768096" cy="201168"/>
          </a:xfrm>
          <a:prstGeom prst="rect">
            <a:avLst/>
          </a:prstGeom>
          <a:noFill/>
        </p:spPr>
        <p:txBody>
          <a:bodyPr wrap="square" lIns="0" tIns="0" rIns="0" bIns="0" rtlCol="0" anchor="ctr"/>
          <a:lstStyle/>
          <a:p>
            <a:pPr marL="0" indent="0">
              <a:buNone/>
            </a:pPr>
            <a:r>
              <a:rPr lang="en-US" sz="850" b="1" dirty="0">
                <a:solidFill>
                  <a:srgbClr val="0D2137"/>
                </a:solidFill>
              </a:rPr>
              <a:t>Zero Trust</a:t>
            </a:r>
            <a:endParaRPr lang="en-US" sz="850" dirty="0"/>
          </a:p>
        </p:txBody>
      </p:sp>
      <p:sp>
        <p:nvSpPr>
          <p:cNvPr id="24" name="Text 20"/>
          <p:cNvSpPr/>
          <p:nvPr/>
        </p:nvSpPr>
        <p:spPr>
          <a:xfrm>
            <a:off x="3730752" y="2624328"/>
            <a:ext cx="768096" cy="201168"/>
          </a:xfrm>
          <a:prstGeom prst="rect">
            <a:avLst/>
          </a:prstGeom>
          <a:noFill/>
        </p:spPr>
        <p:txBody>
          <a:bodyPr wrap="square" lIns="0" tIns="0" rIns="0" bIns="0" rtlCol="0" anchor="ctr"/>
          <a:lstStyle/>
          <a:p>
            <a:pPr marL="0" indent="0">
              <a:buNone/>
            </a:pPr>
            <a:r>
              <a:rPr lang="en-US" sz="750" dirty="0">
                <a:solidFill>
                  <a:srgbClr val="5A7B96"/>
                </a:solidFill>
              </a:rPr>
              <a:t>MFA + Least Privilege</a:t>
            </a:r>
            <a:endParaRPr lang="en-US" sz="750" dirty="0"/>
          </a:p>
        </p:txBody>
      </p:sp>
      <p:sp>
        <p:nvSpPr>
          <p:cNvPr id="25" name="Shape 21"/>
          <p:cNvSpPr/>
          <p:nvPr/>
        </p:nvSpPr>
        <p:spPr>
          <a:xfrm>
            <a:off x="4754880" y="2304288"/>
            <a:ext cx="1481328" cy="822960"/>
          </a:xfrm>
          <a:prstGeom prst="rect">
            <a:avLst/>
          </a:prstGeom>
          <a:solidFill>
            <a:srgbClr val="FFFFFF"/>
          </a:solidFill>
          <a:ln w="6350">
            <a:solidFill>
              <a:srgbClr val="B8D4E8"/>
            </a:solidFill>
            <a:prstDash val="solid"/>
          </a:ln>
          <a:effectLst>
            <a:outerShdw blurRad="63500" dist="12700" dir="8100000" algn="bl" rotWithShape="0">
              <a:srgbClr val="A0BFDA">
                <a:alpha val="18000"/>
              </a:srgbClr>
            </a:outerShdw>
          </a:effectLst>
        </p:spPr>
      </p:sp>
      <p:sp>
        <p:nvSpPr>
          <p:cNvPr id="26" name="Shape 22"/>
          <p:cNvSpPr/>
          <p:nvPr/>
        </p:nvSpPr>
        <p:spPr>
          <a:xfrm>
            <a:off x="4919472" y="2395728"/>
            <a:ext cx="365760" cy="365760"/>
          </a:xfrm>
          <a:prstGeom prst="rect">
            <a:avLst/>
          </a:prstGeom>
          <a:solidFill>
            <a:srgbClr val="1B6CA8"/>
          </a:solidFill>
          <a:ln w="12700">
            <a:solidFill>
              <a:srgbClr val="1B6CA8"/>
            </a:solidFill>
            <a:prstDash val="solid"/>
          </a:ln>
        </p:spPr>
      </p:sp>
      <p:pic>
        <p:nvPicPr>
          <p:cNvPr id="27" name="Image 2" descr="preencoded.png"/>
          <p:cNvPicPr>
            <a:picLocks noChangeAspect="1"/>
          </p:cNvPicPr>
          <p:nvPr/>
        </p:nvPicPr>
        <p:blipFill>
          <a:blip r:embed="rId3"/>
          <a:stretch>
            <a:fillRect/>
          </a:stretch>
        </p:blipFill>
        <p:spPr>
          <a:xfrm>
            <a:off x="4983480" y="2459736"/>
            <a:ext cx="237744" cy="237744"/>
          </a:xfrm>
          <a:prstGeom prst="rect">
            <a:avLst/>
          </a:prstGeom>
        </p:spPr>
      </p:pic>
      <p:sp>
        <p:nvSpPr>
          <p:cNvPr id="28" name="Text 23"/>
          <p:cNvSpPr/>
          <p:nvPr/>
        </p:nvSpPr>
        <p:spPr>
          <a:xfrm>
            <a:off x="5394960" y="2414016"/>
            <a:ext cx="768096" cy="201168"/>
          </a:xfrm>
          <a:prstGeom prst="rect">
            <a:avLst/>
          </a:prstGeom>
          <a:noFill/>
        </p:spPr>
        <p:txBody>
          <a:bodyPr wrap="square" lIns="0" tIns="0" rIns="0" bIns="0" rtlCol="0" anchor="ctr"/>
          <a:lstStyle/>
          <a:p>
            <a:pPr marL="0" indent="0">
              <a:buNone/>
            </a:pPr>
            <a:r>
              <a:rPr lang="en-US" sz="850" b="1" dirty="0">
                <a:solidFill>
                  <a:srgbClr val="0D2137"/>
                </a:solidFill>
              </a:rPr>
              <a:t>LLM</a:t>
            </a:r>
            <a:endParaRPr lang="en-US" sz="850" dirty="0"/>
          </a:p>
        </p:txBody>
      </p:sp>
      <p:sp>
        <p:nvSpPr>
          <p:cNvPr id="29" name="Text 24"/>
          <p:cNvSpPr/>
          <p:nvPr/>
        </p:nvSpPr>
        <p:spPr>
          <a:xfrm>
            <a:off x="5394960" y="2624328"/>
            <a:ext cx="768096" cy="201168"/>
          </a:xfrm>
          <a:prstGeom prst="rect">
            <a:avLst/>
          </a:prstGeom>
          <a:noFill/>
        </p:spPr>
        <p:txBody>
          <a:bodyPr wrap="square" lIns="0" tIns="0" rIns="0" bIns="0" rtlCol="0" anchor="ctr"/>
          <a:lstStyle/>
          <a:p>
            <a:pPr marL="0" indent="0">
              <a:buNone/>
            </a:pPr>
            <a:r>
              <a:rPr lang="en-US" sz="750" dirty="0">
                <a:solidFill>
                  <a:srgbClr val="5A7B96"/>
                </a:solidFill>
              </a:rPr>
              <a:t>Isolated Sandbox</a:t>
            </a:r>
            <a:endParaRPr lang="en-US" sz="750" dirty="0"/>
          </a:p>
        </p:txBody>
      </p:sp>
      <p:sp>
        <p:nvSpPr>
          <p:cNvPr id="30" name="Shape 25"/>
          <p:cNvSpPr/>
          <p:nvPr/>
        </p:nvSpPr>
        <p:spPr>
          <a:xfrm>
            <a:off x="6400800" y="2304288"/>
            <a:ext cx="1481328" cy="822960"/>
          </a:xfrm>
          <a:prstGeom prst="rect">
            <a:avLst/>
          </a:prstGeom>
          <a:solidFill>
            <a:srgbClr val="FFFFFF"/>
          </a:solidFill>
          <a:ln w="6350">
            <a:solidFill>
              <a:srgbClr val="B8D4E8"/>
            </a:solidFill>
            <a:prstDash val="solid"/>
          </a:ln>
          <a:effectLst>
            <a:outerShdw blurRad="63500" dist="12700" dir="8100000" algn="bl" rotWithShape="0">
              <a:srgbClr val="A0BFDA">
                <a:alpha val="18000"/>
              </a:srgbClr>
            </a:outerShdw>
          </a:effectLst>
        </p:spPr>
      </p:sp>
      <p:sp>
        <p:nvSpPr>
          <p:cNvPr id="31" name="Shape 26"/>
          <p:cNvSpPr/>
          <p:nvPr/>
        </p:nvSpPr>
        <p:spPr>
          <a:xfrm>
            <a:off x="6565392" y="2395728"/>
            <a:ext cx="365760" cy="365760"/>
          </a:xfrm>
          <a:prstGeom prst="rect">
            <a:avLst/>
          </a:prstGeom>
          <a:solidFill>
            <a:srgbClr val="2E7D32"/>
          </a:solidFill>
          <a:ln w="12700">
            <a:solidFill>
              <a:srgbClr val="2E7D32"/>
            </a:solidFill>
            <a:prstDash val="solid"/>
          </a:ln>
        </p:spPr>
      </p:sp>
      <p:pic>
        <p:nvPicPr>
          <p:cNvPr id="32" name="Image 3" descr="preencoded.png"/>
          <p:cNvPicPr>
            <a:picLocks noChangeAspect="1"/>
          </p:cNvPicPr>
          <p:nvPr/>
        </p:nvPicPr>
        <p:blipFill>
          <a:blip r:embed="rId4"/>
          <a:stretch>
            <a:fillRect/>
          </a:stretch>
        </p:blipFill>
        <p:spPr>
          <a:xfrm>
            <a:off x="6629400" y="2459736"/>
            <a:ext cx="237744" cy="237744"/>
          </a:xfrm>
          <a:prstGeom prst="rect">
            <a:avLst/>
          </a:prstGeom>
        </p:spPr>
      </p:pic>
      <p:sp>
        <p:nvSpPr>
          <p:cNvPr id="33" name="Text 27"/>
          <p:cNvSpPr/>
          <p:nvPr/>
        </p:nvSpPr>
        <p:spPr>
          <a:xfrm>
            <a:off x="7040880" y="2414016"/>
            <a:ext cx="768096" cy="201168"/>
          </a:xfrm>
          <a:prstGeom prst="rect">
            <a:avLst/>
          </a:prstGeom>
          <a:noFill/>
        </p:spPr>
        <p:txBody>
          <a:bodyPr wrap="square" lIns="0" tIns="0" rIns="0" bIns="0" rtlCol="0" anchor="ctr"/>
          <a:lstStyle/>
          <a:p>
            <a:pPr marL="0" indent="0">
              <a:buNone/>
            </a:pPr>
            <a:r>
              <a:rPr lang="en-US" sz="850" b="1" dirty="0">
                <a:solidFill>
                  <a:srgbClr val="0D2137"/>
                </a:solidFill>
              </a:rPr>
              <a:t>Database</a:t>
            </a:r>
            <a:endParaRPr lang="en-US" sz="850" dirty="0"/>
          </a:p>
        </p:txBody>
      </p:sp>
      <p:sp>
        <p:nvSpPr>
          <p:cNvPr id="34" name="Text 28"/>
          <p:cNvSpPr/>
          <p:nvPr/>
        </p:nvSpPr>
        <p:spPr>
          <a:xfrm>
            <a:off x="7040880" y="2624328"/>
            <a:ext cx="768096" cy="201168"/>
          </a:xfrm>
          <a:prstGeom prst="rect">
            <a:avLst/>
          </a:prstGeom>
          <a:noFill/>
        </p:spPr>
        <p:txBody>
          <a:bodyPr wrap="square" lIns="0" tIns="0" rIns="0" bIns="0" rtlCol="0" anchor="ctr"/>
          <a:lstStyle/>
          <a:p>
            <a:pPr marL="0" indent="0">
              <a:buNone/>
            </a:pPr>
            <a:r>
              <a:rPr lang="en-US" sz="750" dirty="0">
                <a:solidFill>
                  <a:srgbClr val="5A7B96"/>
                </a:solidFill>
              </a:rPr>
              <a:t>AES-256 Encryption</a:t>
            </a:r>
            <a:endParaRPr lang="en-US" sz="750" dirty="0"/>
          </a:p>
        </p:txBody>
      </p:sp>
      <p:sp>
        <p:nvSpPr>
          <p:cNvPr id="35" name="Shape 29"/>
          <p:cNvSpPr/>
          <p:nvPr/>
        </p:nvSpPr>
        <p:spPr>
          <a:xfrm>
            <a:off x="3584448" y="3328416"/>
            <a:ext cx="1481328" cy="822960"/>
          </a:xfrm>
          <a:prstGeom prst="rect">
            <a:avLst/>
          </a:prstGeom>
          <a:solidFill>
            <a:srgbClr val="FFFFFF"/>
          </a:solidFill>
          <a:ln w="6350">
            <a:solidFill>
              <a:srgbClr val="B8D4E8"/>
            </a:solidFill>
            <a:prstDash val="solid"/>
          </a:ln>
          <a:effectLst>
            <a:outerShdw blurRad="63500" dist="12700" dir="8100000" algn="bl" rotWithShape="0">
              <a:srgbClr val="A0BFDA">
                <a:alpha val="18000"/>
              </a:srgbClr>
            </a:outerShdw>
          </a:effectLst>
        </p:spPr>
      </p:sp>
      <p:sp>
        <p:nvSpPr>
          <p:cNvPr id="36" name="Shape 30"/>
          <p:cNvSpPr/>
          <p:nvPr/>
        </p:nvSpPr>
        <p:spPr>
          <a:xfrm>
            <a:off x="3749040" y="3419856"/>
            <a:ext cx="365760" cy="365760"/>
          </a:xfrm>
          <a:prstGeom prst="rect">
            <a:avLst/>
          </a:prstGeom>
          <a:solidFill>
            <a:srgbClr val="E07B00"/>
          </a:solidFill>
          <a:ln w="12700">
            <a:solidFill>
              <a:srgbClr val="E07B00"/>
            </a:solidFill>
            <a:prstDash val="solid"/>
          </a:ln>
        </p:spPr>
      </p:sp>
      <p:pic>
        <p:nvPicPr>
          <p:cNvPr id="37" name="Image 4" descr="preencoded.png"/>
          <p:cNvPicPr>
            <a:picLocks noChangeAspect="1"/>
          </p:cNvPicPr>
          <p:nvPr/>
        </p:nvPicPr>
        <p:blipFill>
          <a:blip r:embed="rId5"/>
          <a:stretch>
            <a:fillRect/>
          </a:stretch>
        </p:blipFill>
        <p:spPr>
          <a:xfrm>
            <a:off x="3813048" y="3483864"/>
            <a:ext cx="237744" cy="237744"/>
          </a:xfrm>
          <a:prstGeom prst="rect">
            <a:avLst/>
          </a:prstGeom>
        </p:spPr>
      </p:pic>
      <p:sp>
        <p:nvSpPr>
          <p:cNvPr id="38" name="Text 31"/>
          <p:cNvSpPr/>
          <p:nvPr/>
        </p:nvSpPr>
        <p:spPr>
          <a:xfrm>
            <a:off x="4224528" y="3438144"/>
            <a:ext cx="768096" cy="201168"/>
          </a:xfrm>
          <a:prstGeom prst="rect">
            <a:avLst/>
          </a:prstGeom>
          <a:noFill/>
        </p:spPr>
        <p:txBody>
          <a:bodyPr wrap="square" lIns="0" tIns="0" rIns="0" bIns="0" rtlCol="0" anchor="ctr"/>
          <a:lstStyle/>
          <a:p>
            <a:pPr marL="0" indent="0">
              <a:buNone/>
            </a:pPr>
            <a:r>
              <a:rPr lang="en-US" sz="850" b="1" dirty="0">
                <a:solidFill>
                  <a:srgbClr val="0D2137"/>
                </a:solidFill>
              </a:rPr>
              <a:t>SIEM</a:t>
            </a:r>
            <a:endParaRPr lang="en-US" sz="850" dirty="0"/>
          </a:p>
        </p:txBody>
      </p:sp>
      <p:sp>
        <p:nvSpPr>
          <p:cNvPr id="39" name="Text 32"/>
          <p:cNvSpPr/>
          <p:nvPr/>
        </p:nvSpPr>
        <p:spPr>
          <a:xfrm>
            <a:off x="4224528" y="3648456"/>
            <a:ext cx="768096" cy="201168"/>
          </a:xfrm>
          <a:prstGeom prst="rect">
            <a:avLst/>
          </a:prstGeom>
          <a:noFill/>
        </p:spPr>
        <p:txBody>
          <a:bodyPr wrap="square" lIns="0" tIns="0" rIns="0" bIns="0" rtlCol="0" anchor="ctr"/>
          <a:lstStyle/>
          <a:p>
            <a:pPr marL="0" indent="0">
              <a:buNone/>
            </a:pPr>
            <a:r>
              <a:rPr lang="en-US" sz="750" dirty="0">
                <a:solidFill>
                  <a:srgbClr val="5A7B96"/>
                </a:solidFill>
              </a:rPr>
              <a:t>Real-time Alerts</a:t>
            </a:r>
            <a:endParaRPr lang="en-US" sz="750" dirty="0"/>
          </a:p>
        </p:txBody>
      </p:sp>
      <p:sp>
        <p:nvSpPr>
          <p:cNvPr id="40" name="Shape 33"/>
          <p:cNvSpPr/>
          <p:nvPr/>
        </p:nvSpPr>
        <p:spPr>
          <a:xfrm>
            <a:off x="1417320" y="3328416"/>
            <a:ext cx="1481328" cy="822960"/>
          </a:xfrm>
          <a:prstGeom prst="rect">
            <a:avLst/>
          </a:prstGeom>
          <a:solidFill>
            <a:srgbClr val="FFFFFF"/>
          </a:solidFill>
          <a:ln w="6350">
            <a:solidFill>
              <a:srgbClr val="B8D4E8"/>
            </a:solidFill>
            <a:prstDash val="solid"/>
          </a:ln>
          <a:effectLst>
            <a:outerShdw blurRad="63500" dist="12700" dir="8100000" algn="bl" rotWithShape="0">
              <a:srgbClr val="A0BFDA">
                <a:alpha val="18000"/>
              </a:srgbClr>
            </a:outerShdw>
          </a:effectLst>
        </p:spPr>
      </p:sp>
      <p:sp>
        <p:nvSpPr>
          <p:cNvPr id="41" name="Shape 34"/>
          <p:cNvSpPr/>
          <p:nvPr/>
        </p:nvSpPr>
        <p:spPr>
          <a:xfrm>
            <a:off x="1581912" y="3419856"/>
            <a:ext cx="365760" cy="365760"/>
          </a:xfrm>
          <a:prstGeom prst="rect">
            <a:avLst/>
          </a:prstGeom>
          <a:solidFill>
            <a:srgbClr val="0F9B8E"/>
          </a:solidFill>
          <a:ln w="12700">
            <a:solidFill>
              <a:srgbClr val="0F9B8E"/>
            </a:solidFill>
            <a:prstDash val="solid"/>
          </a:ln>
        </p:spPr>
      </p:sp>
      <p:pic>
        <p:nvPicPr>
          <p:cNvPr id="42" name="Image 5" descr="preencoded.png"/>
          <p:cNvPicPr>
            <a:picLocks noChangeAspect="1"/>
          </p:cNvPicPr>
          <p:nvPr/>
        </p:nvPicPr>
        <p:blipFill>
          <a:blip r:embed="rId6"/>
          <a:stretch>
            <a:fillRect/>
          </a:stretch>
        </p:blipFill>
        <p:spPr>
          <a:xfrm>
            <a:off x="1645920" y="3483864"/>
            <a:ext cx="237744" cy="237744"/>
          </a:xfrm>
          <a:prstGeom prst="rect">
            <a:avLst/>
          </a:prstGeom>
        </p:spPr>
      </p:pic>
      <p:sp>
        <p:nvSpPr>
          <p:cNvPr id="43" name="Text 35"/>
          <p:cNvSpPr/>
          <p:nvPr/>
        </p:nvSpPr>
        <p:spPr>
          <a:xfrm>
            <a:off x="2057400" y="3438144"/>
            <a:ext cx="768096" cy="201168"/>
          </a:xfrm>
          <a:prstGeom prst="rect">
            <a:avLst/>
          </a:prstGeom>
          <a:noFill/>
        </p:spPr>
        <p:txBody>
          <a:bodyPr wrap="square" lIns="0" tIns="0" rIns="0" bIns="0" rtlCol="0" anchor="ctr"/>
          <a:lstStyle/>
          <a:p>
            <a:pPr marL="0" indent="0">
              <a:buNone/>
            </a:pPr>
            <a:r>
              <a:rPr lang="en-US" sz="850" b="1" dirty="0">
                <a:solidFill>
                  <a:srgbClr val="0D2137"/>
                </a:solidFill>
              </a:rPr>
              <a:t>TLS 1.3</a:t>
            </a:r>
            <a:endParaRPr lang="en-US" sz="850" dirty="0"/>
          </a:p>
        </p:txBody>
      </p:sp>
      <p:sp>
        <p:nvSpPr>
          <p:cNvPr id="44" name="Text 36"/>
          <p:cNvSpPr/>
          <p:nvPr/>
        </p:nvSpPr>
        <p:spPr>
          <a:xfrm>
            <a:off x="2057400" y="3648456"/>
            <a:ext cx="768096" cy="201168"/>
          </a:xfrm>
          <a:prstGeom prst="rect">
            <a:avLst/>
          </a:prstGeom>
          <a:noFill/>
        </p:spPr>
        <p:txBody>
          <a:bodyPr wrap="square" lIns="0" tIns="0" rIns="0" bIns="0" rtlCol="0" anchor="ctr"/>
          <a:lstStyle/>
          <a:p>
            <a:pPr marL="0" indent="0">
              <a:buNone/>
            </a:pPr>
            <a:r>
              <a:rPr lang="en-US" sz="750" dirty="0">
                <a:solidFill>
                  <a:srgbClr val="5A7B96"/>
                </a:solidFill>
              </a:rPr>
              <a:t>In-Transit Encrypt</a:t>
            </a:r>
            <a:endParaRPr lang="en-US" sz="750" dirty="0"/>
          </a:p>
        </p:txBody>
      </p:sp>
      <p:sp>
        <p:nvSpPr>
          <p:cNvPr id="45" name="Shape 37"/>
          <p:cNvSpPr/>
          <p:nvPr/>
        </p:nvSpPr>
        <p:spPr>
          <a:xfrm>
            <a:off x="320040" y="4645152"/>
            <a:ext cx="8503920" cy="274320"/>
          </a:xfrm>
          <a:prstGeom prst="rect">
            <a:avLst/>
          </a:prstGeom>
          <a:solidFill>
            <a:srgbClr val="EAF4FB"/>
          </a:solidFill>
          <a:ln w="6350">
            <a:solidFill>
              <a:srgbClr val="B8D4E8"/>
            </a:solidFill>
            <a:prstDash val="solid"/>
          </a:ln>
        </p:spPr>
      </p:sp>
      <p:sp>
        <p:nvSpPr>
          <p:cNvPr id="46" name="Text 38"/>
          <p:cNvSpPr/>
          <p:nvPr/>
        </p:nvSpPr>
        <p:spPr>
          <a:xfrm>
            <a:off x="457200" y="4681728"/>
            <a:ext cx="8321040" cy="201168"/>
          </a:xfrm>
          <a:prstGeom prst="rect">
            <a:avLst/>
          </a:prstGeom>
          <a:noFill/>
        </p:spPr>
        <p:txBody>
          <a:bodyPr wrap="square" lIns="0" tIns="0" rIns="0" bIns="0" rtlCol="0" anchor="ctr"/>
          <a:lstStyle/>
          <a:p>
            <a:pPr marL="0" indent="0" algn="ctr">
              <a:buNone/>
            </a:pPr>
            <a:r>
              <a:rPr lang="en-US" sz="820" dirty="0">
                <a:solidFill>
                  <a:srgbClr val="0D2137"/>
                </a:solidFill>
              </a:rPr>
              <a:t>Controls: MFA | Role-Based Access | Audit Logs | Anomaly Detection | Incident Response Playbook | Data Loss Prevention (DLP)</a:t>
            </a:r>
            <a:endParaRPr lang="en-US" sz="8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16  Policy &amp; Procedure</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AI Policy &amp; Incident Response Procedure</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24128"/>
            <a:ext cx="4160520" cy="384048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320040" y="1024128"/>
            <a:ext cx="4160520" cy="347472"/>
          </a:xfrm>
          <a:prstGeom prst="rect">
            <a:avLst/>
          </a:prstGeom>
          <a:solidFill>
            <a:srgbClr val="0D2137"/>
          </a:solidFill>
          <a:ln w="12700">
            <a:solidFill>
              <a:srgbClr val="0D2137"/>
            </a:solidFill>
            <a:prstDash val="solid"/>
          </a:ln>
        </p:spPr>
      </p:sp>
      <p:pic>
        <p:nvPicPr>
          <p:cNvPr id="8" name="Image 0" descr="preencoded.png"/>
          <p:cNvPicPr>
            <a:picLocks noChangeAspect="1"/>
          </p:cNvPicPr>
          <p:nvPr/>
        </p:nvPicPr>
        <p:blipFill>
          <a:blip r:embed="rId1"/>
          <a:stretch>
            <a:fillRect/>
          </a:stretch>
        </p:blipFill>
        <p:spPr>
          <a:xfrm>
            <a:off x="457200" y="1078992"/>
            <a:ext cx="256032" cy="256032"/>
          </a:xfrm>
          <a:prstGeom prst="rect">
            <a:avLst/>
          </a:prstGeom>
        </p:spPr>
      </p:pic>
      <p:sp>
        <p:nvSpPr>
          <p:cNvPr id="9" name="Text 6"/>
          <p:cNvSpPr/>
          <p:nvPr/>
        </p:nvSpPr>
        <p:spPr>
          <a:xfrm>
            <a:off x="749808" y="1078992"/>
            <a:ext cx="3611880" cy="256032"/>
          </a:xfrm>
          <a:prstGeom prst="rect">
            <a:avLst/>
          </a:prstGeom>
          <a:noFill/>
        </p:spPr>
        <p:txBody>
          <a:bodyPr wrap="square" lIns="0" tIns="0" rIns="0" bIns="0" rtlCol="0" anchor="ctr"/>
          <a:lstStyle/>
          <a:p>
            <a:pPr marL="0" indent="0" algn="l">
              <a:buNone/>
            </a:pPr>
            <a:r>
              <a:rPr lang="en-US" sz="1000" b="1" dirty="0">
                <a:solidFill>
                  <a:srgbClr val="FFFFFF"/>
                </a:solidFill>
              </a:rPr>
              <a:t>AI Acceptable Use Policy (AUP)</a:t>
            </a:r>
            <a:endParaRPr lang="en-US" sz="1000" dirty="0"/>
          </a:p>
        </p:txBody>
      </p:sp>
      <p:sp>
        <p:nvSpPr>
          <p:cNvPr id="10" name="Text 7"/>
          <p:cNvSpPr/>
          <p:nvPr/>
        </p:nvSpPr>
        <p:spPr>
          <a:xfrm>
            <a:off x="475488" y="1481328"/>
            <a:ext cx="914400" cy="237744"/>
          </a:xfrm>
          <a:prstGeom prst="rect">
            <a:avLst/>
          </a:prstGeom>
          <a:noFill/>
        </p:spPr>
        <p:txBody>
          <a:bodyPr wrap="square" lIns="0" tIns="0" rIns="0" bIns="0" rtlCol="0" anchor="ctr"/>
          <a:lstStyle/>
          <a:p>
            <a:pPr marL="0" indent="0">
              <a:buNone/>
            </a:pPr>
            <a:r>
              <a:rPr lang="en-US" sz="850" b="1" dirty="0">
                <a:solidFill>
                  <a:srgbClr val="0D2137"/>
                </a:solidFill>
              </a:rPr>
              <a:t>Scope:</a:t>
            </a:r>
            <a:endParaRPr lang="en-US" sz="850" dirty="0"/>
          </a:p>
        </p:txBody>
      </p:sp>
      <p:sp>
        <p:nvSpPr>
          <p:cNvPr id="11" name="Text 8"/>
          <p:cNvSpPr/>
          <p:nvPr/>
        </p:nvSpPr>
        <p:spPr>
          <a:xfrm>
            <a:off x="1417320" y="1481328"/>
            <a:ext cx="2926080" cy="237744"/>
          </a:xfrm>
          <a:prstGeom prst="rect">
            <a:avLst/>
          </a:prstGeom>
          <a:noFill/>
        </p:spPr>
        <p:txBody>
          <a:bodyPr wrap="square" lIns="0" tIns="0" rIns="0" bIns="0" rtlCol="0" anchor="ctr"/>
          <a:lstStyle/>
          <a:p>
            <a:pPr marL="0" indent="0">
              <a:buNone/>
            </a:pPr>
            <a:r>
              <a:rPr lang="en-US" sz="850" dirty="0">
                <a:solidFill>
                  <a:srgbClr val="1A2B3C"/>
                </a:solidFill>
              </a:rPr>
              <a:t>Applies to all employees and vendors using the AI chatbot system.</a:t>
            </a:r>
            <a:endParaRPr lang="en-US" sz="850" dirty="0"/>
          </a:p>
        </p:txBody>
      </p:sp>
      <p:sp>
        <p:nvSpPr>
          <p:cNvPr id="12" name="Text 9"/>
          <p:cNvSpPr/>
          <p:nvPr/>
        </p:nvSpPr>
        <p:spPr>
          <a:xfrm>
            <a:off x="475488" y="2011680"/>
            <a:ext cx="914400" cy="237744"/>
          </a:xfrm>
          <a:prstGeom prst="rect">
            <a:avLst/>
          </a:prstGeom>
          <a:noFill/>
        </p:spPr>
        <p:txBody>
          <a:bodyPr wrap="square" lIns="0" tIns="0" rIns="0" bIns="0" rtlCol="0" anchor="ctr"/>
          <a:lstStyle/>
          <a:p>
            <a:pPr marL="0" indent="0">
              <a:buNone/>
            </a:pPr>
            <a:r>
              <a:rPr lang="en-US" sz="850" b="1" dirty="0">
                <a:solidFill>
                  <a:srgbClr val="0D2137"/>
                </a:solidFill>
              </a:rPr>
              <a:t>Permitted Use:</a:t>
            </a:r>
            <a:endParaRPr lang="en-US" sz="850" dirty="0"/>
          </a:p>
        </p:txBody>
      </p:sp>
      <p:sp>
        <p:nvSpPr>
          <p:cNvPr id="13" name="Text 10"/>
          <p:cNvSpPr/>
          <p:nvPr/>
        </p:nvSpPr>
        <p:spPr>
          <a:xfrm>
            <a:off x="1417320" y="2011680"/>
            <a:ext cx="2926080" cy="237744"/>
          </a:xfrm>
          <a:prstGeom prst="rect">
            <a:avLst/>
          </a:prstGeom>
          <a:noFill/>
        </p:spPr>
        <p:txBody>
          <a:bodyPr wrap="square" lIns="0" tIns="0" rIns="0" bIns="0" rtlCol="0" anchor="ctr"/>
          <a:lstStyle/>
          <a:p>
            <a:pPr marL="0" indent="0">
              <a:buNone/>
            </a:pPr>
            <a:r>
              <a:rPr lang="en-US" sz="850" dirty="0">
                <a:solidFill>
                  <a:srgbClr val="1A2B3C"/>
                </a:solidFill>
              </a:rPr>
              <a:t>Customer queries, support automation, internal FAQs only.</a:t>
            </a:r>
            <a:endParaRPr lang="en-US" sz="850" dirty="0"/>
          </a:p>
        </p:txBody>
      </p:sp>
      <p:sp>
        <p:nvSpPr>
          <p:cNvPr id="14" name="Text 11"/>
          <p:cNvSpPr/>
          <p:nvPr/>
        </p:nvSpPr>
        <p:spPr>
          <a:xfrm>
            <a:off x="475488" y="2542032"/>
            <a:ext cx="914400" cy="237744"/>
          </a:xfrm>
          <a:prstGeom prst="rect">
            <a:avLst/>
          </a:prstGeom>
          <a:noFill/>
        </p:spPr>
        <p:txBody>
          <a:bodyPr wrap="square" lIns="0" tIns="0" rIns="0" bIns="0" rtlCol="0" anchor="ctr"/>
          <a:lstStyle/>
          <a:p>
            <a:pPr marL="0" indent="0">
              <a:buNone/>
            </a:pPr>
            <a:r>
              <a:rPr lang="en-US" sz="850" b="1" dirty="0">
                <a:solidFill>
                  <a:srgbClr val="0D2137"/>
                </a:solidFill>
              </a:rPr>
              <a:t>Prohibited Use:</a:t>
            </a:r>
            <a:endParaRPr lang="en-US" sz="850" dirty="0"/>
          </a:p>
        </p:txBody>
      </p:sp>
      <p:sp>
        <p:nvSpPr>
          <p:cNvPr id="15" name="Text 12"/>
          <p:cNvSpPr/>
          <p:nvPr/>
        </p:nvSpPr>
        <p:spPr>
          <a:xfrm>
            <a:off x="1417320" y="2542032"/>
            <a:ext cx="2926080" cy="237744"/>
          </a:xfrm>
          <a:prstGeom prst="rect">
            <a:avLst/>
          </a:prstGeom>
          <a:noFill/>
        </p:spPr>
        <p:txBody>
          <a:bodyPr wrap="square" lIns="0" tIns="0" rIns="0" bIns="0" rtlCol="0" anchor="ctr"/>
          <a:lstStyle/>
          <a:p>
            <a:pPr marL="0" indent="0">
              <a:buNone/>
            </a:pPr>
            <a:r>
              <a:rPr lang="en-US" sz="850" dirty="0">
                <a:solidFill>
                  <a:srgbClr val="1A2B3C"/>
                </a:solidFill>
              </a:rPr>
              <a:t>No processing of sensitive PII without explicit consent. No jailbreak attempts.</a:t>
            </a:r>
            <a:endParaRPr lang="en-US" sz="850" dirty="0"/>
          </a:p>
        </p:txBody>
      </p:sp>
      <p:sp>
        <p:nvSpPr>
          <p:cNvPr id="16" name="Text 13"/>
          <p:cNvSpPr/>
          <p:nvPr/>
        </p:nvSpPr>
        <p:spPr>
          <a:xfrm>
            <a:off x="475488" y="3072384"/>
            <a:ext cx="914400" cy="237744"/>
          </a:xfrm>
          <a:prstGeom prst="rect">
            <a:avLst/>
          </a:prstGeom>
          <a:noFill/>
        </p:spPr>
        <p:txBody>
          <a:bodyPr wrap="square" lIns="0" tIns="0" rIns="0" bIns="0" rtlCol="0" anchor="ctr"/>
          <a:lstStyle/>
          <a:p>
            <a:pPr marL="0" indent="0">
              <a:buNone/>
            </a:pPr>
            <a:r>
              <a:rPr lang="en-US" sz="850" b="1" dirty="0">
                <a:solidFill>
                  <a:srgbClr val="0D2137"/>
                </a:solidFill>
              </a:rPr>
              <a:t>Data Privacy:</a:t>
            </a:r>
            <a:endParaRPr lang="en-US" sz="850" dirty="0"/>
          </a:p>
        </p:txBody>
      </p:sp>
      <p:sp>
        <p:nvSpPr>
          <p:cNvPr id="17" name="Text 14"/>
          <p:cNvSpPr/>
          <p:nvPr/>
        </p:nvSpPr>
        <p:spPr>
          <a:xfrm>
            <a:off x="1417320" y="3072384"/>
            <a:ext cx="2926080" cy="237744"/>
          </a:xfrm>
          <a:prstGeom prst="rect">
            <a:avLst/>
          </a:prstGeom>
          <a:noFill/>
        </p:spPr>
        <p:txBody>
          <a:bodyPr wrap="square" lIns="0" tIns="0" rIns="0" bIns="0" rtlCol="0" anchor="ctr"/>
          <a:lstStyle/>
          <a:p>
            <a:pPr marL="0" indent="0">
              <a:buNone/>
            </a:pPr>
            <a:r>
              <a:rPr lang="en-US" sz="850" dirty="0">
                <a:solidFill>
                  <a:srgbClr val="1A2B3C"/>
                </a:solidFill>
              </a:rPr>
              <a:t>All customer data encrypted in transit (TLS) and at rest (AES-256). Retained 90 days max.</a:t>
            </a:r>
            <a:endParaRPr lang="en-US" sz="850" dirty="0"/>
          </a:p>
        </p:txBody>
      </p:sp>
      <p:sp>
        <p:nvSpPr>
          <p:cNvPr id="18" name="Text 15"/>
          <p:cNvSpPr/>
          <p:nvPr/>
        </p:nvSpPr>
        <p:spPr>
          <a:xfrm>
            <a:off x="475488" y="3602736"/>
            <a:ext cx="914400" cy="237744"/>
          </a:xfrm>
          <a:prstGeom prst="rect">
            <a:avLst/>
          </a:prstGeom>
          <a:noFill/>
        </p:spPr>
        <p:txBody>
          <a:bodyPr wrap="square" lIns="0" tIns="0" rIns="0" bIns="0" rtlCol="0" anchor="ctr"/>
          <a:lstStyle/>
          <a:p>
            <a:pPr marL="0" indent="0">
              <a:buNone/>
            </a:pPr>
            <a:r>
              <a:rPr lang="en-US" sz="850" b="1" dirty="0">
                <a:solidFill>
                  <a:srgbClr val="0D2137"/>
                </a:solidFill>
              </a:rPr>
              <a:t>Accountability:</a:t>
            </a:r>
            <a:endParaRPr lang="en-US" sz="850" dirty="0"/>
          </a:p>
        </p:txBody>
      </p:sp>
      <p:sp>
        <p:nvSpPr>
          <p:cNvPr id="19" name="Text 16"/>
          <p:cNvSpPr/>
          <p:nvPr/>
        </p:nvSpPr>
        <p:spPr>
          <a:xfrm>
            <a:off x="1417320" y="3602736"/>
            <a:ext cx="2926080" cy="237744"/>
          </a:xfrm>
          <a:prstGeom prst="rect">
            <a:avLst/>
          </a:prstGeom>
          <a:noFill/>
        </p:spPr>
        <p:txBody>
          <a:bodyPr wrap="square" lIns="0" tIns="0" rIns="0" bIns="0" rtlCol="0" anchor="ctr"/>
          <a:lstStyle/>
          <a:p>
            <a:pPr marL="0" indent="0">
              <a:buNone/>
            </a:pPr>
            <a:r>
              <a:rPr lang="en-US" sz="850" dirty="0">
                <a:solidFill>
                  <a:srgbClr val="1A2B3C"/>
                </a:solidFill>
              </a:rPr>
              <a:t>AI System Owner (IT Director) responsible for all chatbot decisions and failures.</a:t>
            </a:r>
            <a:endParaRPr lang="en-US" sz="850" dirty="0"/>
          </a:p>
        </p:txBody>
      </p:sp>
      <p:sp>
        <p:nvSpPr>
          <p:cNvPr id="20" name="Text 17"/>
          <p:cNvSpPr/>
          <p:nvPr/>
        </p:nvSpPr>
        <p:spPr>
          <a:xfrm>
            <a:off x="475488" y="4133088"/>
            <a:ext cx="914400" cy="237744"/>
          </a:xfrm>
          <a:prstGeom prst="rect">
            <a:avLst/>
          </a:prstGeom>
          <a:noFill/>
        </p:spPr>
        <p:txBody>
          <a:bodyPr wrap="square" lIns="0" tIns="0" rIns="0" bIns="0" rtlCol="0" anchor="ctr"/>
          <a:lstStyle/>
          <a:p>
            <a:pPr marL="0" indent="0">
              <a:buNone/>
            </a:pPr>
            <a:r>
              <a:rPr lang="en-US" sz="850" b="1" dirty="0">
                <a:solidFill>
                  <a:srgbClr val="0D2137"/>
                </a:solidFill>
              </a:rPr>
              <a:t>Review Cycle:</a:t>
            </a:r>
            <a:endParaRPr lang="en-US" sz="850" dirty="0"/>
          </a:p>
        </p:txBody>
      </p:sp>
      <p:sp>
        <p:nvSpPr>
          <p:cNvPr id="21" name="Text 18"/>
          <p:cNvSpPr/>
          <p:nvPr/>
        </p:nvSpPr>
        <p:spPr>
          <a:xfrm>
            <a:off x="1417320" y="4133088"/>
            <a:ext cx="2926080" cy="237744"/>
          </a:xfrm>
          <a:prstGeom prst="rect">
            <a:avLst/>
          </a:prstGeom>
          <a:noFill/>
        </p:spPr>
        <p:txBody>
          <a:bodyPr wrap="square" lIns="0" tIns="0" rIns="0" bIns="0" rtlCol="0" anchor="ctr"/>
          <a:lstStyle/>
          <a:p>
            <a:pPr marL="0" indent="0">
              <a:buNone/>
            </a:pPr>
            <a:r>
              <a:rPr lang="en-US" sz="850" dirty="0">
                <a:solidFill>
                  <a:srgbClr val="1A2B3C"/>
                </a:solidFill>
              </a:rPr>
              <a:t>Policy reviewed every 6 months or after any security incident.</a:t>
            </a:r>
            <a:endParaRPr lang="en-US" sz="850" dirty="0"/>
          </a:p>
        </p:txBody>
      </p:sp>
      <p:sp>
        <p:nvSpPr>
          <p:cNvPr id="22" name="Shape 19"/>
          <p:cNvSpPr/>
          <p:nvPr/>
        </p:nvSpPr>
        <p:spPr>
          <a:xfrm>
            <a:off x="4663440" y="1024128"/>
            <a:ext cx="4160520" cy="3840480"/>
          </a:xfrm>
          <a:prstGeom prst="rect">
            <a:avLst/>
          </a:prstGeom>
          <a:solidFill>
            <a:srgbClr val="FFF8E1"/>
          </a:solidFill>
          <a:ln w="6350">
            <a:solidFill>
              <a:srgbClr val="B8D4E8"/>
            </a:solidFill>
            <a:prstDash val="solid"/>
          </a:ln>
          <a:effectLst>
            <a:outerShdw blurRad="63500" dist="12700" dir="8100000" algn="bl" rotWithShape="0">
              <a:srgbClr val="A0BFDA">
                <a:alpha val="18000"/>
              </a:srgbClr>
            </a:outerShdw>
          </a:effectLst>
        </p:spPr>
      </p:sp>
      <p:sp>
        <p:nvSpPr>
          <p:cNvPr id="23" name="Shape 20"/>
          <p:cNvSpPr/>
          <p:nvPr/>
        </p:nvSpPr>
        <p:spPr>
          <a:xfrm>
            <a:off x="4663440" y="1024128"/>
            <a:ext cx="4160520" cy="347472"/>
          </a:xfrm>
          <a:prstGeom prst="rect">
            <a:avLst/>
          </a:prstGeom>
          <a:solidFill>
            <a:srgbClr val="D94F3D"/>
          </a:solidFill>
          <a:ln w="12700">
            <a:solidFill>
              <a:srgbClr val="D94F3D"/>
            </a:solidFill>
            <a:prstDash val="solid"/>
          </a:ln>
        </p:spPr>
      </p:sp>
      <p:pic>
        <p:nvPicPr>
          <p:cNvPr id="24" name="Image 1" descr="preencoded.png"/>
          <p:cNvPicPr>
            <a:picLocks noChangeAspect="1"/>
          </p:cNvPicPr>
          <p:nvPr/>
        </p:nvPicPr>
        <p:blipFill>
          <a:blip r:embed="rId2"/>
          <a:stretch>
            <a:fillRect/>
          </a:stretch>
        </p:blipFill>
        <p:spPr>
          <a:xfrm>
            <a:off x="4809744" y="1078992"/>
            <a:ext cx="256032" cy="256032"/>
          </a:xfrm>
          <a:prstGeom prst="rect">
            <a:avLst/>
          </a:prstGeom>
        </p:spPr>
      </p:pic>
      <p:sp>
        <p:nvSpPr>
          <p:cNvPr id="25" name="Text 21"/>
          <p:cNvSpPr/>
          <p:nvPr/>
        </p:nvSpPr>
        <p:spPr>
          <a:xfrm>
            <a:off x="5102352" y="1078992"/>
            <a:ext cx="3611880" cy="256032"/>
          </a:xfrm>
          <a:prstGeom prst="rect">
            <a:avLst/>
          </a:prstGeom>
          <a:noFill/>
        </p:spPr>
        <p:txBody>
          <a:bodyPr wrap="square" lIns="0" tIns="0" rIns="0" bIns="0" rtlCol="0" anchor="ctr"/>
          <a:lstStyle/>
          <a:p>
            <a:pPr marL="0" indent="0" algn="l">
              <a:buNone/>
            </a:pPr>
            <a:r>
              <a:rPr lang="en-US" sz="1000" b="1" dirty="0">
                <a:solidFill>
                  <a:srgbClr val="FFFFFF"/>
                </a:solidFill>
              </a:rPr>
              <a:t>Prompt Injection — Incident Response</a:t>
            </a:r>
            <a:endParaRPr lang="en-US" sz="1000" dirty="0"/>
          </a:p>
        </p:txBody>
      </p:sp>
      <p:sp>
        <p:nvSpPr>
          <p:cNvPr id="26" name="Shape 22"/>
          <p:cNvSpPr/>
          <p:nvPr/>
        </p:nvSpPr>
        <p:spPr>
          <a:xfrm>
            <a:off x="4736592" y="1517904"/>
            <a:ext cx="219456" cy="219456"/>
          </a:xfrm>
          <a:prstGeom prst="rect">
            <a:avLst/>
          </a:prstGeom>
          <a:solidFill>
            <a:srgbClr val="D94F3D"/>
          </a:solidFill>
          <a:ln w="12700">
            <a:solidFill>
              <a:srgbClr val="D94F3D"/>
            </a:solidFill>
            <a:prstDash val="solid"/>
          </a:ln>
        </p:spPr>
      </p:sp>
      <p:sp>
        <p:nvSpPr>
          <p:cNvPr id="27" name="Text 23"/>
          <p:cNvSpPr/>
          <p:nvPr/>
        </p:nvSpPr>
        <p:spPr>
          <a:xfrm>
            <a:off x="4736592" y="1517904"/>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28" name="Text 24"/>
          <p:cNvSpPr/>
          <p:nvPr/>
        </p:nvSpPr>
        <p:spPr>
          <a:xfrm>
            <a:off x="5010912" y="1481328"/>
            <a:ext cx="3675888" cy="411480"/>
          </a:xfrm>
          <a:prstGeom prst="rect">
            <a:avLst/>
          </a:prstGeom>
          <a:noFill/>
        </p:spPr>
        <p:txBody>
          <a:bodyPr wrap="square" lIns="0" tIns="0" rIns="0" bIns="0" rtlCol="0" anchor="t"/>
          <a:lstStyle/>
          <a:p>
            <a:pPr marL="0" indent="0" algn="l">
              <a:buNone/>
            </a:pPr>
            <a:r>
              <a:rPr lang="en-US" sz="850" dirty="0">
                <a:solidFill>
                  <a:srgbClr val="1A2B3C"/>
                </a:solidFill>
              </a:rPr>
              <a:t>Detect: SIEM alert fires on anomalous prompt pattern.</a:t>
            </a:r>
            <a:endParaRPr lang="en-US" sz="850" dirty="0"/>
          </a:p>
        </p:txBody>
      </p:sp>
      <p:sp>
        <p:nvSpPr>
          <p:cNvPr id="29" name="Shape 25"/>
          <p:cNvSpPr/>
          <p:nvPr/>
        </p:nvSpPr>
        <p:spPr>
          <a:xfrm>
            <a:off x="4736592" y="1993392"/>
            <a:ext cx="219456" cy="219456"/>
          </a:xfrm>
          <a:prstGeom prst="rect">
            <a:avLst/>
          </a:prstGeom>
          <a:solidFill>
            <a:srgbClr val="D94F3D"/>
          </a:solidFill>
          <a:ln w="12700">
            <a:solidFill>
              <a:srgbClr val="D94F3D"/>
            </a:solidFill>
            <a:prstDash val="solid"/>
          </a:ln>
        </p:spPr>
      </p:sp>
      <p:sp>
        <p:nvSpPr>
          <p:cNvPr id="30" name="Text 26"/>
          <p:cNvSpPr/>
          <p:nvPr/>
        </p:nvSpPr>
        <p:spPr>
          <a:xfrm>
            <a:off x="4736592" y="1993392"/>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31" name="Text 27"/>
          <p:cNvSpPr/>
          <p:nvPr/>
        </p:nvSpPr>
        <p:spPr>
          <a:xfrm>
            <a:off x="5010912" y="1956816"/>
            <a:ext cx="3675888" cy="411480"/>
          </a:xfrm>
          <a:prstGeom prst="rect">
            <a:avLst/>
          </a:prstGeom>
          <a:noFill/>
        </p:spPr>
        <p:txBody>
          <a:bodyPr wrap="square" lIns="0" tIns="0" rIns="0" bIns="0" rtlCol="0" anchor="t"/>
          <a:lstStyle/>
          <a:p>
            <a:pPr marL="0" indent="0" algn="l">
              <a:buNone/>
            </a:pPr>
            <a:r>
              <a:rPr lang="en-US" sz="850" dirty="0">
                <a:solidFill>
                  <a:srgbClr val="1A2B3C"/>
                </a:solidFill>
              </a:rPr>
              <a:t>Contain: API Gateway blocks the session token immediately.</a:t>
            </a:r>
            <a:endParaRPr lang="en-US" sz="850" dirty="0"/>
          </a:p>
        </p:txBody>
      </p:sp>
      <p:sp>
        <p:nvSpPr>
          <p:cNvPr id="32" name="Shape 28"/>
          <p:cNvSpPr/>
          <p:nvPr/>
        </p:nvSpPr>
        <p:spPr>
          <a:xfrm>
            <a:off x="4736592" y="2468880"/>
            <a:ext cx="219456" cy="219456"/>
          </a:xfrm>
          <a:prstGeom prst="rect">
            <a:avLst/>
          </a:prstGeom>
          <a:solidFill>
            <a:srgbClr val="D94F3D"/>
          </a:solidFill>
          <a:ln w="12700">
            <a:solidFill>
              <a:srgbClr val="D94F3D"/>
            </a:solidFill>
            <a:prstDash val="solid"/>
          </a:ln>
        </p:spPr>
      </p:sp>
      <p:sp>
        <p:nvSpPr>
          <p:cNvPr id="33" name="Text 29"/>
          <p:cNvSpPr/>
          <p:nvPr/>
        </p:nvSpPr>
        <p:spPr>
          <a:xfrm>
            <a:off x="4736592" y="2468880"/>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34" name="Text 30"/>
          <p:cNvSpPr/>
          <p:nvPr/>
        </p:nvSpPr>
        <p:spPr>
          <a:xfrm>
            <a:off x="5010912" y="2432304"/>
            <a:ext cx="3675888" cy="411480"/>
          </a:xfrm>
          <a:prstGeom prst="rect">
            <a:avLst/>
          </a:prstGeom>
          <a:noFill/>
        </p:spPr>
        <p:txBody>
          <a:bodyPr wrap="square" lIns="0" tIns="0" rIns="0" bIns="0" rtlCol="0" anchor="t"/>
          <a:lstStyle/>
          <a:p>
            <a:pPr marL="0" indent="0" algn="l">
              <a:buNone/>
            </a:pPr>
            <a:r>
              <a:rPr lang="en-US" sz="850" dirty="0">
                <a:solidFill>
                  <a:srgbClr val="1A2B3C"/>
                </a:solidFill>
              </a:rPr>
              <a:t>Log: All request data captured to audit log with timestamp.</a:t>
            </a:r>
            <a:endParaRPr lang="en-US" sz="850" dirty="0"/>
          </a:p>
        </p:txBody>
      </p:sp>
      <p:sp>
        <p:nvSpPr>
          <p:cNvPr id="35" name="Shape 31"/>
          <p:cNvSpPr/>
          <p:nvPr/>
        </p:nvSpPr>
        <p:spPr>
          <a:xfrm>
            <a:off x="4736592" y="2944368"/>
            <a:ext cx="219456" cy="219456"/>
          </a:xfrm>
          <a:prstGeom prst="rect">
            <a:avLst/>
          </a:prstGeom>
          <a:solidFill>
            <a:srgbClr val="D94F3D"/>
          </a:solidFill>
          <a:ln w="12700">
            <a:solidFill>
              <a:srgbClr val="D94F3D"/>
            </a:solidFill>
            <a:prstDash val="solid"/>
          </a:ln>
        </p:spPr>
      </p:sp>
      <p:sp>
        <p:nvSpPr>
          <p:cNvPr id="36" name="Text 32"/>
          <p:cNvSpPr/>
          <p:nvPr/>
        </p:nvSpPr>
        <p:spPr>
          <a:xfrm>
            <a:off x="4736592" y="2944368"/>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4</a:t>
            </a:r>
            <a:endParaRPr lang="en-US" sz="750" dirty="0"/>
          </a:p>
        </p:txBody>
      </p:sp>
      <p:sp>
        <p:nvSpPr>
          <p:cNvPr id="37" name="Text 33"/>
          <p:cNvSpPr/>
          <p:nvPr/>
        </p:nvSpPr>
        <p:spPr>
          <a:xfrm>
            <a:off x="5010912" y="2907792"/>
            <a:ext cx="3675888" cy="411480"/>
          </a:xfrm>
          <a:prstGeom prst="rect">
            <a:avLst/>
          </a:prstGeom>
          <a:noFill/>
        </p:spPr>
        <p:txBody>
          <a:bodyPr wrap="square" lIns="0" tIns="0" rIns="0" bIns="0" rtlCol="0" anchor="t"/>
          <a:lstStyle/>
          <a:p>
            <a:pPr marL="0" indent="0" algn="l">
              <a:buNone/>
            </a:pPr>
            <a:r>
              <a:rPr lang="en-US" sz="850" dirty="0">
                <a:solidFill>
                  <a:srgbClr val="1A2B3C"/>
                </a:solidFill>
              </a:rPr>
              <a:t>Analyse: Security team reviews prompt and determines attack scope.</a:t>
            </a:r>
            <a:endParaRPr lang="en-US" sz="850" dirty="0"/>
          </a:p>
        </p:txBody>
      </p:sp>
      <p:sp>
        <p:nvSpPr>
          <p:cNvPr id="38" name="Shape 34"/>
          <p:cNvSpPr/>
          <p:nvPr/>
        </p:nvSpPr>
        <p:spPr>
          <a:xfrm>
            <a:off x="4736592" y="3419856"/>
            <a:ext cx="219456" cy="219456"/>
          </a:xfrm>
          <a:prstGeom prst="rect">
            <a:avLst/>
          </a:prstGeom>
          <a:solidFill>
            <a:srgbClr val="D94F3D"/>
          </a:solidFill>
          <a:ln w="12700">
            <a:solidFill>
              <a:srgbClr val="D94F3D"/>
            </a:solidFill>
            <a:prstDash val="solid"/>
          </a:ln>
        </p:spPr>
      </p:sp>
      <p:sp>
        <p:nvSpPr>
          <p:cNvPr id="39" name="Text 35"/>
          <p:cNvSpPr/>
          <p:nvPr/>
        </p:nvSpPr>
        <p:spPr>
          <a:xfrm>
            <a:off x="4736592" y="3419856"/>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5</a:t>
            </a:r>
            <a:endParaRPr lang="en-US" sz="750" dirty="0"/>
          </a:p>
        </p:txBody>
      </p:sp>
      <p:sp>
        <p:nvSpPr>
          <p:cNvPr id="40" name="Text 36"/>
          <p:cNvSpPr/>
          <p:nvPr/>
        </p:nvSpPr>
        <p:spPr>
          <a:xfrm>
            <a:off x="5010912" y="3383280"/>
            <a:ext cx="3675888" cy="411480"/>
          </a:xfrm>
          <a:prstGeom prst="rect">
            <a:avLst/>
          </a:prstGeom>
          <a:noFill/>
        </p:spPr>
        <p:txBody>
          <a:bodyPr wrap="square" lIns="0" tIns="0" rIns="0" bIns="0" rtlCol="0" anchor="t"/>
          <a:lstStyle/>
          <a:p>
            <a:pPr marL="0" indent="0" algn="l">
              <a:buNone/>
            </a:pPr>
            <a:r>
              <a:rPr lang="en-US" sz="850" dirty="0">
                <a:solidFill>
                  <a:srgbClr val="1A2B3C"/>
                </a:solidFill>
              </a:rPr>
              <a:t>Remediate: Apply input sanitisation patch; update WAF rules.</a:t>
            </a:r>
            <a:endParaRPr lang="en-US" sz="850" dirty="0"/>
          </a:p>
        </p:txBody>
      </p:sp>
      <p:sp>
        <p:nvSpPr>
          <p:cNvPr id="41" name="Shape 37"/>
          <p:cNvSpPr/>
          <p:nvPr/>
        </p:nvSpPr>
        <p:spPr>
          <a:xfrm>
            <a:off x="4736592" y="3895344"/>
            <a:ext cx="219456" cy="219456"/>
          </a:xfrm>
          <a:prstGeom prst="rect">
            <a:avLst/>
          </a:prstGeom>
          <a:solidFill>
            <a:srgbClr val="D94F3D"/>
          </a:solidFill>
          <a:ln w="12700">
            <a:solidFill>
              <a:srgbClr val="D94F3D"/>
            </a:solidFill>
            <a:prstDash val="solid"/>
          </a:ln>
        </p:spPr>
      </p:sp>
      <p:sp>
        <p:nvSpPr>
          <p:cNvPr id="42" name="Text 38"/>
          <p:cNvSpPr/>
          <p:nvPr/>
        </p:nvSpPr>
        <p:spPr>
          <a:xfrm>
            <a:off x="4736592" y="3895344"/>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6</a:t>
            </a:r>
            <a:endParaRPr lang="en-US" sz="750" dirty="0"/>
          </a:p>
        </p:txBody>
      </p:sp>
      <p:sp>
        <p:nvSpPr>
          <p:cNvPr id="43" name="Text 39"/>
          <p:cNvSpPr/>
          <p:nvPr/>
        </p:nvSpPr>
        <p:spPr>
          <a:xfrm>
            <a:off x="5010912" y="3858768"/>
            <a:ext cx="3675888" cy="411480"/>
          </a:xfrm>
          <a:prstGeom prst="rect">
            <a:avLst/>
          </a:prstGeom>
          <a:noFill/>
        </p:spPr>
        <p:txBody>
          <a:bodyPr wrap="square" lIns="0" tIns="0" rIns="0" bIns="0" rtlCol="0" anchor="t"/>
          <a:lstStyle/>
          <a:p>
            <a:pPr marL="0" indent="0" algn="l">
              <a:buNone/>
            </a:pPr>
            <a:r>
              <a:rPr lang="en-US" sz="850" dirty="0">
                <a:solidFill>
                  <a:srgbClr val="1A2B3C"/>
                </a:solidFill>
              </a:rPr>
              <a:t>Notify: Inform affected users per GDPR 72-hour requirement.</a:t>
            </a:r>
            <a:endParaRPr lang="en-US" sz="850" dirty="0"/>
          </a:p>
        </p:txBody>
      </p:sp>
      <p:sp>
        <p:nvSpPr>
          <p:cNvPr id="44" name="Shape 40"/>
          <p:cNvSpPr/>
          <p:nvPr/>
        </p:nvSpPr>
        <p:spPr>
          <a:xfrm>
            <a:off x="4736592" y="4370832"/>
            <a:ext cx="219456" cy="219456"/>
          </a:xfrm>
          <a:prstGeom prst="rect">
            <a:avLst/>
          </a:prstGeom>
          <a:solidFill>
            <a:srgbClr val="D94F3D"/>
          </a:solidFill>
          <a:ln w="12700">
            <a:solidFill>
              <a:srgbClr val="D94F3D"/>
            </a:solidFill>
            <a:prstDash val="solid"/>
          </a:ln>
        </p:spPr>
      </p:sp>
      <p:sp>
        <p:nvSpPr>
          <p:cNvPr id="45" name="Text 41"/>
          <p:cNvSpPr/>
          <p:nvPr/>
        </p:nvSpPr>
        <p:spPr>
          <a:xfrm>
            <a:off x="4736592" y="4370832"/>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7</a:t>
            </a:r>
            <a:endParaRPr lang="en-US" sz="750" dirty="0"/>
          </a:p>
        </p:txBody>
      </p:sp>
      <p:sp>
        <p:nvSpPr>
          <p:cNvPr id="46" name="Text 42"/>
          <p:cNvSpPr/>
          <p:nvPr/>
        </p:nvSpPr>
        <p:spPr>
          <a:xfrm>
            <a:off x="5010912" y="4334256"/>
            <a:ext cx="3675888" cy="411480"/>
          </a:xfrm>
          <a:prstGeom prst="rect">
            <a:avLst/>
          </a:prstGeom>
          <a:noFill/>
        </p:spPr>
        <p:txBody>
          <a:bodyPr wrap="square" lIns="0" tIns="0" rIns="0" bIns="0" rtlCol="0" anchor="t"/>
          <a:lstStyle/>
          <a:p>
            <a:pPr marL="0" indent="0" algn="l">
              <a:buNone/>
            </a:pPr>
            <a:r>
              <a:rPr lang="en-US" sz="850" dirty="0">
                <a:solidFill>
                  <a:srgbClr val="1A2B3C"/>
                </a:solidFill>
              </a:rPr>
              <a:t>Review: Post-incident report; update AUP and training materials.</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17  Deployment &amp; Recovery</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Deployment, Scalability &amp; Failure Recovery</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24128"/>
            <a:ext cx="4160520" cy="3840480"/>
          </a:xfrm>
          <a:prstGeom prst="rect">
            <a:avLst/>
          </a:prstGeom>
          <a:solidFill>
            <a:srgbClr val="EAF4FB"/>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320040" y="1024128"/>
            <a:ext cx="4160520" cy="347472"/>
          </a:xfrm>
          <a:prstGeom prst="rect">
            <a:avLst/>
          </a:prstGeom>
          <a:solidFill>
            <a:srgbClr val="0D2137"/>
          </a:solidFill>
          <a:ln w="12700">
            <a:solidFill>
              <a:srgbClr val="0D2137"/>
            </a:solidFill>
            <a:prstDash val="solid"/>
          </a:ln>
        </p:spPr>
      </p:sp>
      <p:pic>
        <p:nvPicPr>
          <p:cNvPr id="8" name="Image 0" descr="preencoded.png"/>
          <p:cNvPicPr>
            <a:picLocks noChangeAspect="1"/>
          </p:cNvPicPr>
          <p:nvPr/>
        </p:nvPicPr>
        <p:blipFill>
          <a:blip r:embed="rId1"/>
          <a:stretch>
            <a:fillRect/>
          </a:stretch>
        </p:blipFill>
        <p:spPr>
          <a:xfrm>
            <a:off x="457200" y="1078992"/>
            <a:ext cx="256032" cy="256032"/>
          </a:xfrm>
          <a:prstGeom prst="rect">
            <a:avLst/>
          </a:prstGeom>
        </p:spPr>
      </p:pic>
      <p:sp>
        <p:nvSpPr>
          <p:cNvPr id="9" name="Text 6"/>
          <p:cNvSpPr/>
          <p:nvPr/>
        </p:nvSpPr>
        <p:spPr>
          <a:xfrm>
            <a:off x="749808" y="1078992"/>
            <a:ext cx="3611880" cy="256032"/>
          </a:xfrm>
          <a:prstGeom prst="rect">
            <a:avLst/>
          </a:prstGeom>
          <a:noFill/>
        </p:spPr>
        <p:txBody>
          <a:bodyPr wrap="square" lIns="0" tIns="0" rIns="0" bIns="0" rtlCol="0" anchor="ctr"/>
          <a:lstStyle/>
          <a:p>
            <a:pPr marL="0" indent="0" algn="l">
              <a:buNone/>
            </a:pPr>
            <a:r>
              <a:rPr lang="en-US" sz="1000" b="1" dirty="0">
                <a:solidFill>
                  <a:srgbClr val="FFFFFF"/>
                </a:solidFill>
              </a:rPr>
              <a:t>Deployment &amp; Scalability</a:t>
            </a:r>
            <a:endParaRPr lang="en-US" sz="1000" dirty="0"/>
          </a:p>
        </p:txBody>
      </p:sp>
      <p:sp>
        <p:nvSpPr>
          <p:cNvPr id="10" name="Text 7"/>
          <p:cNvSpPr/>
          <p:nvPr/>
        </p:nvSpPr>
        <p:spPr>
          <a:xfrm>
            <a:off x="475488" y="1481328"/>
            <a:ext cx="914400" cy="237744"/>
          </a:xfrm>
          <a:prstGeom prst="rect">
            <a:avLst/>
          </a:prstGeom>
          <a:noFill/>
        </p:spPr>
        <p:txBody>
          <a:bodyPr wrap="square" lIns="0" tIns="0" rIns="0" bIns="0" rtlCol="0" anchor="ctr"/>
          <a:lstStyle/>
          <a:p>
            <a:pPr marL="0" indent="0">
              <a:buNone/>
            </a:pPr>
            <a:r>
              <a:rPr lang="en-US" sz="850" b="1" dirty="0">
                <a:solidFill>
                  <a:srgbClr val="0D2137"/>
                </a:solidFill>
              </a:rPr>
              <a:t>Deployment:</a:t>
            </a:r>
            <a:endParaRPr lang="en-US" sz="850" dirty="0"/>
          </a:p>
        </p:txBody>
      </p:sp>
      <p:sp>
        <p:nvSpPr>
          <p:cNvPr id="11" name="Text 8"/>
          <p:cNvSpPr/>
          <p:nvPr/>
        </p:nvSpPr>
        <p:spPr>
          <a:xfrm>
            <a:off x="1417320" y="1481328"/>
            <a:ext cx="2926080" cy="237744"/>
          </a:xfrm>
          <a:prstGeom prst="rect">
            <a:avLst/>
          </a:prstGeom>
          <a:noFill/>
        </p:spPr>
        <p:txBody>
          <a:bodyPr wrap="square" lIns="0" tIns="0" rIns="0" bIns="0" rtlCol="0" anchor="ctr"/>
          <a:lstStyle/>
          <a:p>
            <a:pPr marL="0" indent="0">
              <a:buNone/>
            </a:pPr>
            <a:r>
              <a:rPr lang="en-US" sz="850" dirty="0">
                <a:solidFill>
                  <a:srgbClr val="1A2B3C"/>
                </a:solidFill>
              </a:rPr>
              <a:t>CI/CD pipeline with Infrastructure as Code (IaC); every release is automated, versioned, and repeatable.</a:t>
            </a:r>
            <a:endParaRPr lang="en-US" sz="850" dirty="0"/>
          </a:p>
        </p:txBody>
      </p:sp>
      <p:sp>
        <p:nvSpPr>
          <p:cNvPr id="12" name="Text 9"/>
          <p:cNvSpPr/>
          <p:nvPr/>
        </p:nvSpPr>
        <p:spPr>
          <a:xfrm>
            <a:off x="475488" y="2011680"/>
            <a:ext cx="914400" cy="237744"/>
          </a:xfrm>
          <a:prstGeom prst="rect">
            <a:avLst/>
          </a:prstGeom>
          <a:noFill/>
        </p:spPr>
        <p:txBody>
          <a:bodyPr wrap="square" lIns="0" tIns="0" rIns="0" bIns="0" rtlCol="0" anchor="ctr"/>
          <a:lstStyle/>
          <a:p>
            <a:pPr marL="0" indent="0">
              <a:buNone/>
            </a:pPr>
            <a:r>
              <a:rPr lang="en-US" sz="850" b="1" dirty="0">
                <a:solidFill>
                  <a:srgbClr val="0D2137"/>
                </a:solidFill>
              </a:rPr>
              <a:t>Auto-Scaling:</a:t>
            </a:r>
            <a:endParaRPr lang="en-US" sz="850" dirty="0"/>
          </a:p>
        </p:txBody>
      </p:sp>
      <p:sp>
        <p:nvSpPr>
          <p:cNvPr id="13" name="Text 10"/>
          <p:cNvSpPr/>
          <p:nvPr/>
        </p:nvSpPr>
        <p:spPr>
          <a:xfrm>
            <a:off x="1417320" y="2011680"/>
            <a:ext cx="2926080" cy="237744"/>
          </a:xfrm>
          <a:prstGeom prst="rect">
            <a:avLst/>
          </a:prstGeom>
          <a:noFill/>
        </p:spPr>
        <p:txBody>
          <a:bodyPr wrap="square" lIns="0" tIns="0" rIns="0" bIns="0" rtlCol="0" anchor="ctr"/>
          <a:lstStyle/>
          <a:p>
            <a:pPr marL="0" indent="0">
              <a:buNone/>
            </a:pPr>
            <a:r>
              <a:rPr lang="en-US" sz="850" dirty="0">
                <a:solidFill>
                  <a:srgbClr val="1A2B3C"/>
                </a:solidFill>
              </a:rPr>
              <a:t>API Gateway and LLM engine scale horizontally on CPU/queue-depth triggers during traffic spikes.</a:t>
            </a:r>
            <a:endParaRPr lang="en-US" sz="850" dirty="0"/>
          </a:p>
        </p:txBody>
      </p:sp>
      <p:sp>
        <p:nvSpPr>
          <p:cNvPr id="14" name="Text 11"/>
          <p:cNvSpPr/>
          <p:nvPr/>
        </p:nvSpPr>
        <p:spPr>
          <a:xfrm>
            <a:off x="475488" y="2542032"/>
            <a:ext cx="914400" cy="237744"/>
          </a:xfrm>
          <a:prstGeom prst="rect">
            <a:avLst/>
          </a:prstGeom>
          <a:noFill/>
        </p:spPr>
        <p:txBody>
          <a:bodyPr wrap="square" lIns="0" tIns="0" rIns="0" bIns="0" rtlCol="0" anchor="ctr"/>
          <a:lstStyle/>
          <a:p>
            <a:pPr marL="0" indent="0">
              <a:buNone/>
            </a:pPr>
            <a:r>
              <a:rPr lang="en-US" sz="850" b="1" dirty="0">
                <a:solidFill>
                  <a:srgbClr val="0D2137"/>
                </a:solidFill>
              </a:rPr>
              <a:t>Load Balancing:</a:t>
            </a:r>
            <a:endParaRPr lang="en-US" sz="850" dirty="0"/>
          </a:p>
        </p:txBody>
      </p:sp>
      <p:sp>
        <p:nvSpPr>
          <p:cNvPr id="15" name="Text 12"/>
          <p:cNvSpPr/>
          <p:nvPr/>
        </p:nvSpPr>
        <p:spPr>
          <a:xfrm>
            <a:off x="1417320" y="2542032"/>
            <a:ext cx="2926080" cy="237744"/>
          </a:xfrm>
          <a:prstGeom prst="rect">
            <a:avLst/>
          </a:prstGeom>
          <a:noFill/>
        </p:spPr>
        <p:txBody>
          <a:bodyPr wrap="square" lIns="0" tIns="0" rIns="0" bIns="0" rtlCol="0" anchor="ctr"/>
          <a:lstStyle/>
          <a:p>
            <a:pPr marL="0" indent="0">
              <a:buNone/>
            </a:pPr>
            <a:r>
              <a:rPr lang="en-US" sz="850" dirty="0">
                <a:solidFill>
                  <a:srgbClr val="1A2B3C"/>
                </a:solidFill>
              </a:rPr>
              <a:t>Traffic distributed across LLM instances; unhealthy nodes removed automatically from rotation.</a:t>
            </a:r>
            <a:endParaRPr lang="en-US" sz="850" dirty="0"/>
          </a:p>
        </p:txBody>
      </p:sp>
      <p:sp>
        <p:nvSpPr>
          <p:cNvPr id="16" name="Text 13"/>
          <p:cNvSpPr/>
          <p:nvPr/>
        </p:nvSpPr>
        <p:spPr>
          <a:xfrm>
            <a:off x="475488" y="3072384"/>
            <a:ext cx="914400" cy="237744"/>
          </a:xfrm>
          <a:prstGeom prst="rect">
            <a:avLst/>
          </a:prstGeom>
          <a:noFill/>
        </p:spPr>
        <p:txBody>
          <a:bodyPr wrap="square" lIns="0" tIns="0" rIns="0" bIns="0" rtlCol="0" anchor="ctr"/>
          <a:lstStyle/>
          <a:p>
            <a:pPr marL="0" indent="0">
              <a:buNone/>
            </a:pPr>
            <a:r>
              <a:rPr lang="en-US" sz="850" b="1" dirty="0">
                <a:solidFill>
                  <a:srgbClr val="0D2137"/>
                </a:solidFill>
              </a:rPr>
              <a:t>Redundancy:</a:t>
            </a:r>
            <a:endParaRPr lang="en-US" sz="850" dirty="0"/>
          </a:p>
        </p:txBody>
      </p:sp>
      <p:sp>
        <p:nvSpPr>
          <p:cNvPr id="17" name="Text 14"/>
          <p:cNvSpPr/>
          <p:nvPr/>
        </p:nvSpPr>
        <p:spPr>
          <a:xfrm>
            <a:off x="1417320" y="3072384"/>
            <a:ext cx="2926080" cy="237744"/>
          </a:xfrm>
          <a:prstGeom prst="rect">
            <a:avLst/>
          </a:prstGeom>
          <a:noFill/>
        </p:spPr>
        <p:txBody>
          <a:bodyPr wrap="square" lIns="0" tIns="0" rIns="0" bIns="0" rtlCol="0" anchor="ctr"/>
          <a:lstStyle/>
          <a:p>
            <a:pPr marL="0" indent="0">
              <a:buNone/>
            </a:pPr>
            <a:r>
              <a:rPr lang="en-US" sz="850" dirty="0">
                <a:solidFill>
                  <a:srgbClr val="1A2B3C"/>
                </a:solidFill>
              </a:rPr>
              <a:t>Multi-AZ deployment; database replicas and standby LLM instances ensure no single point of failure.</a:t>
            </a:r>
            <a:endParaRPr lang="en-US" sz="850" dirty="0"/>
          </a:p>
        </p:txBody>
      </p:sp>
      <p:sp>
        <p:nvSpPr>
          <p:cNvPr id="18" name="Text 15"/>
          <p:cNvSpPr/>
          <p:nvPr/>
        </p:nvSpPr>
        <p:spPr>
          <a:xfrm>
            <a:off x="475488" y="3602736"/>
            <a:ext cx="914400" cy="237744"/>
          </a:xfrm>
          <a:prstGeom prst="rect">
            <a:avLst/>
          </a:prstGeom>
          <a:noFill/>
        </p:spPr>
        <p:txBody>
          <a:bodyPr wrap="square" lIns="0" tIns="0" rIns="0" bIns="0" rtlCol="0" anchor="ctr"/>
          <a:lstStyle/>
          <a:p>
            <a:pPr marL="0" indent="0">
              <a:buNone/>
            </a:pPr>
            <a:r>
              <a:rPr lang="en-US" sz="850" b="1" dirty="0">
                <a:solidFill>
                  <a:srgbClr val="0D2137"/>
                </a:solidFill>
              </a:rPr>
              <a:t>Fallback Mode:</a:t>
            </a:r>
            <a:endParaRPr lang="en-US" sz="850" dirty="0"/>
          </a:p>
        </p:txBody>
      </p:sp>
      <p:sp>
        <p:nvSpPr>
          <p:cNvPr id="19" name="Text 16"/>
          <p:cNvSpPr/>
          <p:nvPr/>
        </p:nvSpPr>
        <p:spPr>
          <a:xfrm>
            <a:off x="1417320" y="3602736"/>
            <a:ext cx="2926080" cy="237744"/>
          </a:xfrm>
          <a:prstGeom prst="rect">
            <a:avLst/>
          </a:prstGeom>
          <a:noFill/>
        </p:spPr>
        <p:txBody>
          <a:bodyPr wrap="square" lIns="0" tIns="0" rIns="0" bIns="0" rtlCol="0" anchor="ctr"/>
          <a:lstStyle/>
          <a:p>
            <a:pPr marL="0" indent="0">
              <a:buNone/>
            </a:pPr>
            <a:r>
              <a:rPr lang="en-US" sz="850" dirty="0">
                <a:solidFill>
                  <a:srgbClr val="1A2B3C"/>
                </a:solidFill>
              </a:rPr>
              <a:t>If the LLM engine goes down, requests automatically reroute to a human support agent queue.</a:t>
            </a:r>
            <a:endParaRPr lang="en-US" sz="850" dirty="0"/>
          </a:p>
        </p:txBody>
      </p:sp>
      <p:sp>
        <p:nvSpPr>
          <p:cNvPr id="20" name="Text 17"/>
          <p:cNvSpPr/>
          <p:nvPr/>
        </p:nvSpPr>
        <p:spPr>
          <a:xfrm>
            <a:off x="475488" y="4133088"/>
            <a:ext cx="914400" cy="237744"/>
          </a:xfrm>
          <a:prstGeom prst="rect">
            <a:avLst/>
          </a:prstGeom>
          <a:noFill/>
        </p:spPr>
        <p:txBody>
          <a:bodyPr wrap="square" lIns="0" tIns="0" rIns="0" bIns="0" rtlCol="0" anchor="ctr"/>
          <a:lstStyle/>
          <a:p>
            <a:pPr marL="0" indent="0">
              <a:buNone/>
            </a:pPr>
            <a:r>
              <a:rPr lang="en-US" sz="850" b="1" dirty="0">
                <a:solidFill>
                  <a:srgbClr val="0D2137"/>
                </a:solidFill>
              </a:rPr>
              <a:t>Health Checks:</a:t>
            </a:r>
            <a:endParaRPr lang="en-US" sz="850" dirty="0"/>
          </a:p>
        </p:txBody>
      </p:sp>
      <p:sp>
        <p:nvSpPr>
          <p:cNvPr id="21" name="Text 18"/>
          <p:cNvSpPr/>
          <p:nvPr/>
        </p:nvSpPr>
        <p:spPr>
          <a:xfrm>
            <a:off x="1417320" y="4133088"/>
            <a:ext cx="2926080" cy="237744"/>
          </a:xfrm>
          <a:prstGeom prst="rect">
            <a:avLst/>
          </a:prstGeom>
          <a:noFill/>
        </p:spPr>
        <p:txBody>
          <a:bodyPr wrap="square" lIns="0" tIns="0" rIns="0" bIns="0" rtlCol="0" anchor="ctr"/>
          <a:lstStyle/>
          <a:p>
            <a:pPr marL="0" indent="0">
              <a:buNone/>
            </a:pPr>
            <a:r>
              <a:rPr lang="en-US" sz="850" dirty="0">
                <a:solidFill>
                  <a:srgbClr val="1A2B3C"/>
                </a:solidFill>
              </a:rPr>
              <a:t>Automated liveness/readiness probes every 30s; unresponsive instances are restarted or replaced.</a:t>
            </a:r>
            <a:endParaRPr lang="en-US" sz="850" dirty="0"/>
          </a:p>
        </p:txBody>
      </p:sp>
      <p:sp>
        <p:nvSpPr>
          <p:cNvPr id="22" name="Shape 19"/>
          <p:cNvSpPr/>
          <p:nvPr/>
        </p:nvSpPr>
        <p:spPr>
          <a:xfrm>
            <a:off x="4663440" y="1024128"/>
            <a:ext cx="4160520" cy="3840480"/>
          </a:xfrm>
          <a:prstGeom prst="rect">
            <a:avLst/>
          </a:prstGeom>
          <a:solidFill>
            <a:srgbClr val="FFF8E1"/>
          </a:solidFill>
          <a:ln w="6350">
            <a:solidFill>
              <a:srgbClr val="B8D4E8"/>
            </a:solidFill>
            <a:prstDash val="solid"/>
          </a:ln>
          <a:effectLst>
            <a:outerShdw blurRad="63500" dist="12700" dir="8100000" algn="bl" rotWithShape="0">
              <a:srgbClr val="A0BFDA">
                <a:alpha val="18000"/>
              </a:srgbClr>
            </a:outerShdw>
          </a:effectLst>
        </p:spPr>
      </p:sp>
      <p:sp>
        <p:nvSpPr>
          <p:cNvPr id="23" name="Shape 20"/>
          <p:cNvSpPr/>
          <p:nvPr/>
        </p:nvSpPr>
        <p:spPr>
          <a:xfrm>
            <a:off x="4663440" y="1024128"/>
            <a:ext cx="4160520" cy="347472"/>
          </a:xfrm>
          <a:prstGeom prst="rect">
            <a:avLst/>
          </a:prstGeom>
          <a:solidFill>
            <a:srgbClr val="D94F3D"/>
          </a:solidFill>
          <a:ln w="12700">
            <a:solidFill>
              <a:srgbClr val="D94F3D"/>
            </a:solidFill>
            <a:prstDash val="solid"/>
          </a:ln>
        </p:spPr>
      </p:sp>
      <p:pic>
        <p:nvPicPr>
          <p:cNvPr id="24" name="Image 1" descr="preencoded.png"/>
          <p:cNvPicPr>
            <a:picLocks noChangeAspect="1"/>
          </p:cNvPicPr>
          <p:nvPr/>
        </p:nvPicPr>
        <p:blipFill>
          <a:blip r:embed="rId2"/>
          <a:stretch>
            <a:fillRect/>
          </a:stretch>
        </p:blipFill>
        <p:spPr>
          <a:xfrm>
            <a:off x="4809744" y="1078992"/>
            <a:ext cx="256032" cy="256032"/>
          </a:xfrm>
          <a:prstGeom prst="rect">
            <a:avLst/>
          </a:prstGeom>
        </p:spPr>
      </p:pic>
      <p:sp>
        <p:nvSpPr>
          <p:cNvPr id="25" name="Text 21"/>
          <p:cNvSpPr/>
          <p:nvPr/>
        </p:nvSpPr>
        <p:spPr>
          <a:xfrm>
            <a:off x="5102352" y="1078992"/>
            <a:ext cx="3611880" cy="256032"/>
          </a:xfrm>
          <a:prstGeom prst="rect">
            <a:avLst/>
          </a:prstGeom>
          <a:noFill/>
        </p:spPr>
        <p:txBody>
          <a:bodyPr wrap="square" lIns="0" tIns="0" rIns="0" bIns="0" rtlCol="0" anchor="ctr"/>
          <a:lstStyle/>
          <a:p>
            <a:pPr marL="0" indent="0" algn="l">
              <a:buNone/>
            </a:pPr>
            <a:r>
              <a:rPr lang="en-US" sz="1000" b="1" dirty="0">
                <a:solidFill>
                  <a:srgbClr val="FFFFFF"/>
                </a:solidFill>
              </a:rPr>
              <a:t>Failure Recovery — Response Sequence</a:t>
            </a:r>
            <a:endParaRPr lang="en-US" sz="1000" dirty="0"/>
          </a:p>
        </p:txBody>
      </p:sp>
      <p:sp>
        <p:nvSpPr>
          <p:cNvPr id="26" name="Shape 22"/>
          <p:cNvSpPr/>
          <p:nvPr/>
        </p:nvSpPr>
        <p:spPr>
          <a:xfrm>
            <a:off x="4736592" y="1517904"/>
            <a:ext cx="219456" cy="219456"/>
          </a:xfrm>
          <a:prstGeom prst="rect">
            <a:avLst/>
          </a:prstGeom>
          <a:solidFill>
            <a:srgbClr val="D94F3D"/>
          </a:solidFill>
          <a:ln w="12700">
            <a:solidFill>
              <a:srgbClr val="D94F3D"/>
            </a:solidFill>
            <a:prstDash val="solid"/>
          </a:ln>
        </p:spPr>
      </p:sp>
      <p:sp>
        <p:nvSpPr>
          <p:cNvPr id="27" name="Text 23"/>
          <p:cNvSpPr/>
          <p:nvPr/>
        </p:nvSpPr>
        <p:spPr>
          <a:xfrm>
            <a:off x="4736592" y="1517904"/>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28" name="Text 24"/>
          <p:cNvSpPr/>
          <p:nvPr/>
        </p:nvSpPr>
        <p:spPr>
          <a:xfrm>
            <a:off x="5010912" y="1481328"/>
            <a:ext cx="3675888" cy="411480"/>
          </a:xfrm>
          <a:prstGeom prst="rect">
            <a:avLst/>
          </a:prstGeom>
          <a:noFill/>
        </p:spPr>
        <p:txBody>
          <a:bodyPr wrap="square" lIns="0" tIns="0" rIns="0" bIns="0" rtlCol="0" anchor="t"/>
          <a:lstStyle/>
          <a:p>
            <a:pPr marL="0" indent="0" algn="l">
              <a:buNone/>
            </a:pPr>
            <a:r>
              <a:rPr lang="en-US" sz="850" dirty="0">
                <a:solidFill>
                  <a:srgbClr val="1A2B3C"/>
                </a:solidFill>
              </a:rPr>
              <a:t>Detect: Health check fails or SIEM flags anomalous behaviour (LLM outage or attack).</a:t>
            </a:r>
            <a:endParaRPr lang="en-US" sz="850" dirty="0"/>
          </a:p>
        </p:txBody>
      </p:sp>
      <p:sp>
        <p:nvSpPr>
          <p:cNvPr id="29" name="Shape 25"/>
          <p:cNvSpPr/>
          <p:nvPr/>
        </p:nvSpPr>
        <p:spPr>
          <a:xfrm>
            <a:off x="4736592" y="1993392"/>
            <a:ext cx="219456" cy="219456"/>
          </a:xfrm>
          <a:prstGeom prst="rect">
            <a:avLst/>
          </a:prstGeom>
          <a:solidFill>
            <a:srgbClr val="D94F3D"/>
          </a:solidFill>
          <a:ln w="12700">
            <a:solidFill>
              <a:srgbClr val="D94F3D"/>
            </a:solidFill>
            <a:prstDash val="solid"/>
          </a:ln>
        </p:spPr>
      </p:sp>
      <p:sp>
        <p:nvSpPr>
          <p:cNvPr id="30" name="Text 26"/>
          <p:cNvSpPr/>
          <p:nvPr/>
        </p:nvSpPr>
        <p:spPr>
          <a:xfrm>
            <a:off x="4736592" y="1993392"/>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31" name="Text 27"/>
          <p:cNvSpPr/>
          <p:nvPr/>
        </p:nvSpPr>
        <p:spPr>
          <a:xfrm>
            <a:off x="5010912" y="1956816"/>
            <a:ext cx="3675888" cy="411480"/>
          </a:xfrm>
          <a:prstGeom prst="rect">
            <a:avLst/>
          </a:prstGeom>
          <a:noFill/>
        </p:spPr>
        <p:txBody>
          <a:bodyPr wrap="square" lIns="0" tIns="0" rIns="0" bIns="0" rtlCol="0" anchor="t"/>
          <a:lstStyle/>
          <a:p>
            <a:pPr marL="0" indent="0" algn="l">
              <a:buNone/>
            </a:pPr>
            <a:r>
              <a:rPr lang="en-US" sz="850" dirty="0">
                <a:solidFill>
                  <a:srgbClr val="1A2B3C"/>
                </a:solidFill>
              </a:rPr>
              <a:t>Contain: Load balancer reroutes traffic away from the failed instance immediately.</a:t>
            </a:r>
            <a:endParaRPr lang="en-US" sz="850" dirty="0"/>
          </a:p>
        </p:txBody>
      </p:sp>
      <p:sp>
        <p:nvSpPr>
          <p:cNvPr id="32" name="Shape 28"/>
          <p:cNvSpPr/>
          <p:nvPr/>
        </p:nvSpPr>
        <p:spPr>
          <a:xfrm>
            <a:off x="4736592" y="2468880"/>
            <a:ext cx="219456" cy="219456"/>
          </a:xfrm>
          <a:prstGeom prst="rect">
            <a:avLst/>
          </a:prstGeom>
          <a:solidFill>
            <a:srgbClr val="D94F3D"/>
          </a:solidFill>
          <a:ln w="12700">
            <a:solidFill>
              <a:srgbClr val="D94F3D"/>
            </a:solidFill>
            <a:prstDash val="solid"/>
          </a:ln>
        </p:spPr>
      </p:sp>
      <p:sp>
        <p:nvSpPr>
          <p:cNvPr id="33" name="Text 29"/>
          <p:cNvSpPr/>
          <p:nvPr/>
        </p:nvSpPr>
        <p:spPr>
          <a:xfrm>
            <a:off x="4736592" y="2468880"/>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34" name="Text 30"/>
          <p:cNvSpPr/>
          <p:nvPr/>
        </p:nvSpPr>
        <p:spPr>
          <a:xfrm>
            <a:off x="5010912" y="2432304"/>
            <a:ext cx="3675888" cy="411480"/>
          </a:xfrm>
          <a:prstGeom prst="rect">
            <a:avLst/>
          </a:prstGeom>
          <a:noFill/>
        </p:spPr>
        <p:txBody>
          <a:bodyPr wrap="square" lIns="0" tIns="0" rIns="0" bIns="0" rtlCol="0" anchor="t"/>
          <a:lstStyle/>
          <a:p>
            <a:pPr marL="0" indent="0" algn="l">
              <a:buNone/>
            </a:pPr>
            <a:r>
              <a:rPr lang="en-US" sz="850" dirty="0">
                <a:solidFill>
                  <a:srgbClr val="1A2B3C"/>
                </a:solidFill>
              </a:rPr>
              <a:t>Fallback: If the LLM is down, the chat session hands off to a human support agent.</a:t>
            </a:r>
            <a:endParaRPr lang="en-US" sz="850" dirty="0"/>
          </a:p>
        </p:txBody>
      </p:sp>
      <p:sp>
        <p:nvSpPr>
          <p:cNvPr id="35" name="Shape 31"/>
          <p:cNvSpPr/>
          <p:nvPr/>
        </p:nvSpPr>
        <p:spPr>
          <a:xfrm>
            <a:off x="4736592" y="2944368"/>
            <a:ext cx="219456" cy="219456"/>
          </a:xfrm>
          <a:prstGeom prst="rect">
            <a:avLst/>
          </a:prstGeom>
          <a:solidFill>
            <a:srgbClr val="D94F3D"/>
          </a:solidFill>
          <a:ln w="12700">
            <a:solidFill>
              <a:srgbClr val="D94F3D"/>
            </a:solidFill>
            <a:prstDash val="solid"/>
          </a:ln>
        </p:spPr>
      </p:sp>
      <p:sp>
        <p:nvSpPr>
          <p:cNvPr id="36" name="Text 32"/>
          <p:cNvSpPr/>
          <p:nvPr/>
        </p:nvSpPr>
        <p:spPr>
          <a:xfrm>
            <a:off x="4736592" y="2944368"/>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4</a:t>
            </a:r>
            <a:endParaRPr lang="en-US" sz="750" dirty="0"/>
          </a:p>
        </p:txBody>
      </p:sp>
      <p:sp>
        <p:nvSpPr>
          <p:cNvPr id="37" name="Text 33"/>
          <p:cNvSpPr/>
          <p:nvPr/>
        </p:nvSpPr>
        <p:spPr>
          <a:xfrm>
            <a:off x="5010912" y="2907792"/>
            <a:ext cx="3675888" cy="411480"/>
          </a:xfrm>
          <a:prstGeom prst="rect">
            <a:avLst/>
          </a:prstGeom>
          <a:noFill/>
        </p:spPr>
        <p:txBody>
          <a:bodyPr wrap="square" lIns="0" tIns="0" rIns="0" bIns="0" rtlCol="0" anchor="t"/>
          <a:lstStyle/>
          <a:p>
            <a:pPr marL="0" indent="0" algn="l">
              <a:buNone/>
            </a:pPr>
            <a:r>
              <a:rPr lang="en-US" sz="850" dirty="0">
                <a:solidFill>
                  <a:srgbClr val="1A2B3C"/>
                </a:solidFill>
              </a:rPr>
              <a:t>Escalate: If prompt injection succeeded, Steps 2-7 of the incident playbook trigger and the case escalates to the CISO.</a:t>
            </a:r>
            <a:endParaRPr lang="en-US" sz="850" dirty="0"/>
          </a:p>
        </p:txBody>
      </p:sp>
      <p:sp>
        <p:nvSpPr>
          <p:cNvPr id="38" name="Shape 34"/>
          <p:cNvSpPr/>
          <p:nvPr/>
        </p:nvSpPr>
        <p:spPr>
          <a:xfrm>
            <a:off x="4736592" y="3419856"/>
            <a:ext cx="219456" cy="219456"/>
          </a:xfrm>
          <a:prstGeom prst="rect">
            <a:avLst/>
          </a:prstGeom>
          <a:solidFill>
            <a:srgbClr val="D94F3D"/>
          </a:solidFill>
          <a:ln w="12700">
            <a:solidFill>
              <a:srgbClr val="D94F3D"/>
            </a:solidFill>
            <a:prstDash val="solid"/>
          </a:ln>
        </p:spPr>
      </p:sp>
      <p:sp>
        <p:nvSpPr>
          <p:cNvPr id="39" name="Text 35"/>
          <p:cNvSpPr/>
          <p:nvPr/>
        </p:nvSpPr>
        <p:spPr>
          <a:xfrm>
            <a:off x="4736592" y="3419856"/>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5</a:t>
            </a:r>
            <a:endParaRPr lang="en-US" sz="750" dirty="0"/>
          </a:p>
        </p:txBody>
      </p:sp>
      <p:sp>
        <p:nvSpPr>
          <p:cNvPr id="40" name="Text 36"/>
          <p:cNvSpPr/>
          <p:nvPr/>
        </p:nvSpPr>
        <p:spPr>
          <a:xfrm>
            <a:off x="5010912" y="3383280"/>
            <a:ext cx="3675888" cy="411480"/>
          </a:xfrm>
          <a:prstGeom prst="rect">
            <a:avLst/>
          </a:prstGeom>
          <a:noFill/>
        </p:spPr>
        <p:txBody>
          <a:bodyPr wrap="square" lIns="0" tIns="0" rIns="0" bIns="0" rtlCol="0" anchor="t"/>
          <a:lstStyle/>
          <a:p>
            <a:pPr marL="0" indent="0" algn="l">
              <a:buNone/>
            </a:pPr>
            <a:r>
              <a:rPr lang="en-US" sz="850" dirty="0">
                <a:solidFill>
                  <a:srgbClr val="1A2B3C"/>
                </a:solidFill>
              </a:rPr>
              <a:t>Restore: Auto-scaler spins up a healthy replacement instance from the IaC template.</a:t>
            </a:r>
            <a:endParaRPr lang="en-US" sz="850" dirty="0"/>
          </a:p>
        </p:txBody>
      </p:sp>
      <p:sp>
        <p:nvSpPr>
          <p:cNvPr id="41" name="Shape 37"/>
          <p:cNvSpPr/>
          <p:nvPr/>
        </p:nvSpPr>
        <p:spPr>
          <a:xfrm>
            <a:off x="4736592" y="3895344"/>
            <a:ext cx="219456" cy="219456"/>
          </a:xfrm>
          <a:prstGeom prst="rect">
            <a:avLst/>
          </a:prstGeom>
          <a:solidFill>
            <a:srgbClr val="D94F3D"/>
          </a:solidFill>
          <a:ln w="12700">
            <a:solidFill>
              <a:srgbClr val="D94F3D"/>
            </a:solidFill>
            <a:prstDash val="solid"/>
          </a:ln>
        </p:spPr>
      </p:sp>
      <p:sp>
        <p:nvSpPr>
          <p:cNvPr id="42" name="Text 38"/>
          <p:cNvSpPr/>
          <p:nvPr/>
        </p:nvSpPr>
        <p:spPr>
          <a:xfrm>
            <a:off x="4736592" y="3895344"/>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6</a:t>
            </a:r>
            <a:endParaRPr lang="en-US" sz="750" dirty="0"/>
          </a:p>
        </p:txBody>
      </p:sp>
      <p:sp>
        <p:nvSpPr>
          <p:cNvPr id="43" name="Text 39"/>
          <p:cNvSpPr/>
          <p:nvPr/>
        </p:nvSpPr>
        <p:spPr>
          <a:xfrm>
            <a:off x="5010912" y="3858768"/>
            <a:ext cx="3675888" cy="411480"/>
          </a:xfrm>
          <a:prstGeom prst="rect">
            <a:avLst/>
          </a:prstGeom>
          <a:noFill/>
        </p:spPr>
        <p:txBody>
          <a:bodyPr wrap="square" lIns="0" tIns="0" rIns="0" bIns="0" rtlCol="0" anchor="t"/>
          <a:lstStyle/>
          <a:p>
            <a:pPr marL="0" indent="0" algn="l">
              <a:buNone/>
            </a:pPr>
            <a:r>
              <a:rPr lang="en-US" sz="850" dirty="0">
                <a:solidFill>
                  <a:srgbClr val="1A2B3C"/>
                </a:solidFill>
              </a:rPr>
              <a:t>Verify: Health checks confirm the restored instance before it rejoins the pool.</a:t>
            </a:r>
            <a:endParaRPr lang="en-US" sz="850" dirty="0"/>
          </a:p>
        </p:txBody>
      </p:sp>
      <p:sp>
        <p:nvSpPr>
          <p:cNvPr id="44" name="Shape 40"/>
          <p:cNvSpPr/>
          <p:nvPr/>
        </p:nvSpPr>
        <p:spPr>
          <a:xfrm>
            <a:off x="4736592" y="4370832"/>
            <a:ext cx="219456" cy="219456"/>
          </a:xfrm>
          <a:prstGeom prst="rect">
            <a:avLst/>
          </a:prstGeom>
          <a:solidFill>
            <a:srgbClr val="D94F3D"/>
          </a:solidFill>
          <a:ln w="12700">
            <a:solidFill>
              <a:srgbClr val="D94F3D"/>
            </a:solidFill>
            <a:prstDash val="solid"/>
          </a:ln>
        </p:spPr>
      </p:sp>
      <p:sp>
        <p:nvSpPr>
          <p:cNvPr id="45" name="Text 41"/>
          <p:cNvSpPr/>
          <p:nvPr/>
        </p:nvSpPr>
        <p:spPr>
          <a:xfrm>
            <a:off x="4736592" y="4370832"/>
            <a:ext cx="219456" cy="219456"/>
          </a:xfrm>
          <a:prstGeom prst="rect">
            <a:avLst/>
          </a:prstGeom>
          <a:noFill/>
        </p:spPr>
        <p:txBody>
          <a:bodyPr wrap="square" lIns="0" tIns="0" rIns="0" bIns="0" rtlCol="0" anchor="ctr"/>
          <a:lstStyle/>
          <a:p>
            <a:pPr marL="0" indent="0" algn="ctr">
              <a:buNone/>
            </a:pPr>
            <a:r>
              <a:rPr lang="en-US" sz="750" b="1" dirty="0">
                <a:solidFill>
                  <a:srgbClr val="FFFFFF"/>
                </a:solidFill>
              </a:rPr>
              <a:t>7</a:t>
            </a:r>
            <a:endParaRPr lang="en-US" sz="750" dirty="0"/>
          </a:p>
        </p:txBody>
      </p:sp>
      <p:sp>
        <p:nvSpPr>
          <p:cNvPr id="46" name="Text 42"/>
          <p:cNvSpPr/>
          <p:nvPr/>
        </p:nvSpPr>
        <p:spPr>
          <a:xfrm>
            <a:off x="5010912" y="4334256"/>
            <a:ext cx="3675888" cy="411480"/>
          </a:xfrm>
          <a:prstGeom prst="rect">
            <a:avLst/>
          </a:prstGeom>
          <a:noFill/>
        </p:spPr>
        <p:txBody>
          <a:bodyPr wrap="square" lIns="0" tIns="0" rIns="0" bIns="0" rtlCol="0" anchor="t"/>
          <a:lstStyle/>
          <a:p>
            <a:pPr marL="0" indent="0" algn="l">
              <a:buNone/>
            </a:pPr>
            <a:r>
              <a:rPr lang="en-US" sz="850" dirty="0">
                <a:solidFill>
                  <a:srgbClr val="1A2B3C"/>
                </a:solidFill>
              </a:rPr>
              <a:t>Review: Post-incident report logged; deployment templates updated with any fixes.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005840" cy="256032"/>
          </a:xfrm>
          <a:prstGeom prst="rect">
            <a:avLst/>
          </a:prstGeom>
          <a:solidFill>
            <a:srgbClr val="1B6CA8"/>
          </a:solidFill>
          <a:ln w="12700">
            <a:solidFill>
              <a:srgbClr val="1B6CA8"/>
            </a:solidFill>
            <a:prstDash val="solid"/>
          </a:ln>
        </p:spPr>
      </p:sp>
      <p:sp>
        <p:nvSpPr>
          <p:cNvPr id="3" name="Text 1"/>
          <p:cNvSpPr/>
          <p:nvPr/>
        </p:nvSpPr>
        <p:spPr>
          <a:xfrm>
            <a:off x="320040" y="164592"/>
            <a:ext cx="1005840" cy="256032"/>
          </a:xfrm>
          <a:prstGeom prst="rect">
            <a:avLst/>
          </a:prstGeom>
          <a:noFill/>
        </p:spPr>
        <p:txBody>
          <a:bodyPr wrap="square" lIns="0" tIns="0" rIns="0" bIns="0" rtlCol="0" anchor="ctr"/>
          <a:lstStyle/>
          <a:p>
            <a:pPr marL="0" indent="0" algn="ctr">
              <a:buNone/>
            </a:pPr>
            <a:r>
              <a:rPr lang="en-US" sz="750" b="1" dirty="0">
                <a:solidFill>
                  <a:srgbClr val="FFFFFF"/>
                </a:solidFill>
              </a:rPr>
              <a:t>18  Conclusion</a:t>
            </a:r>
            <a:endParaRPr lang="en-US" sz="750" dirty="0"/>
          </a:p>
        </p:txBody>
      </p:sp>
      <p:sp>
        <p:nvSpPr>
          <p:cNvPr id="4" name="Text 2"/>
          <p:cNvSpPr/>
          <p:nvPr/>
        </p:nvSpPr>
        <p:spPr>
          <a:xfrm>
            <a:off x="320040" y="493776"/>
            <a:ext cx="8503920" cy="365760"/>
          </a:xfrm>
          <a:prstGeom prst="rect">
            <a:avLst/>
          </a:prstGeom>
          <a:noFill/>
        </p:spPr>
        <p:txBody>
          <a:bodyPr wrap="square" lIns="0" tIns="0" rIns="0" bIns="0" rtlCol="0" anchor="t"/>
          <a:lstStyle/>
          <a:p>
            <a:pPr marL="0" indent="0" algn="l">
              <a:buNone/>
            </a:pPr>
            <a:r>
              <a:rPr lang="en-US" sz="2200" b="1" dirty="0">
                <a:solidFill>
                  <a:srgbClr val="0D2137"/>
                </a:solidFill>
              </a:rPr>
              <a:t>Conclusion</a:t>
            </a:r>
            <a:endParaRPr lang="en-US" sz="2200" dirty="0"/>
          </a:p>
        </p:txBody>
      </p:sp>
      <p:sp>
        <p:nvSpPr>
          <p:cNvPr id="5" name="Shape 3"/>
          <p:cNvSpPr/>
          <p:nvPr/>
        </p:nvSpPr>
        <p:spPr>
          <a:xfrm>
            <a:off x="320040" y="932688"/>
            <a:ext cx="8503920" cy="0"/>
          </a:xfrm>
          <a:prstGeom prst="line">
            <a:avLst/>
          </a:prstGeom>
          <a:noFill/>
          <a:ln w="9525">
            <a:solidFill>
              <a:srgbClr val="B8D4E8"/>
            </a:solidFill>
            <a:prstDash val="solid"/>
          </a:ln>
        </p:spPr>
      </p:sp>
      <p:sp>
        <p:nvSpPr>
          <p:cNvPr id="6" name="Shape 4"/>
          <p:cNvSpPr/>
          <p:nvPr/>
        </p:nvSpPr>
        <p:spPr>
          <a:xfrm>
            <a:off x="320040" y="1051560"/>
            <a:ext cx="4160520" cy="157276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7" name="Shape 5"/>
          <p:cNvSpPr/>
          <p:nvPr/>
        </p:nvSpPr>
        <p:spPr>
          <a:xfrm>
            <a:off x="466344" y="1234440"/>
            <a:ext cx="475488" cy="475488"/>
          </a:xfrm>
          <a:prstGeom prst="rect">
            <a:avLst/>
          </a:prstGeom>
          <a:solidFill>
            <a:srgbClr val="1B6CA8"/>
          </a:solidFill>
          <a:ln w="12700">
            <a:solidFill>
              <a:srgbClr val="1B6CA8"/>
            </a:solidFill>
            <a:prstDash val="solid"/>
          </a:ln>
        </p:spPr>
      </p:sp>
      <p:pic>
        <p:nvPicPr>
          <p:cNvPr id="8" name="Image 0" descr="preencoded.png"/>
          <p:cNvPicPr>
            <a:picLocks noChangeAspect="1"/>
          </p:cNvPicPr>
          <p:nvPr/>
        </p:nvPicPr>
        <p:blipFill>
          <a:blip r:embed="rId1"/>
          <a:stretch>
            <a:fillRect/>
          </a:stretch>
        </p:blipFill>
        <p:spPr>
          <a:xfrm>
            <a:off x="549554" y="1317650"/>
            <a:ext cx="309067" cy="309067"/>
          </a:xfrm>
          <a:prstGeom prst="rect">
            <a:avLst/>
          </a:prstGeom>
        </p:spPr>
      </p:pic>
      <p:sp>
        <p:nvSpPr>
          <p:cNvPr id="9" name="Text 6"/>
          <p:cNvSpPr/>
          <p:nvPr/>
        </p:nvSpPr>
        <p:spPr>
          <a:xfrm>
            <a:off x="1106424" y="1252728"/>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Clear Rules &amp; Guidelines</a:t>
            </a:r>
            <a:endParaRPr lang="en-US" sz="1100" dirty="0"/>
          </a:p>
        </p:txBody>
      </p:sp>
      <p:sp>
        <p:nvSpPr>
          <p:cNvPr id="10" name="Text 7"/>
          <p:cNvSpPr/>
          <p:nvPr/>
        </p:nvSpPr>
        <p:spPr>
          <a:xfrm>
            <a:off x="448056" y="1874520"/>
            <a:ext cx="3904488" cy="676656"/>
          </a:xfrm>
          <a:prstGeom prst="rect">
            <a:avLst/>
          </a:prstGeom>
          <a:noFill/>
        </p:spPr>
        <p:txBody>
          <a:bodyPr wrap="square" lIns="0" tIns="0" rIns="0" bIns="0" rtlCol="0" anchor="t"/>
          <a:lstStyle/>
          <a:p>
            <a:pPr marL="0" indent="0" algn="l">
              <a:buNone/>
            </a:pPr>
            <a:r>
              <a:rPr lang="en-US" sz="950" dirty="0">
                <a:solidFill>
                  <a:srgbClr val="1A2B3C"/>
                </a:solidFill>
              </a:rPr>
              <a:t>AI governance sets clear rules so systems work properly, make correct decisions, and do not harm people.</a:t>
            </a:r>
            <a:endParaRPr lang="en-US" sz="950" dirty="0"/>
          </a:p>
        </p:txBody>
      </p:sp>
      <p:sp>
        <p:nvSpPr>
          <p:cNvPr id="11" name="Shape 8"/>
          <p:cNvSpPr/>
          <p:nvPr/>
        </p:nvSpPr>
        <p:spPr>
          <a:xfrm>
            <a:off x="4663440" y="1051560"/>
            <a:ext cx="4160520" cy="157276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2" name="Shape 9"/>
          <p:cNvSpPr/>
          <p:nvPr/>
        </p:nvSpPr>
        <p:spPr>
          <a:xfrm>
            <a:off x="4809744" y="1234440"/>
            <a:ext cx="475488" cy="475488"/>
          </a:xfrm>
          <a:prstGeom prst="rect">
            <a:avLst/>
          </a:prstGeom>
          <a:solidFill>
            <a:srgbClr val="0F9B8E"/>
          </a:solidFill>
          <a:ln w="12700">
            <a:solidFill>
              <a:srgbClr val="0F9B8E"/>
            </a:solidFill>
            <a:prstDash val="solid"/>
          </a:ln>
        </p:spPr>
      </p:sp>
      <p:pic>
        <p:nvPicPr>
          <p:cNvPr id="13" name="Image 1" descr="preencoded.png"/>
          <p:cNvPicPr>
            <a:picLocks noChangeAspect="1"/>
          </p:cNvPicPr>
          <p:nvPr/>
        </p:nvPicPr>
        <p:blipFill>
          <a:blip r:embed="rId2"/>
          <a:stretch>
            <a:fillRect/>
          </a:stretch>
        </p:blipFill>
        <p:spPr>
          <a:xfrm>
            <a:off x="4892954" y="1317650"/>
            <a:ext cx="309067" cy="309067"/>
          </a:xfrm>
          <a:prstGeom prst="rect">
            <a:avLst/>
          </a:prstGeom>
        </p:spPr>
      </p:pic>
      <p:sp>
        <p:nvSpPr>
          <p:cNvPr id="14" name="Text 10"/>
          <p:cNvSpPr/>
          <p:nvPr/>
        </p:nvSpPr>
        <p:spPr>
          <a:xfrm>
            <a:off x="5449824" y="1252728"/>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Cyber Protection</a:t>
            </a:r>
            <a:endParaRPr lang="en-US" sz="1100" dirty="0"/>
          </a:p>
        </p:txBody>
      </p:sp>
      <p:sp>
        <p:nvSpPr>
          <p:cNvPr id="15" name="Text 11"/>
          <p:cNvSpPr/>
          <p:nvPr/>
        </p:nvSpPr>
        <p:spPr>
          <a:xfrm>
            <a:off x="4791456" y="1874520"/>
            <a:ext cx="3904488" cy="676656"/>
          </a:xfrm>
          <a:prstGeom prst="rect">
            <a:avLst/>
          </a:prstGeom>
          <a:noFill/>
        </p:spPr>
        <p:txBody>
          <a:bodyPr wrap="square" lIns="0" tIns="0" rIns="0" bIns="0" rtlCol="0" anchor="t"/>
          <a:lstStyle/>
          <a:p>
            <a:pPr marL="0" indent="0" algn="l">
              <a:buNone/>
            </a:pPr>
            <a:r>
              <a:rPr lang="en-US" sz="950" dirty="0">
                <a:solidFill>
                  <a:srgbClr val="1A2B3C"/>
                </a:solidFill>
              </a:rPr>
              <a:t>Cyber risk management protects networks and data from hacking, viruses, and leaks with strong security measures.</a:t>
            </a:r>
            <a:endParaRPr lang="en-US" sz="950" dirty="0"/>
          </a:p>
        </p:txBody>
      </p:sp>
      <p:sp>
        <p:nvSpPr>
          <p:cNvPr id="16" name="Shape 12"/>
          <p:cNvSpPr/>
          <p:nvPr/>
        </p:nvSpPr>
        <p:spPr>
          <a:xfrm>
            <a:off x="320040" y="2788920"/>
            <a:ext cx="4160520" cy="157276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17" name="Shape 13"/>
          <p:cNvSpPr/>
          <p:nvPr/>
        </p:nvSpPr>
        <p:spPr>
          <a:xfrm>
            <a:off x="466344" y="2971800"/>
            <a:ext cx="475488" cy="475488"/>
          </a:xfrm>
          <a:prstGeom prst="rect">
            <a:avLst/>
          </a:prstGeom>
          <a:solidFill>
            <a:srgbClr val="2E7D32"/>
          </a:solidFill>
          <a:ln w="12700">
            <a:solidFill>
              <a:srgbClr val="2E7D32"/>
            </a:solidFill>
            <a:prstDash val="solid"/>
          </a:ln>
        </p:spPr>
      </p:sp>
      <p:pic>
        <p:nvPicPr>
          <p:cNvPr id="18" name="Image 2" descr="preencoded.png"/>
          <p:cNvPicPr>
            <a:picLocks noChangeAspect="1"/>
          </p:cNvPicPr>
          <p:nvPr/>
        </p:nvPicPr>
        <p:blipFill>
          <a:blip r:embed="rId3"/>
          <a:stretch>
            <a:fillRect/>
          </a:stretch>
        </p:blipFill>
        <p:spPr>
          <a:xfrm>
            <a:off x="549554" y="3055010"/>
            <a:ext cx="309067" cy="309067"/>
          </a:xfrm>
          <a:prstGeom prst="rect">
            <a:avLst/>
          </a:prstGeom>
        </p:spPr>
      </p:pic>
      <p:sp>
        <p:nvSpPr>
          <p:cNvPr id="19" name="Text 14"/>
          <p:cNvSpPr/>
          <p:nvPr/>
        </p:nvSpPr>
        <p:spPr>
          <a:xfrm>
            <a:off x="1106424" y="2990088"/>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Reduced Risk</a:t>
            </a:r>
            <a:endParaRPr lang="en-US" sz="1100" dirty="0"/>
          </a:p>
        </p:txBody>
      </p:sp>
      <p:sp>
        <p:nvSpPr>
          <p:cNvPr id="20" name="Text 15"/>
          <p:cNvSpPr/>
          <p:nvPr/>
        </p:nvSpPr>
        <p:spPr>
          <a:xfrm>
            <a:off x="448056" y="3611880"/>
            <a:ext cx="3904488" cy="676656"/>
          </a:xfrm>
          <a:prstGeom prst="rect">
            <a:avLst/>
          </a:prstGeom>
          <a:noFill/>
        </p:spPr>
        <p:txBody>
          <a:bodyPr wrap="square" lIns="0" tIns="0" rIns="0" bIns="0" rtlCol="0" anchor="t"/>
          <a:lstStyle/>
          <a:p>
            <a:pPr marL="0" indent="0" algn="l">
              <a:buNone/>
            </a:pPr>
            <a:r>
              <a:rPr lang="en-US" sz="950" dirty="0">
                <a:solidFill>
                  <a:srgbClr val="1A2B3C"/>
                </a:solidFill>
              </a:rPr>
              <a:t>Combining governance and cybersecurity helps organizations reduce risk, run smoothly, and protect personal information.</a:t>
            </a:r>
            <a:endParaRPr lang="en-US" sz="950" dirty="0"/>
          </a:p>
        </p:txBody>
      </p:sp>
      <p:sp>
        <p:nvSpPr>
          <p:cNvPr id="21" name="Shape 16"/>
          <p:cNvSpPr/>
          <p:nvPr/>
        </p:nvSpPr>
        <p:spPr>
          <a:xfrm>
            <a:off x="4663440" y="2788920"/>
            <a:ext cx="4160520" cy="1572768"/>
          </a:xfrm>
          <a:prstGeom prst="rect">
            <a:avLst/>
          </a:prstGeom>
          <a:solidFill>
            <a:srgbClr val="F5FAFF"/>
          </a:solidFill>
          <a:ln w="6350">
            <a:solidFill>
              <a:srgbClr val="B8D4E8"/>
            </a:solidFill>
            <a:prstDash val="solid"/>
          </a:ln>
          <a:effectLst>
            <a:outerShdw blurRad="63500" dist="12700" dir="8100000" algn="bl" rotWithShape="0">
              <a:srgbClr val="A0BFDA">
                <a:alpha val="18000"/>
              </a:srgbClr>
            </a:outerShdw>
          </a:effectLst>
        </p:spPr>
      </p:sp>
      <p:sp>
        <p:nvSpPr>
          <p:cNvPr id="22" name="Shape 17"/>
          <p:cNvSpPr/>
          <p:nvPr/>
        </p:nvSpPr>
        <p:spPr>
          <a:xfrm>
            <a:off x="4809744" y="2971800"/>
            <a:ext cx="475488" cy="475488"/>
          </a:xfrm>
          <a:prstGeom prst="rect">
            <a:avLst/>
          </a:prstGeom>
          <a:solidFill>
            <a:srgbClr val="0D2137"/>
          </a:solidFill>
          <a:ln w="12700">
            <a:solidFill>
              <a:srgbClr val="0D2137"/>
            </a:solidFill>
            <a:prstDash val="solid"/>
          </a:ln>
        </p:spPr>
      </p:sp>
      <p:pic>
        <p:nvPicPr>
          <p:cNvPr id="23" name="Image 3" descr="preencoded.png"/>
          <p:cNvPicPr>
            <a:picLocks noChangeAspect="1"/>
          </p:cNvPicPr>
          <p:nvPr/>
        </p:nvPicPr>
        <p:blipFill>
          <a:blip r:embed="rId4"/>
          <a:stretch>
            <a:fillRect/>
          </a:stretch>
        </p:blipFill>
        <p:spPr>
          <a:xfrm>
            <a:off x="4892954" y="3055010"/>
            <a:ext cx="309067" cy="309067"/>
          </a:xfrm>
          <a:prstGeom prst="rect">
            <a:avLst/>
          </a:prstGeom>
        </p:spPr>
      </p:pic>
      <p:sp>
        <p:nvSpPr>
          <p:cNvPr id="24" name="Text 18"/>
          <p:cNvSpPr/>
          <p:nvPr/>
        </p:nvSpPr>
        <p:spPr>
          <a:xfrm>
            <a:off x="5449824" y="2990088"/>
            <a:ext cx="3246120" cy="256032"/>
          </a:xfrm>
          <a:prstGeom prst="rect">
            <a:avLst/>
          </a:prstGeom>
          <a:noFill/>
        </p:spPr>
        <p:txBody>
          <a:bodyPr wrap="square" lIns="0" tIns="0" rIns="0" bIns="0" rtlCol="0" anchor="ctr"/>
          <a:lstStyle/>
          <a:p>
            <a:pPr marL="0" indent="0" algn="l">
              <a:buNone/>
            </a:pPr>
            <a:r>
              <a:rPr lang="en-US" sz="1100" b="1" dirty="0">
                <a:solidFill>
                  <a:srgbClr val="0D2137"/>
                </a:solidFill>
              </a:rPr>
              <a:t>Building Trust</a:t>
            </a:r>
            <a:endParaRPr lang="en-US" sz="1100" dirty="0"/>
          </a:p>
        </p:txBody>
      </p:sp>
      <p:sp>
        <p:nvSpPr>
          <p:cNvPr id="25" name="Text 19"/>
          <p:cNvSpPr/>
          <p:nvPr/>
        </p:nvSpPr>
        <p:spPr>
          <a:xfrm>
            <a:off x="4791456" y="3611880"/>
            <a:ext cx="3904488" cy="676656"/>
          </a:xfrm>
          <a:prstGeom prst="rect">
            <a:avLst/>
          </a:prstGeom>
          <a:noFill/>
        </p:spPr>
        <p:txBody>
          <a:bodyPr wrap="square" lIns="0" tIns="0" rIns="0" bIns="0" rtlCol="0" anchor="t"/>
          <a:lstStyle/>
          <a:p>
            <a:pPr marL="0" indent="0" algn="l">
              <a:buNone/>
            </a:pPr>
            <a:r>
              <a:rPr lang="en-US" sz="950" dirty="0">
                <a:solidFill>
                  <a:srgbClr val="1A2B3C"/>
                </a:solidFill>
              </a:rPr>
              <a:t>Together, they build public trust and allow organizations to safely grow with new AI technology.</a:t>
            </a:r>
            <a:endParaRPr lang="en-US" sz="950" dirty="0"/>
          </a:p>
        </p:txBody>
      </p:sp>
      <p:sp>
        <p:nvSpPr>
          <p:cNvPr id="26" name="Shape 20"/>
          <p:cNvSpPr/>
          <p:nvPr/>
        </p:nvSpPr>
        <p:spPr>
          <a:xfrm>
            <a:off x="320040" y="4590288"/>
            <a:ext cx="8503920" cy="502920"/>
          </a:xfrm>
          <a:prstGeom prst="rect">
            <a:avLst/>
          </a:prstGeom>
          <a:solidFill>
            <a:srgbClr val="0D2137"/>
          </a:solidFill>
          <a:ln w="12700">
            <a:solidFill>
              <a:srgbClr val="0D2137"/>
            </a:solidFill>
            <a:prstDash val="solid"/>
          </a:ln>
        </p:spPr>
      </p:sp>
      <p:sp>
        <p:nvSpPr>
          <p:cNvPr id="27" name="Text 21"/>
          <p:cNvSpPr/>
          <p:nvPr/>
        </p:nvSpPr>
        <p:spPr>
          <a:xfrm>
            <a:off x="502920" y="4617720"/>
            <a:ext cx="8229600" cy="438912"/>
          </a:xfrm>
          <a:prstGeom prst="rect">
            <a:avLst/>
          </a:prstGeom>
          <a:noFill/>
        </p:spPr>
        <p:txBody>
          <a:bodyPr wrap="square" lIns="0" tIns="0" rIns="0" bIns="0" rtlCol="0" anchor="ctr"/>
          <a:lstStyle/>
          <a:p>
            <a:pPr marL="0" indent="0" algn="ctr">
              <a:buNone/>
            </a:pPr>
            <a:r>
              <a:rPr lang="en-US" sz="1050" i="1" dirty="0">
                <a:solidFill>
                  <a:srgbClr val="FFFFFF"/>
                </a:solidFill>
              </a:rPr>
              <a:t>"Governance gives AI its rules. Cyber Risk Management gives it protection. Together they create a system that works to help humans."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9B8E"/>
          </a:solidFill>
          <a:ln w="12700">
            <a:solidFill>
              <a:srgbClr val="0F9B8E"/>
            </a:solidFill>
            <a:prstDash val="solid"/>
          </a:ln>
        </p:spPr>
      </p:sp>
      <p:pic>
        <p:nvPicPr>
          <p:cNvPr id="3" name="Image 0" descr="preencoded.png"/>
          <p:cNvPicPr>
            <a:picLocks noChangeAspect="1"/>
          </p:cNvPicPr>
          <p:nvPr/>
        </p:nvPicPr>
        <p:blipFill>
          <a:blip r:embed="rId1"/>
          <a:stretch>
            <a:fillRect/>
          </a:stretch>
        </p:blipFill>
        <p:spPr>
          <a:xfrm>
            <a:off x="3657600" y="731520"/>
            <a:ext cx="1828800" cy="1828800"/>
          </a:xfrm>
          <a:prstGeom prst="rect">
            <a:avLst/>
          </a:prstGeom>
        </p:spPr>
      </p:pic>
      <p:sp>
        <p:nvSpPr>
          <p:cNvPr id="4" name="Text 1"/>
          <p:cNvSpPr/>
          <p:nvPr/>
        </p:nvSpPr>
        <p:spPr>
          <a:xfrm>
            <a:off x="914400" y="2743200"/>
            <a:ext cx="7315200" cy="731520"/>
          </a:xfrm>
          <a:prstGeom prst="rect">
            <a:avLst/>
          </a:prstGeom>
          <a:noFill/>
        </p:spPr>
        <p:txBody>
          <a:bodyPr wrap="square" lIns="0" tIns="0" rIns="0" bIns="0" rtlCol="0" anchor="ctr"/>
          <a:lstStyle/>
          <a:p>
            <a:pPr marL="0" indent="0" algn="ctr">
              <a:buNone/>
            </a:pPr>
            <a:r>
              <a:rPr lang="en-US" sz="4000" b="1" dirty="0">
                <a:solidFill>
                  <a:srgbClr val="FFFFFF"/>
                </a:solidFill>
              </a:rPr>
              <a:t>Thank You</a:t>
            </a:r>
            <a:endParaRPr lang="en-US" sz="4000" dirty="0"/>
          </a:p>
        </p:txBody>
      </p:sp>
      <p:sp>
        <p:nvSpPr>
          <p:cNvPr id="5" name="Text 2"/>
          <p:cNvSpPr/>
          <p:nvPr/>
        </p:nvSpPr>
        <p:spPr>
          <a:xfrm>
            <a:off x="914400" y="3520440"/>
            <a:ext cx="7315200" cy="274320"/>
          </a:xfrm>
          <a:prstGeom prst="rect">
            <a:avLst/>
          </a:prstGeom>
          <a:noFill/>
        </p:spPr>
        <p:txBody>
          <a:bodyPr wrap="square" lIns="0" tIns="0" rIns="0" bIns="0" rtlCol="0" anchor="ctr"/>
          <a:lstStyle/>
          <a:p>
            <a:pPr marL="0" indent="0" algn="ctr">
              <a:buNone/>
            </a:pPr>
            <a:r>
              <a:rPr lang="en-US" sz="1200" i="1" dirty="0">
                <a:solidFill>
                  <a:srgbClr val="8FC8E5"/>
                </a:solidFill>
              </a:rPr>
              <a:t>Foundations of AI Governance &amp; Cyber Risk Management</a:t>
            </a:r>
            <a:endParaRPr lang="en-US" sz="1200" dirty="0"/>
          </a:p>
        </p:txBody>
      </p:sp>
      <p:sp>
        <p:nvSpPr>
          <p:cNvPr id="6" name="Shape 3"/>
          <p:cNvSpPr/>
          <p:nvPr/>
        </p:nvSpPr>
        <p:spPr>
          <a:xfrm>
            <a:off x="2286000" y="3886200"/>
            <a:ext cx="4572000" cy="0"/>
          </a:xfrm>
          <a:prstGeom prst="line">
            <a:avLst/>
          </a:prstGeom>
          <a:noFill/>
          <a:ln w="12700">
            <a:solidFill>
              <a:srgbClr val="0F9B8E"/>
            </a:solidFill>
            <a:prstDash val="solid"/>
          </a:ln>
        </p:spPr>
      </p:sp>
      <p:sp>
        <p:nvSpPr>
          <p:cNvPr id="7" name="Text 4"/>
          <p:cNvSpPr/>
          <p:nvPr/>
        </p:nvSpPr>
        <p:spPr>
          <a:xfrm>
            <a:off x="914400" y="4005072"/>
            <a:ext cx="7315200" cy="256032"/>
          </a:xfrm>
          <a:prstGeom prst="rect">
            <a:avLst/>
          </a:prstGeom>
          <a:noFill/>
        </p:spPr>
        <p:txBody>
          <a:bodyPr wrap="square" lIns="0" tIns="0" rIns="0" bIns="0" rtlCol="0" anchor="ctr"/>
          <a:lstStyle/>
          <a:p>
            <a:pPr marL="0" indent="0" algn="ctr">
              <a:buNone/>
            </a:pPr>
            <a:r>
              <a:rPr lang="en-US" sz="900" dirty="0">
                <a:solidFill>
                  <a:srgbClr val="8FC8E5"/>
                </a:solidFill>
              </a:rPr>
              <a:t>Muhammad Ali Subhaniee  |  EduQual Level 3 Diploma (DCCS)  |  Al Nafi International Institute</a:t>
            </a:r>
            <a:endParaRPr lang="en-US" sz="900" dirty="0"/>
          </a:p>
        </p:txBody>
      </p:sp>
      <p:sp>
        <p:nvSpPr>
          <p:cNvPr id="8" name="Text 5"/>
          <p:cNvSpPr/>
          <p:nvPr/>
        </p:nvSpPr>
        <p:spPr>
          <a:xfrm>
            <a:off x="914400" y="4315968"/>
            <a:ext cx="7315200" cy="256032"/>
          </a:xfrm>
          <a:prstGeom prst="rect">
            <a:avLst/>
          </a:prstGeom>
          <a:noFill/>
        </p:spPr>
        <p:txBody>
          <a:bodyPr wrap="square" lIns="0" tIns="0" rIns="0" bIns="0" rtlCol="0" anchor="ctr"/>
          <a:lstStyle/>
          <a:p>
            <a:pPr marL="0" indent="0" algn="ctr">
              <a:buNone/>
            </a:pPr>
            <a:r>
              <a:rPr lang="en-US" sz="950" i="1" dirty="0">
                <a:solidFill>
                  <a:srgbClr val="0F9B8E"/>
                </a:solidFill>
              </a:rPr>
              <a:t>Ready for Q&amp;A — System Architecture, DFD, Security Controls, Policy &amp; Procedure, Deployment &amp; Recovery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14071</Words>
  <Application>WPS Presentation</Application>
  <PresentationFormat>On-screen Show (16:9)</PresentationFormat>
  <Paragraphs>702</Paragraphs>
  <Slides>22</Slides>
  <Notes>21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Arial</vt:lpstr>
      <vt:lpstr>SimSun</vt:lpstr>
      <vt:lpstr>Wingdings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of AI Governance and Cyber Risk Management</dc:title>
  <dc:creator>Muhammad Ali Subhaniee</dc:creator>
  <dc:subject>PptxGenJS Presentation</dc:subject>
  <cp:lastModifiedBy>Muhammed Ali Subhaniee</cp:lastModifiedBy>
  <cp:revision>15</cp:revision>
  <dcterms:created xsi:type="dcterms:W3CDTF">2026-06-06T14:00:00Z</dcterms:created>
  <dcterms:modified xsi:type="dcterms:W3CDTF">2026-06-21T03:26:45Z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B559244778B04933BA3253EC76EDD828_13</vt:lpwstr>
  </property>
  <property fmtid="{D5CDD505-2E9C-101B-9397-08002B2CF9AE}" pid="3" name="KSOProductBuildVer">
    <vt:lpwstr>1033-12.1.0.26880</vt:lpwstr>
  </property>
</Properties>
</file>